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57" r:id="rId4"/>
    <p:sldId id="264" r:id="rId5"/>
    <p:sldId id="258" r:id="rId6"/>
    <p:sldId id="269" r:id="rId7"/>
    <p:sldId id="268" r:id="rId8"/>
    <p:sldId id="265" r:id="rId9"/>
    <p:sldId id="278" r:id="rId10"/>
    <p:sldId id="275" r:id="rId11"/>
    <p:sldId id="280" r:id="rId12"/>
    <p:sldId id="277" r:id="rId13"/>
    <p:sldId id="276" r:id="rId14"/>
    <p:sldId id="273" r:id="rId15"/>
    <p:sldId id="261" r:id="rId16"/>
    <p:sldId id="262" r:id="rId17"/>
  </p:sldIdLst>
  <p:sldSz cx="9144000" cy="5143500" type="screen16x9"/>
  <p:notesSz cx="6858000" cy="9144000"/>
  <p:embeddedFontLst>
    <p:embeddedFont>
      <p:font typeface="Inter" panose="02000503000000020004" pitchFamily="2" charset="0"/>
      <p:regular r:id="rId19"/>
      <p:bold r:id="rId20"/>
      <p:italic r:id="rId21"/>
      <p:boldItalic r:id="rId22"/>
    </p:embeddedFont>
    <p:embeddedFont>
      <p:font typeface="Montserrat" pitchFamily="2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7F1"/>
    <a:srgbClr val="B40325"/>
    <a:srgbClr val="3A4CC0"/>
    <a:srgbClr val="004D3F"/>
    <a:srgbClr val="77909D"/>
    <a:srgbClr val="ADF1AC"/>
    <a:srgbClr val="AE2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2"/>
    <p:restoredTop sz="87619"/>
  </p:normalViewPr>
  <p:slideViewPr>
    <p:cSldViewPr snapToGrid="0">
      <p:cViewPr varScale="1">
        <p:scale>
          <a:sx n="130" d="100"/>
          <a:sy n="130" d="100"/>
        </p:scale>
        <p:origin x="584" y="488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F0DDF782-4FE2-635F-1430-3574940A0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>
            <a:extLst>
              <a:ext uri="{FF2B5EF4-FFF2-40B4-BE49-F238E27FC236}">
                <a16:creationId xmlns:a16="http://schemas.microsoft.com/office/drawing/2014/main" id="{EB23DA10-1D5B-E93C-47B7-46106FB34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>
            <a:extLst>
              <a:ext uri="{FF2B5EF4-FFF2-40B4-BE49-F238E27FC236}">
                <a16:creationId xmlns:a16="http://schemas.microsoft.com/office/drawing/2014/main" id="{13FA4475-A482-1D10-A431-72E42B6CE4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7913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Variance </a:t>
            </a:r>
            <a:r>
              <a:rPr lang="fr-FR" dirty="0" err="1"/>
              <a:t>elevée</a:t>
            </a:r>
            <a:r>
              <a:rPr lang="fr-FR" dirty="0"/>
              <a:t> = données dispersées</a:t>
            </a:r>
          </a:p>
          <a:p>
            <a:r>
              <a:rPr lang="fr-FR" dirty="0"/>
              <a:t>Moyenne &gt; </a:t>
            </a:r>
            <a:r>
              <a:rPr lang="fr-FR" dirty="0" err="1"/>
              <a:t>Median</a:t>
            </a:r>
            <a:r>
              <a:rPr lang="fr-FR" dirty="0"/>
              <a:t> indique beaucoup de données avec faible valeur mais des valeurs élevées qui dirent la moyenne vers le haut.</a:t>
            </a:r>
          </a:p>
          <a:p>
            <a:r>
              <a:rPr lang="fr-FR" dirty="0"/>
              <a:t>Coefficient de variation ( CV) = Ecart-Type / moyenne = 83% Normalement 15% CV faible données homogènes, De 15 à 30 % dispersion moyenne et &gt;30% forte dispersion, données hétérogènes. </a:t>
            </a:r>
          </a:p>
          <a:p>
            <a:r>
              <a:rPr lang="fr-FR" dirty="0" err="1"/>
              <a:t>Skewness</a:t>
            </a:r>
            <a:r>
              <a:rPr lang="fr-FR" dirty="0"/>
              <a:t> = Coefficient d’asymétrie : Si &lt;0 = </a:t>
            </a:r>
            <a:r>
              <a:rPr lang="fr-FR" dirty="0" err="1"/>
              <a:t>aymétrie</a:t>
            </a:r>
            <a:r>
              <a:rPr lang="fr-FR" dirty="0"/>
              <a:t> négative, &gt;0 asymétrie positive, =0 = symétrique</a:t>
            </a:r>
          </a:p>
          <a:p>
            <a:r>
              <a:rPr lang="fr-FR" dirty="0"/>
              <a:t>Kurtosis : concentrations autour de la moyenne : si = 0 </a:t>
            </a:r>
            <a:r>
              <a:rPr lang="fr-FR" dirty="0" err="1"/>
              <a:t>Mésocurtique</a:t>
            </a:r>
            <a:r>
              <a:rPr lang="fr-FR" dirty="0"/>
              <a:t> (normal), si &gt;0 </a:t>
            </a:r>
            <a:r>
              <a:rPr lang="fr-FR" dirty="0" err="1"/>
              <a:t>Leptocurtique</a:t>
            </a:r>
            <a:r>
              <a:rPr lang="fr-FR" dirty="0"/>
              <a:t> (beaucoup d’</a:t>
            </a:r>
            <a:r>
              <a:rPr lang="fr-FR" dirty="0" err="1"/>
              <a:t>outliers</a:t>
            </a:r>
            <a:r>
              <a:rPr lang="fr-FR" dirty="0"/>
              <a:t>), &lt;0, </a:t>
            </a:r>
            <a:r>
              <a:rPr lang="fr-FR" dirty="0" err="1"/>
              <a:t>platicurtique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2743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E5302D84-ADA3-A593-B212-02F0C25D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3D193A80-5733-889C-12D9-BC8DD4C6A2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E66406FB-1E33-B273-B159-654665BCAE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4657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18F8583E-D931-C11C-976D-2B33B355D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14D151C8-2451-3B08-8509-618555F44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0336411E-6F35-D08A-7551-77B52A5B8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736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23AC11F5-9FFA-3BCE-D496-CF2AA06B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B34815A9-C69E-7307-295E-CB41C5AA2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E5DA6BBC-32D5-7207-FC7A-788DA367A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9548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4;p4">
            <a:extLst>
              <a:ext uri="{FF2B5EF4-FFF2-40B4-BE49-F238E27FC236}">
                <a16:creationId xmlns:a16="http://schemas.microsoft.com/office/drawing/2014/main" id="{3192B515-7DC9-7314-D040-EB487ADCD663}"/>
              </a:ext>
            </a:extLst>
          </p:cNvPr>
          <p:cNvSpPr/>
          <p:nvPr userDrawn="1"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bg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635511"/>
            <a:ext cx="8520600" cy="293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pic>
        <p:nvPicPr>
          <p:cNvPr id="3" name="Image 2" descr="Une image contenant Graphique, Police, logo, texte&#10;&#10;Le contenu généré par l’IA peut être incorrect.">
            <a:extLst>
              <a:ext uri="{FF2B5EF4-FFF2-40B4-BE49-F238E27FC236}">
                <a16:creationId xmlns:a16="http://schemas.microsoft.com/office/drawing/2014/main" id="{28395C7A-57ED-AEFA-28E2-0F96902517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05" y="4453700"/>
            <a:ext cx="708285" cy="4895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9939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Présentation CODIR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5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 des données </a:t>
            </a:r>
            <a:r>
              <a:rPr lang="fr-FR" sz="52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Bottleneck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RAMAT Romain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1600" dirty="0">
                <a:solidFill>
                  <a:srgbClr val="F3F3F3"/>
                </a:solidFill>
                <a:effectLst/>
                <a:latin typeface="Montserrat" pitchFamily="2" charset="77"/>
              </a:rPr>
              <a:t>PROJET 6</a:t>
            </a:r>
            <a:endParaRPr lang="fr-FR" sz="16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 Mars 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 descr="Une image contenant Graphique, Police, logo, texte&#10;&#10;Le contenu généré par l’IA peut être incorrect.">
            <a:extLst>
              <a:ext uri="{FF2B5EF4-FFF2-40B4-BE49-F238E27FC236}">
                <a16:creationId xmlns:a16="http://schemas.microsoft.com/office/drawing/2014/main" id="{E5C2D83C-542B-1B3D-686F-74A182D8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7573" cy="1014352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8BB1E647-28A8-8408-5243-5F44D66DE69E}"/>
              </a:ext>
            </a:extLst>
          </p:cNvPr>
          <p:cNvSpPr/>
          <p:nvPr/>
        </p:nvSpPr>
        <p:spPr>
          <a:xfrm>
            <a:off x="869673" y="1437179"/>
            <a:ext cx="7538831" cy="1574378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48F737-9702-9BF4-7DF5-25F4E461D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3781FC-3644-AC33-3A4F-42629FC49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>
                <a:solidFill>
                  <a:srgbClr val="271A38"/>
                </a:solidFill>
                <a:effectLst/>
                <a:latin typeface="Inter"/>
              </a:rPr>
              <a:t>L’utilisation d’outils artisanaux </a:t>
            </a:r>
            <a:r>
              <a:rPr lang="fr-FR" dirty="0">
                <a:solidFill>
                  <a:srgbClr val="271A38"/>
                </a:solidFill>
                <a:latin typeface="Inter"/>
              </a:rPr>
              <a:t>au sein de </a:t>
            </a:r>
            <a:r>
              <a:rPr lang="fr-FR" dirty="0" err="1">
                <a:solidFill>
                  <a:srgbClr val="271A38"/>
                </a:solidFill>
                <a:latin typeface="Inter"/>
              </a:rPr>
              <a:t>Bottleneck</a:t>
            </a:r>
            <a:r>
              <a:rPr lang="fr-FR" dirty="0">
                <a:solidFill>
                  <a:srgbClr val="271A38"/>
                </a:solidFill>
                <a:latin typeface="Inter"/>
              </a:rPr>
              <a:t> </a:t>
            </a:r>
            <a:r>
              <a:rPr lang="fr-FR" b="0" i="0" u="none" strike="noStrike" dirty="0">
                <a:solidFill>
                  <a:srgbClr val="271A38"/>
                </a:solidFill>
                <a:effectLst/>
                <a:latin typeface="Inter"/>
              </a:rPr>
              <a:t>rendent complexe l’analyse les données et </a:t>
            </a:r>
            <a:r>
              <a:rPr lang="fr-FR" dirty="0">
                <a:solidFill>
                  <a:srgbClr val="271A38"/>
                </a:solidFill>
                <a:latin typeface="Inter"/>
              </a:rPr>
              <a:t>la </a:t>
            </a:r>
            <a:r>
              <a:rPr lang="fr-FR" b="0" i="0" u="none" strike="noStrike" dirty="0">
                <a:solidFill>
                  <a:srgbClr val="271A38"/>
                </a:solidFill>
                <a:effectLst/>
                <a:latin typeface="Inter"/>
              </a:rPr>
              <a:t>gestion des stocks.</a:t>
            </a:r>
          </a:p>
          <a:p>
            <a:pPr lvl="1"/>
            <a:r>
              <a:rPr lang="fr-FR" b="0" i="0" u="none" strike="noStrike" dirty="0">
                <a:solidFill>
                  <a:srgbClr val="271A38"/>
                </a:solidFill>
                <a:effectLst/>
                <a:latin typeface="Inter"/>
              </a:rPr>
              <a:t>Présentation de</a:t>
            </a:r>
            <a:r>
              <a:rPr lang="fr-FR" dirty="0">
                <a:solidFill>
                  <a:srgbClr val="271A38"/>
                </a:solidFill>
                <a:latin typeface="Inter"/>
              </a:rPr>
              <a:t> la structure de données</a:t>
            </a:r>
          </a:p>
          <a:p>
            <a:pPr lvl="1"/>
            <a:r>
              <a:rPr lang="fr-FR" b="0" i="0" u="none" strike="noStrike" dirty="0">
                <a:solidFill>
                  <a:srgbClr val="271A38"/>
                </a:solidFill>
                <a:effectLst/>
                <a:latin typeface="Inter"/>
              </a:rPr>
              <a:t>Analyse des points de faiblesse</a:t>
            </a:r>
          </a:p>
          <a:p>
            <a:pPr lvl="1"/>
            <a:r>
              <a:rPr lang="fr-FR" dirty="0">
                <a:solidFill>
                  <a:srgbClr val="271A38"/>
                </a:solidFill>
                <a:latin typeface="Inter"/>
              </a:rPr>
              <a:t>Présentation des résultats</a:t>
            </a:r>
            <a:endParaRPr lang="fr-FR" b="0" i="0" u="none" strike="noStrike" dirty="0">
              <a:solidFill>
                <a:srgbClr val="271A38"/>
              </a:solidFill>
              <a:effectLst/>
              <a:latin typeface="Inter"/>
            </a:endParaRPr>
          </a:p>
          <a:p>
            <a:pPr lvl="1"/>
            <a:r>
              <a:rPr lang="fr-FR" dirty="0">
                <a:solidFill>
                  <a:srgbClr val="271A38"/>
                </a:solidFill>
                <a:latin typeface="Inter"/>
              </a:rPr>
              <a:t>Préconisation d’amélioration</a:t>
            </a:r>
            <a:endParaRPr lang="fr-FR" b="0" i="0" u="none" strike="noStrike" dirty="0">
              <a:solidFill>
                <a:srgbClr val="271A38"/>
              </a:solidFill>
              <a:effectLst/>
              <a:latin typeface="Inter"/>
            </a:endParaRPr>
          </a:p>
          <a:p>
            <a:r>
              <a:rPr lang="fr-FR" dirty="0">
                <a:solidFill>
                  <a:srgbClr val="271A38"/>
                </a:solidFill>
                <a:latin typeface="Inter"/>
              </a:rPr>
              <a:t>Pour la RGPD : collecte d’information sur les « </a:t>
            </a:r>
            <a:r>
              <a:rPr lang="fr-FR" dirty="0" err="1">
                <a:solidFill>
                  <a:srgbClr val="271A38"/>
                </a:solidFill>
                <a:latin typeface="Inter"/>
              </a:rPr>
              <a:t>posts</a:t>
            </a:r>
            <a:r>
              <a:rPr lang="fr-FR" dirty="0">
                <a:solidFill>
                  <a:srgbClr val="271A38"/>
                </a:solidFill>
                <a:latin typeface="Inter"/>
              </a:rPr>
              <a:t> » utilisateurs, il convient de s’assurer de la mise en place:</a:t>
            </a:r>
          </a:p>
          <a:p>
            <a:pPr lvl="1"/>
            <a:r>
              <a:rPr lang="fr-FR" dirty="0">
                <a:solidFill>
                  <a:srgbClr val="271A38"/>
                </a:solidFill>
                <a:latin typeface="Inter"/>
              </a:rPr>
              <a:t>Du consentement de l’utilisateur</a:t>
            </a:r>
          </a:p>
          <a:p>
            <a:pPr lvl="1"/>
            <a:r>
              <a:rPr lang="fr-FR" dirty="0">
                <a:solidFill>
                  <a:srgbClr val="271A38"/>
                </a:solidFill>
                <a:latin typeface="Inter"/>
              </a:rPr>
              <a:t>De la mise en place d’un droit à l’oubli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280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484095" y="1593817"/>
            <a:ext cx="7937894" cy="3139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Composition des données de la base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Bottle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Neck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4F787D7-2D53-72DA-CE6D-C6B81E3E6753}"/>
              </a:ext>
            </a:extLst>
          </p:cNvPr>
          <p:cNvGrpSpPr/>
          <p:nvPr/>
        </p:nvGrpSpPr>
        <p:grpSpPr>
          <a:xfrm>
            <a:off x="551120" y="2611070"/>
            <a:ext cx="1326776" cy="1248336"/>
            <a:chOff x="1326776" y="2489946"/>
            <a:chExt cx="1326776" cy="124833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0268DB-193F-E36A-9D2C-DD8760D6390B}"/>
                </a:ext>
              </a:extLst>
            </p:cNvPr>
            <p:cNvSpPr/>
            <p:nvPr/>
          </p:nvSpPr>
          <p:spPr>
            <a:xfrm>
              <a:off x="1326776" y="2489946"/>
              <a:ext cx="1326776" cy="358588"/>
            </a:xfrm>
            <a:prstGeom prst="rect">
              <a:avLst/>
            </a:prstGeom>
            <a:solidFill>
              <a:srgbClr val="AE273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ERP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0515987-428F-592E-5BAF-5212B0128B69}"/>
                </a:ext>
              </a:extLst>
            </p:cNvPr>
            <p:cNvSpPr/>
            <p:nvPr/>
          </p:nvSpPr>
          <p:spPr>
            <a:xfrm>
              <a:off x="1326776" y="2840690"/>
              <a:ext cx="1326776" cy="897592"/>
            </a:xfrm>
            <a:prstGeom prst="rect">
              <a:avLst/>
            </a:prstGeom>
            <a:solidFill>
              <a:srgbClr val="AE273A">
                <a:alpha val="3713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923D0050-C772-6B5F-7A9B-EE1379CF3CAF}"/>
              </a:ext>
            </a:extLst>
          </p:cNvPr>
          <p:cNvGrpSpPr/>
          <p:nvPr/>
        </p:nvGrpSpPr>
        <p:grpSpPr>
          <a:xfrm>
            <a:off x="3428732" y="2231645"/>
            <a:ext cx="1326776" cy="1097759"/>
            <a:chOff x="3836894" y="2050676"/>
            <a:chExt cx="1326776" cy="85587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B463DB-AEBA-2E97-1EA8-421897AC21F0}"/>
                </a:ext>
              </a:extLst>
            </p:cNvPr>
            <p:cNvSpPr/>
            <p:nvPr/>
          </p:nvSpPr>
          <p:spPr>
            <a:xfrm>
              <a:off x="3836894" y="2050676"/>
              <a:ext cx="1326776" cy="358588"/>
            </a:xfrm>
            <a:prstGeom prst="rect">
              <a:avLst/>
            </a:prstGeom>
            <a:solidFill>
              <a:srgbClr val="AE273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Liaison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42098F-15DB-A254-1EF9-8AE189FFA111}"/>
                </a:ext>
              </a:extLst>
            </p:cNvPr>
            <p:cNvSpPr/>
            <p:nvPr/>
          </p:nvSpPr>
          <p:spPr>
            <a:xfrm>
              <a:off x="3836894" y="2401421"/>
              <a:ext cx="1326776" cy="505129"/>
            </a:xfrm>
            <a:prstGeom prst="rect">
              <a:avLst/>
            </a:prstGeom>
            <a:solidFill>
              <a:srgbClr val="AE273A">
                <a:alpha val="3713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902ADFD-6FCE-3FB9-1F1A-C4D20756D9E5}"/>
              </a:ext>
            </a:extLst>
          </p:cNvPr>
          <p:cNvGrpSpPr/>
          <p:nvPr/>
        </p:nvGrpSpPr>
        <p:grpSpPr>
          <a:xfrm>
            <a:off x="6360131" y="2565681"/>
            <a:ext cx="1326776" cy="1248336"/>
            <a:chOff x="6140823" y="2409264"/>
            <a:chExt cx="1326776" cy="12483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D649ED-D7B4-80E9-2819-DC13E26B2A05}"/>
                </a:ext>
              </a:extLst>
            </p:cNvPr>
            <p:cNvSpPr/>
            <p:nvPr/>
          </p:nvSpPr>
          <p:spPr>
            <a:xfrm>
              <a:off x="6140823" y="2409264"/>
              <a:ext cx="1326776" cy="358588"/>
            </a:xfrm>
            <a:prstGeom prst="rect">
              <a:avLst/>
            </a:prstGeom>
            <a:solidFill>
              <a:srgbClr val="AE273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Web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6542A31-0EC9-0E1B-AAFB-3022E5A3B19F}"/>
                </a:ext>
              </a:extLst>
            </p:cNvPr>
            <p:cNvSpPr/>
            <p:nvPr/>
          </p:nvSpPr>
          <p:spPr>
            <a:xfrm>
              <a:off x="6140823" y="2760008"/>
              <a:ext cx="1326776" cy="897592"/>
            </a:xfrm>
            <a:prstGeom prst="rect">
              <a:avLst/>
            </a:prstGeom>
            <a:solidFill>
              <a:srgbClr val="AE273A">
                <a:alpha val="3713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C429A65D-3F77-08C5-8543-89EAF0A06FF6}"/>
              </a:ext>
            </a:extLst>
          </p:cNvPr>
          <p:cNvSpPr txBox="1"/>
          <p:nvPr/>
        </p:nvSpPr>
        <p:spPr>
          <a:xfrm>
            <a:off x="855094" y="3859406"/>
            <a:ext cx="86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(825,6)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68D3B87-5F7C-C51E-99B3-7FD75E145363}"/>
              </a:ext>
            </a:extLst>
          </p:cNvPr>
          <p:cNvSpPr txBox="1"/>
          <p:nvPr/>
        </p:nvSpPr>
        <p:spPr>
          <a:xfrm>
            <a:off x="3656410" y="3341701"/>
            <a:ext cx="869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(825,2)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11289E-79B3-1638-2E49-3988E31C32EB}"/>
              </a:ext>
            </a:extLst>
          </p:cNvPr>
          <p:cNvSpPr txBox="1"/>
          <p:nvPr/>
        </p:nvSpPr>
        <p:spPr>
          <a:xfrm>
            <a:off x="6537171" y="3832784"/>
            <a:ext cx="972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(1513,29)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31D8DB9-B2D5-A889-7F93-780DDE9A810D}"/>
              </a:ext>
            </a:extLst>
          </p:cNvPr>
          <p:cNvSpPr txBox="1"/>
          <p:nvPr/>
        </p:nvSpPr>
        <p:spPr>
          <a:xfrm>
            <a:off x="3521786" y="2691576"/>
            <a:ext cx="1138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Product_id (FK)</a:t>
            </a:r>
          </a:p>
          <a:p>
            <a:endParaRPr lang="fr-FR" sz="1000" dirty="0"/>
          </a:p>
          <a:p>
            <a:r>
              <a:rPr lang="fr-FR" sz="1000" dirty="0" err="1"/>
              <a:t>Id_Web</a:t>
            </a:r>
            <a:r>
              <a:rPr lang="fr-FR" sz="1000" dirty="0"/>
              <a:t>(FK)</a:t>
            </a:r>
          </a:p>
          <a:p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E9763E2-B2D5-6469-2BD2-148F3182BD48}"/>
              </a:ext>
            </a:extLst>
          </p:cNvPr>
          <p:cNvSpPr txBox="1"/>
          <p:nvPr/>
        </p:nvSpPr>
        <p:spPr>
          <a:xfrm>
            <a:off x="686427" y="2969658"/>
            <a:ext cx="1191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Product_id (PK)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72A7167-D045-8DE8-8347-0812EFA7E1EE}"/>
              </a:ext>
            </a:extLst>
          </p:cNvPr>
          <p:cNvSpPr txBox="1"/>
          <p:nvPr/>
        </p:nvSpPr>
        <p:spPr>
          <a:xfrm>
            <a:off x="6739267" y="2943628"/>
            <a:ext cx="869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sku (PK)</a:t>
            </a:r>
          </a:p>
        </p:txBody>
      </p:sp>
      <p:sp>
        <p:nvSpPr>
          <p:cNvPr id="17" name="Double flèche verticale 16">
            <a:extLst>
              <a:ext uri="{FF2B5EF4-FFF2-40B4-BE49-F238E27FC236}">
                <a16:creationId xmlns:a16="http://schemas.microsoft.com/office/drawing/2014/main" id="{A74E4635-6D10-F007-504F-99A37D39DF90}"/>
              </a:ext>
            </a:extLst>
          </p:cNvPr>
          <p:cNvSpPr/>
          <p:nvPr/>
        </p:nvSpPr>
        <p:spPr>
          <a:xfrm rot="4551277">
            <a:off x="2543599" y="2662462"/>
            <a:ext cx="152400" cy="860612"/>
          </a:xfrm>
          <a:prstGeom prst="upDownArrow">
            <a:avLst/>
          </a:prstGeom>
          <a:solidFill>
            <a:srgbClr val="004D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Double flèche verticale 17">
            <a:extLst>
              <a:ext uri="{FF2B5EF4-FFF2-40B4-BE49-F238E27FC236}">
                <a16:creationId xmlns:a16="http://schemas.microsoft.com/office/drawing/2014/main" id="{0BDEBD1B-D0D1-89D4-1EDD-0E7BB0EB897C}"/>
              </a:ext>
            </a:extLst>
          </p:cNvPr>
          <p:cNvSpPr/>
          <p:nvPr/>
        </p:nvSpPr>
        <p:spPr>
          <a:xfrm rot="5966193">
            <a:off x="5422272" y="2639853"/>
            <a:ext cx="152400" cy="860612"/>
          </a:xfrm>
          <a:prstGeom prst="upDownArrow">
            <a:avLst/>
          </a:prstGeom>
          <a:solidFill>
            <a:srgbClr val="004D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26AE2DBF-9A29-58A5-C2D3-D3B55EAA51B2}"/>
              </a:ext>
            </a:extLst>
          </p:cNvPr>
          <p:cNvCxnSpPr/>
          <p:nvPr/>
        </p:nvCxnSpPr>
        <p:spPr>
          <a:xfrm>
            <a:off x="6360131" y="3280962"/>
            <a:ext cx="13267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CFE141BF-7B95-DCA3-5357-AA240071120C}"/>
              </a:ext>
            </a:extLst>
          </p:cNvPr>
          <p:cNvCxnSpPr/>
          <p:nvPr/>
        </p:nvCxnSpPr>
        <p:spPr>
          <a:xfrm>
            <a:off x="562835" y="3271818"/>
            <a:ext cx="13267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4595298A-AFC5-7B5C-C059-39952109E74C}"/>
              </a:ext>
            </a:extLst>
          </p:cNvPr>
          <p:cNvSpPr txBox="1"/>
          <p:nvPr/>
        </p:nvSpPr>
        <p:spPr>
          <a:xfrm>
            <a:off x="756100" y="3271818"/>
            <a:ext cx="27884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/>
              <a:t>.</a:t>
            </a:r>
          </a:p>
          <a:p>
            <a:r>
              <a:rPr lang="fr-FR" sz="900" b="1" dirty="0"/>
              <a:t>.</a:t>
            </a:r>
          </a:p>
          <a:p>
            <a:r>
              <a:rPr lang="fr-FR" sz="900" b="1" dirty="0"/>
              <a:t>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FBC277E-4F08-532C-9219-3BFBDAFB5F47}"/>
              </a:ext>
            </a:extLst>
          </p:cNvPr>
          <p:cNvSpPr txBox="1"/>
          <p:nvPr/>
        </p:nvSpPr>
        <p:spPr>
          <a:xfrm>
            <a:off x="6571684" y="3271818"/>
            <a:ext cx="27884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/>
              <a:t>.</a:t>
            </a:r>
          </a:p>
          <a:p>
            <a:r>
              <a:rPr lang="fr-FR" sz="900" b="1" dirty="0"/>
              <a:t>.</a:t>
            </a:r>
          </a:p>
          <a:p>
            <a:r>
              <a:rPr lang="fr-FR" sz="900" b="1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0347AF-4CE2-C81C-BD50-CD4CD4D54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commandes et fonctions utilisées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07889A-A334-444B-D96A-A0DB61712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261" y="1635511"/>
            <a:ext cx="8231665" cy="2933363"/>
          </a:xfrm>
        </p:spPr>
        <p:txBody>
          <a:bodyPr/>
          <a:lstStyle/>
          <a:p>
            <a:r>
              <a:rPr lang="fr-FR" dirty="0"/>
              <a:t>Le nettoyage des données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isnull</a:t>
            </a:r>
            <a:r>
              <a:rPr lang="fr-FR" dirty="0"/>
              <a:t>() / .</a:t>
            </a:r>
            <a:r>
              <a:rPr lang="fr-FR" dirty="0" err="1"/>
              <a:t>isna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notnull</a:t>
            </a:r>
            <a:r>
              <a:rPr lang="fr-FR" dirty="0"/>
              <a:t>() / .</a:t>
            </a:r>
            <a:r>
              <a:rPr lang="fr-FR" dirty="0" err="1"/>
              <a:t>notna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is_unique</a:t>
            </a:r>
            <a:endParaRPr lang="fr-FR" dirty="0"/>
          </a:p>
          <a:p>
            <a:pPr lvl="1"/>
            <a:r>
              <a:rPr lang="fr-FR" dirty="0"/>
              <a:t>.</a:t>
            </a:r>
            <a:r>
              <a:rPr lang="fr-FR" dirty="0" err="1"/>
              <a:t>duplicated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value_counts</a:t>
            </a:r>
            <a:r>
              <a:rPr lang="fr-FR" dirty="0"/>
              <a:t>() / </a:t>
            </a:r>
            <a:r>
              <a:rPr lang="fr-FR" dirty="0" err="1"/>
              <a:t>value_counts</a:t>
            </a:r>
            <a:r>
              <a:rPr lang="fr-FR" dirty="0"/>
              <a:t>(</a:t>
            </a:r>
            <a:r>
              <a:rPr lang="fr-FR" dirty="0" err="1"/>
              <a:t>normalize</a:t>
            </a:r>
            <a:r>
              <a:rPr lang="fr-FR" dirty="0"/>
              <a:t> = </a:t>
            </a:r>
            <a:r>
              <a:rPr lang="fr-FR" dirty="0" err="1"/>
              <a:t>True</a:t>
            </a:r>
            <a:r>
              <a:rPr lang="fr-FR" dirty="0"/>
              <a:t>) 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dropna</a:t>
            </a:r>
            <a:endParaRPr lang="fr-FR" dirty="0"/>
          </a:p>
          <a:p>
            <a:pPr lvl="1"/>
            <a:r>
              <a:rPr lang="fr-FR" dirty="0"/>
              <a:t>.</a:t>
            </a:r>
            <a:r>
              <a:rPr lang="fr-FR" dirty="0" err="1"/>
              <a:t>apply</a:t>
            </a:r>
            <a:r>
              <a:rPr lang="fr-FR" dirty="0"/>
              <a:t>(lambda x: </a:t>
            </a:r>
            <a:r>
              <a:rPr lang="fr-FR" dirty="0" err="1"/>
              <a:t>isinstance</a:t>
            </a:r>
            <a:r>
              <a:rPr lang="fr-FR" dirty="0"/>
              <a:t>(x, (</a:t>
            </a:r>
            <a:r>
              <a:rPr lang="fr-FR" dirty="0" err="1"/>
              <a:t>int</a:t>
            </a:r>
            <a:r>
              <a:rPr lang="fr-FR" dirty="0"/>
              <a:t>)))</a:t>
            </a:r>
          </a:p>
          <a:p>
            <a:pPr lvl="1"/>
            <a:r>
              <a:rPr lang="fr-FR" dirty="0"/>
              <a:t>.info()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0DDAAAB7-0E1B-DA00-92E7-60D2C95581CA}"/>
              </a:ext>
            </a:extLst>
          </p:cNvPr>
          <p:cNvSpPr txBox="1">
            <a:spLocks/>
          </p:cNvSpPr>
          <p:nvPr/>
        </p:nvSpPr>
        <p:spPr>
          <a:xfrm>
            <a:off x="5201595" y="1635511"/>
            <a:ext cx="3630705" cy="293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/>
              <a:t>Les analyses des données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mean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.std()</a:t>
            </a:r>
          </a:p>
          <a:p>
            <a:pPr lvl="1"/>
            <a:r>
              <a:rPr lang="fr-FR" dirty="0"/>
              <a:t>.var()</a:t>
            </a:r>
          </a:p>
          <a:p>
            <a:pPr lvl="1"/>
            <a:r>
              <a:rPr lang="fr-FR" dirty="0"/>
              <a:t>.mode()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median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skew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kubertosis</a:t>
            </a:r>
            <a:endParaRPr lang="fr-FR" dirty="0"/>
          </a:p>
          <a:p>
            <a:pPr lvl="1"/>
            <a:r>
              <a:rPr lang="fr-FR" dirty="0"/>
              <a:t>.</a:t>
            </a:r>
            <a:r>
              <a:rPr lang="fr-FR" dirty="0" err="1"/>
              <a:t>describe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value_counts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.</a:t>
            </a:r>
            <a:r>
              <a:rPr lang="fr-FR" dirty="0" err="1"/>
              <a:t>hist</a:t>
            </a:r>
            <a:r>
              <a:rPr lang="fr-FR" dirty="0"/>
              <a:t>()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8161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495384" y="13898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197120"/>
            <a:ext cx="8520600" cy="84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</a:p>
          <a:p>
            <a:pPr>
              <a:buSzPts val="2500"/>
            </a:pPr>
            <a:r>
              <a:rPr lang="fr-FR" sz="20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Pré-Analyse</a:t>
            </a: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des données  de la table ERP: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E1BCE344-E277-C2C1-9A3C-217D41065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823886"/>
              </p:ext>
            </p:extLst>
          </p:nvPr>
        </p:nvGraphicFramePr>
        <p:xfrm>
          <a:off x="600265" y="1755828"/>
          <a:ext cx="8131934" cy="21201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93051">
                  <a:extLst>
                    <a:ext uri="{9D8B030D-6E8A-4147-A177-3AD203B41FA5}">
                      <a16:colId xmlns:a16="http://schemas.microsoft.com/office/drawing/2014/main" val="626234007"/>
                    </a:ext>
                  </a:extLst>
                </a:gridCol>
                <a:gridCol w="5738883">
                  <a:extLst>
                    <a:ext uri="{9D8B030D-6E8A-4147-A177-3AD203B41FA5}">
                      <a16:colId xmlns:a16="http://schemas.microsoft.com/office/drawing/2014/main" val="2177904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400" b="1" u="none" strike="noStrike" cap="none" dirty="0">
                          <a:solidFill>
                            <a:schemeClr val="lt1"/>
                          </a:solidFill>
                          <a:sym typeface="Arial"/>
                        </a:rPr>
                        <a:t>Colonne</a:t>
                      </a:r>
                      <a:endParaRPr lang="fr-FR" sz="1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400" b="1" u="none" strike="noStrike" cap="none" dirty="0">
                          <a:solidFill>
                            <a:schemeClr val="lt1"/>
                          </a:solidFill>
                          <a:sym typeface="Arial"/>
                        </a:rPr>
                        <a:t>Commentaire</a:t>
                      </a:r>
                      <a:endParaRPr lang="fr-FR" sz="1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99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Montserrat"/>
                        </a:rPr>
                        <a:t>Product_id 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Données uniques (clé primaire table ERP)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6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Stock </a:t>
                      </a:r>
                      <a:r>
                        <a:rPr lang="fr-FR" sz="1050" b="0" u="none" strike="noStrike" cap="none" dirty="0" err="1">
                          <a:solidFill>
                            <a:schemeClr val="dk1"/>
                          </a:solidFill>
                          <a:sym typeface="Arial"/>
                        </a:rPr>
                        <a:t>Status</a:t>
                      </a: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 / Stock </a:t>
                      </a:r>
                      <a:r>
                        <a:rPr lang="fr-FR" sz="1050" b="0" u="none" strike="noStrike" cap="none" dirty="0" err="1">
                          <a:solidFill>
                            <a:schemeClr val="dk1"/>
                          </a:solidFill>
                          <a:sym typeface="Arial"/>
                        </a:rPr>
                        <a:t>Quantity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Incohérences relevées entre le nombre de stock et l’état de stock associé -&gt; Corrigé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Présence de stocks négatifs (2) -&gt; Remis à 0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02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Price / </a:t>
                      </a:r>
                      <a:r>
                        <a:rPr lang="fr-FR" sz="1050" b="0" u="none" strike="noStrike" cap="none" dirty="0" err="1">
                          <a:solidFill>
                            <a:schemeClr val="dk1"/>
                          </a:solidFill>
                          <a:sym typeface="Arial"/>
                        </a:rPr>
                        <a:t>Purchase</a:t>
                      </a: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 Price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7 produits vendus sous le prix d’achat (</a:t>
                      </a:r>
                      <a:r>
                        <a:rPr lang="fr-FR" sz="1050" b="0" u="none" strike="noStrike" cap="none" dirty="0" err="1">
                          <a:solidFill>
                            <a:schemeClr val="dk1"/>
                          </a:solidFill>
                          <a:sym typeface="Arial"/>
                        </a:rPr>
                        <a:t>price</a:t>
                      </a: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 &lt; </a:t>
                      </a:r>
                      <a:r>
                        <a:rPr lang="fr-FR" sz="1050" b="0" u="none" strike="noStrike" cap="none" dirty="0" err="1">
                          <a:solidFill>
                            <a:schemeClr val="dk1"/>
                          </a:solidFill>
                          <a:sym typeface="Arial"/>
                        </a:rPr>
                        <a:t>purchase</a:t>
                      </a: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 </a:t>
                      </a:r>
                      <a:r>
                        <a:rPr lang="fr-FR" sz="1050" b="0" u="none" strike="noStrike" cap="none" dirty="0" err="1">
                          <a:solidFill>
                            <a:schemeClr val="dk1"/>
                          </a:solidFill>
                          <a:sym typeface="Arial"/>
                        </a:rPr>
                        <a:t>price</a:t>
                      </a: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)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 prix de ventes négatifs (</a:t>
                      </a:r>
                      <a:r>
                        <a:rPr lang="fr-FR" sz="105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price</a:t>
                      </a: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&lt; 0)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Grande variance des prix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962758"/>
                  </a:ext>
                </a:extLst>
              </a:tr>
              <a:tr h="39546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On Sale web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716 articles en vente sur internet sur les 825 soit 86,7 % 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488629"/>
                  </a:ext>
                </a:extLst>
              </a:tr>
            </a:tbl>
          </a:graphicData>
        </a:graphic>
      </p:graphicFrame>
      <p:pic>
        <p:nvPicPr>
          <p:cNvPr id="3" name="Graphique 2">
            <a:extLst>
              <a:ext uri="{FF2B5EF4-FFF2-40B4-BE49-F238E27FC236}">
                <a16:creationId xmlns:a16="http://schemas.microsoft.com/office/drawing/2014/main" id="{B72B8722-1383-FAC1-CCD9-280E6659A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3969" y="79182"/>
            <a:ext cx="1100147" cy="13106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1F17ACB9-9F9F-B124-C732-99D8FD6B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>
            <a:extLst>
              <a:ext uri="{FF2B5EF4-FFF2-40B4-BE49-F238E27FC236}">
                <a16:creationId xmlns:a16="http://schemas.microsoft.com/office/drawing/2014/main" id="{62C02413-8F2E-77E4-BA15-DCE1884D8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5384" y="13898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D5B95FB6-CC32-08F1-7436-62935B69B8D4}"/>
              </a:ext>
            </a:extLst>
          </p:cNvPr>
          <p:cNvSpPr txBox="1"/>
          <p:nvPr/>
        </p:nvSpPr>
        <p:spPr>
          <a:xfrm>
            <a:off x="895525" y="197120"/>
            <a:ext cx="8520600" cy="84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</a:p>
          <a:p>
            <a:pPr>
              <a:buSzPts val="2500"/>
            </a:pPr>
            <a:r>
              <a:rPr lang="fr-FR" sz="20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Pré-Analyse</a:t>
            </a: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des données  de la table Liaison: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>
            <a:extLst>
              <a:ext uri="{FF2B5EF4-FFF2-40B4-BE49-F238E27FC236}">
                <a16:creationId xmlns:a16="http://schemas.microsoft.com/office/drawing/2014/main" id="{A0633B9D-25BF-AB9F-66F2-8754731B5FA4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B9394958-96AB-0B53-A490-2D1B92900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037893"/>
              </p:ext>
            </p:extLst>
          </p:nvPr>
        </p:nvGraphicFramePr>
        <p:xfrm>
          <a:off x="895525" y="1834197"/>
          <a:ext cx="7144273" cy="14411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93051">
                  <a:extLst>
                    <a:ext uri="{9D8B030D-6E8A-4147-A177-3AD203B41FA5}">
                      <a16:colId xmlns:a16="http://schemas.microsoft.com/office/drawing/2014/main" val="626234007"/>
                    </a:ext>
                  </a:extLst>
                </a:gridCol>
                <a:gridCol w="4751222">
                  <a:extLst>
                    <a:ext uri="{9D8B030D-6E8A-4147-A177-3AD203B41FA5}">
                      <a16:colId xmlns:a16="http://schemas.microsoft.com/office/drawing/2014/main" val="2177904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400" b="1" u="none" strike="noStrike" cap="none" dirty="0">
                          <a:solidFill>
                            <a:schemeClr val="lt1"/>
                          </a:solidFill>
                          <a:sym typeface="Arial"/>
                        </a:rPr>
                        <a:t>Colonne</a:t>
                      </a:r>
                      <a:endParaRPr lang="fr-FR" sz="1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400" b="1" u="none" strike="noStrike" cap="none" dirty="0">
                          <a:solidFill>
                            <a:schemeClr val="lt1"/>
                          </a:solidFill>
                          <a:sym typeface="Arial"/>
                        </a:rPr>
                        <a:t>Commentaire</a:t>
                      </a:r>
                      <a:endParaRPr lang="fr-FR" sz="1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99105"/>
                  </a:ext>
                </a:extLst>
              </a:tr>
              <a:tr h="33874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Montserrat"/>
                        </a:rPr>
                        <a:t>Product_id 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Données uniques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6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050" b="0" u="none" strike="noStrike" cap="none" dirty="0" err="1">
                          <a:solidFill>
                            <a:schemeClr val="dk1"/>
                          </a:solidFill>
                          <a:sym typeface="Arial"/>
                        </a:rPr>
                        <a:t>Id_web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91 valeurs nulles (ventes non-web)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Nom différent de la base web (</a:t>
                      </a:r>
                      <a:r>
                        <a:rPr lang="fr-FR" sz="105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sku</a:t>
                      </a: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 valeurs de type string « bon-cadeau-25-euros, 13127-1, 14680-1 »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 valeur  </a:t>
                      </a:r>
                      <a:r>
                        <a:rPr lang="fr-FR" sz="105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id_web</a:t>
                      </a: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non-référencée en vente web « 14680-1 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02628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5619F51D-5948-7DB2-D541-762362B51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988" y="197120"/>
            <a:ext cx="1087883" cy="129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45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DAE8D9-2D61-5CBC-D3CB-9602DB1B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525" y="150478"/>
            <a:ext cx="8520600" cy="842872"/>
          </a:xfrm>
        </p:spPr>
        <p:txBody>
          <a:bodyPr>
            <a:noAutofit/>
          </a:bodyPr>
          <a:lstStyle/>
          <a:p>
            <a:r>
              <a:rPr lang="fr-FR" sz="2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br>
              <a:rPr lang="fr-FR" sz="2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2000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Pré-Analyse</a:t>
            </a:r>
            <a:r>
              <a:rPr lang="fr-FR" sz="20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des données  de la table Web: </a:t>
            </a:r>
            <a:endParaRPr lang="fr-FR" sz="2400" dirty="0"/>
          </a:p>
        </p:txBody>
      </p:sp>
      <p:sp>
        <p:nvSpPr>
          <p:cNvPr id="4" name="Google Shape;71;p5">
            <a:extLst>
              <a:ext uri="{FF2B5EF4-FFF2-40B4-BE49-F238E27FC236}">
                <a16:creationId xmlns:a16="http://schemas.microsoft.com/office/drawing/2014/main" id="{BEFF2C47-9662-94D3-3065-19308309CF6D}"/>
              </a:ext>
            </a:extLst>
          </p:cNvPr>
          <p:cNvSpPr txBox="1">
            <a:spLocks/>
          </p:cNvSpPr>
          <p:nvPr/>
        </p:nvSpPr>
        <p:spPr>
          <a:xfrm>
            <a:off x="450560" y="1393992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999999"/>
              </a:buClr>
              <a:buFont typeface="Montserrat"/>
              <a:buChar char="●"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indent="0">
              <a:buClr>
                <a:srgbClr val="434343"/>
              </a:buClr>
              <a:buFont typeface="Arial"/>
              <a:buNone/>
            </a:pPr>
            <a:endParaRPr lang="fr-FR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36ACF9A2-7987-0123-AE81-2EDDCCF8B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593580"/>
              </p:ext>
            </p:extLst>
          </p:nvPr>
        </p:nvGraphicFramePr>
        <p:xfrm>
          <a:off x="895525" y="1522625"/>
          <a:ext cx="7692663" cy="285418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76740">
                  <a:extLst>
                    <a:ext uri="{9D8B030D-6E8A-4147-A177-3AD203B41FA5}">
                      <a16:colId xmlns:a16="http://schemas.microsoft.com/office/drawing/2014/main" val="626234007"/>
                    </a:ext>
                  </a:extLst>
                </a:gridCol>
                <a:gridCol w="5115923">
                  <a:extLst>
                    <a:ext uri="{9D8B030D-6E8A-4147-A177-3AD203B41FA5}">
                      <a16:colId xmlns:a16="http://schemas.microsoft.com/office/drawing/2014/main" val="2177904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400" b="1" u="none" strike="noStrike" cap="none" dirty="0">
                          <a:solidFill>
                            <a:schemeClr val="lt1"/>
                          </a:solidFill>
                          <a:sym typeface="Arial"/>
                        </a:rPr>
                        <a:t>Colonne</a:t>
                      </a:r>
                      <a:endParaRPr lang="fr-FR" sz="1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400" b="1" u="none" strike="noStrike" cap="none" dirty="0">
                          <a:solidFill>
                            <a:schemeClr val="lt1"/>
                          </a:solidFill>
                          <a:sym typeface="Arial"/>
                        </a:rPr>
                        <a:t>Commentaire</a:t>
                      </a:r>
                      <a:endParaRPr lang="fr-FR" sz="1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999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050" b="0" u="none" strike="noStrike" cap="none" dirty="0" err="1">
                          <a:solidFill>
                            <a:schemeClr val="dk1"/>
                          </a:solidFill>
                          <a:sym typeface="Montserrat"/>
                        </a:rPr>
                        <a:t>sku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Nom de colonne n’est pas aligné avec la table liaison (</a:t>
                      </a:r>
                      <a:r>
                        <a:rPr lang="fr-FR" sz="1050" b="0" u="none" strike="noStrike" cap="none" dirty="0" err="1">
                          <a:solidFill>
                            <a:schemeClr val="dk1"/>
                          </a:solidFill>
                          <a:sym typeface="Arial"/>
                        </a:rPr>
                        <a:t>id_web</a:t>
                      </a: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) -&gt; Corrigé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1513 lignes dont : 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83 lignes nulles --&gt; Supprimées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 valeurs inconnues -&gt; Supprimées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 valeurs non codifiées (« 13127-1 » et « bon-cadeau-25-euros » X2</a:t>
                      </a:r>
                      <a:r>
                        <a:rPr lang="fr-FR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</a:p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Lignes en Doublons avec les « valeurs </a:t>
                      </a:r>
                      <a:r>
                        <a:rPr lang="fr-FR" sz="105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product</a:t>
                      </a: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vs attachement » </a:t>
                      </a: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 Supprimées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6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050" dirty="0" err="1"/>
                        <a:t>tax_class</a:t>
                      </a:r>
                      <a:r>
                        <a:rPr lang="fr-FR" sz="1050" dirty="0"/>
                        <a:t> / </a:t>
                      </a:r>
                      <a:r>
                        <a:rPr lang="fr-FR" sz="1050" dirty="0" err="1"/>
                        <a:t>post_content</a:t>
                      </a:r>
                      <a:r>
                        <a:rPr lang="fr-FR" sz="1050" dirty="0"/>
                        <a:t> / </a:t>
                      </a:r>
                      <a:r>
                        <a:rPr lang="fr-FR" sz="1050" dirty="0" err="1"/>
                        <a:t>post_password</a:t>
                      </a:r>
                      <a:r>
                        <a:rPr lang="fr-FR" sz="1050" dirty="0"/>
                        <a:t> / </a:t>
                      </a:r>
                      <a:r>
                        <a:rPr lang="fr-FR" sz="1050" dirty="0" err="1"/>
                        <a:t>post_content_filtered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Colonnes systématiquement nulles (NaN)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02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050" dirty="0"/>
                        <a:t>Virtual / </a:t>
                      </a:r>
                      <a:r>
                        <a:rPr lang="fr-FR" sz="1050" dirty="0" err="1"/>
                        <a:t>downloadable</a:t>
                      </a:r>
                      <a:r>
                        <a:rPr lang="fr-FR" sz="1050" dirty="0"/>
                        <a:t> / </a:t>
                      </a:r>
                      <a:r>
                        <a:rPr lang="fr-FR" sz="1050" dirty="0" err="1"/>
                        <a:t>rating_count</a:t>
                      </a:r>
                      <a:r>
                        <a:rPr lang="fr-FR" sz="1050" dirty="0"/>
                        <a:t> / </a:t>
                      </a:r>
                      <a:r>
                        <a:rPr lang="fr-FR" sz="1050" dirty="0" err="1"/>
                        <a:t>average_rating</a:t>
                      </a:r>
                      <a:r>
                        <a:rPr lang="fr-FR" sz="1050" dirty="0"/>
                        <a:t> /</a:t>
                      </a:r>
                      <a:r>
                        <a:rPr lang="fr-FR" sz="1050" dirty="0" err="1"/>
                        <a:t>post_parent</a:t>
                      </a:r>
                      <a:r>
                        <a:rPr lang="fr-FR" sz="1050" dirty="0"/>
                        <a:t> / </a:t>
                      </a:r>
                      <a:r>
                        <a:rPr lang="fr-FR" sz="1050" dirty="0" err="1"/>
                        <a:t>menu_order</a:t>
                      </a:r>
                      <a:r>
                        <a:rPr lang="fr-FR" sz="1050" dirty="0"/>
                        <a:t> / </a:t>
                      </a:r>
                      <a:r>
                        <a:rPr lang="fr-FR" sz="1050" dirty="0" err="1"/>
                        <a:t>comment_count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Colonne avec des valeurs à « </a:t>
                      </a:r>
                      <a:r>
                        <a:rPr lang="fr-FR" sz="1050" b="0" u="none" strike="noStrike" cap="none" dirty="0" err="1">
                          <a:solidFill>
                            <a:schemeClr val="dk1"/>
                          </a:solidFill>
                          <a:sym typeface="Arial"/>
                        </a:rPr>
                        <a:t>zero</a:t>
                      </a:r>
                      <a:r>
                        <a:rPr lang="fr-FR" sz="1050" b="0" u="none" strike="noStrike" cap="none" dirty="0">
                          <a:solidFill>
                            <a:schemeClr val="dk1"/>
                          </a:solidFill>
                          <a:sym typeface="Arial"/>
                        </a:rPr>
                        <a:t> » ou NaN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962758"/>
                  </a:ext>
                </a:extLst>
              </a:tr>
              <a:tr h="39546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fr-FR" sz="1050" b="0" i="0" u="none" strike="noStrike" cap="none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post_type</a:t>
                      </a:r>
                      <a:endParaRPr lang="fr-FR" sz="105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fr-FR" sz="105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Product ou attachement (si image), doublonne les lignes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488629"/>
                  </a:ext>
                </a:extLst>
              </a:tr>
            </a:tbl>
          </a:graphicData>
        </a:graphic>
      </p:graphicFrame>
      <p:sp>
        <p:nvSpPr>
          <p:cNvPr id="6" name="Google Shape;74;p5">
            <a:extLst>
              <a:ext uri="{FF2B5EF4-FFF2-40B4-BE49-F238E27FC236}">
                <a16:creationId xmlns:a16="http://schemas.microsoft.com/office/drawing/2014/main" id="{559B1F18-CE60-E29B-AB43-7C70A5FDE048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8F549984-47EB-04C9-3BEC-8E001251E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4009" y="170961"/>
            <a:ext cx="1100361" cy="12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98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7E50B9-7259-65A1-73C1-83C1001F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2300" dirty="0">
                <a:solidFill>
                  <a:srgbClr val="F3F3F3"/>
                </a:solidFill>
                <a:latin typeface="Montserrat"/>
                <a:sym typeface="Montserrat"/>
              </a:rPr>
              <a:t>Analyse univariée du prix de vente</a:t>
            </a:r>
            <a:br>
              <a:rPr lang="fr-FR" sz="28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lang="fr-FR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EFD0934-0B93-C1E6-24E6-E40709307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86054"/>
              </p:ext>
            </p:extLst>
          </p:nvPr>
        </p:nvGraphicFramePr>
        <p:xfrm>
          <a:off x="80682" y="1504024"/>
          <a:ext cx="2348752" cy="22783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8847">
                  <a:extLst>
                    <a:ext uri="{9D8B030D-6E8A-4147-A177-3AD203B41FA5}">
                      <a16:colId xmlns:a16="http://schemas.microsoft.com/office/drawing/2014/main" val="2886945120"/>
                    </a:ext>
                  </a:extLst>
                </a:gridCol>
                <a:gridCol w="1039905">
                  <a:extLst>
                    <a:ext uri="{9D8B030D-6E8A-4147-A177-3AD203B41FA5}">
                      <a16:colId xmlns:a16="http://schemas.microsoft.com/office/drawing/2014/main" val="3802140657"/>
                    </a:ext>
                  </a:extLst>
                </a:gridCol>
              </a:tblGrid>
              <a:tr h="259028">
                <a:tc gridSpan="2">
                  <a:txBody>
                    <a:bodyPr/>
                    <a:lstStyle/>
                    <a:p>
                      <a:pPr algn="ctr"/>
                      <a:r>
                        <a:rPr lang="fr-FR" dirty="0"/>
                        <a:t>Analyse des données « Prix »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226952"/>
                  </a:ext>
                </a:extLst>
              </a:tr>
              <a:tr h="213698">
                <a:tc>
                  <a:txBody>
                    <a:bodyPr/>
                    <a:lstStyle/>
                    <a:p>
                      <a:r>
                        <a:rPr lang="fr-FR" sz="1050" dirty="0"/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713,53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978898"/>
                  </a:ext>
                </a:extLst>
              </a:tr>
              <a:tr h="213698">
                <a:tc>
                  <a:txBody>
                    <a:bodyPr/>
                    <a:lstStyle/>
                    <a:p>
                      <a:r>
                        <a:rPr lang="fr-FR" sz="1050" dirty="0"/>
                        <a:t>Ecart-Type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26,71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827022"/>
                  </a:ext>
                </a:extLst>
              </a:tr>
              <a:tr h="213698">
                <a:tc>
                  <a:txBody>
                    <a:bodyPr/>
                    <a:lstStyle/>
                    <a:p>
                      <a:r>
                        <a:rPr lang="fr-FR" sz="1050" dirty="0"/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32,18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901292"/>
                  </a:ext>
                </a:extLst>
              </a:tr>
              <a:tr h="245459">
                <a:tc>
                  <a:txBody>
                    <a:bodyPr/>
                    <a:lstStyle/>
                    <a:p>
                      <a:r>
                        <a:rPr lang="fr-FR" sz="1050" dirty="0"/>
                        <a:t>Médian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24,3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96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05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884809"/>
                  </a:ext>
                </a:extLst>
              </a:tr>
              <a:tr h="238603">
                <a:tc>
                  <a:txBody>
                    <a:bodyPr/>
                    <a:lstStyle/>
                    <a:p>
                      <a:r>
                        <a:rPr lang="fr-FR" sz="1050" dirty="0" err="1"/>
                        <a:t>Skewness</a:t>
                      </a:r>
                      <a:endParaRPr lang="fr-F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2,69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796985"/>
                  </a:ext>
                </a:extLst>
              </a:tr>
              <a:tr h="238603">
                <a:tc>
                  <a:txBody>
                    <a:bodyPr/>
                    <a:lstStyle/>
                    <a:p>
                      <a:r>
                        <a:rPr lang="fr-FR" sz="1050" dirty="0"/>
                        <a:t>kurtosis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10,71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116148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16899990-FC63-0EA8-D977-17229BDA4FAC}"/>
              </a:ext>
            </a:extLst>
          </p:cNvPr>
          <p:cNvSpPr txBox="1"/>
          <p:nvPr/>
        </p:nvSpPr>
        <p:spPr>
          <a:xfrm>
            <a:off x="2494488" y="3834550"/>
            <a:ext cx="50285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Analyse : </a:t>
            </a:r>
          </a:p>
          <a:p>
            <a:r>
              <a:rPr lang="fr-FR" sz="1100" dirty="0"/>
              <a:t>Les prix sont asymétriques, avec asymétrie positive. </a:t>
            </a:r>
          </a:p>
          <a:p>
            <a:r>
              <a:rPr lang="fr-FR" sz="1100" dirty="0"/>
              <a:t>Un prix fréquent de 45 €, une moyenne plus élevée que la médiane indiquant de nombreux prix élevés.</a:t>
            </a:r>
          </a:p>
          <a:p>
            <a:r>
              <a:rPr lang="fr-FR" sz="1100" dirty="0"/>
              <a:t>Un kurtosis à 10, indique beaucoup de données concentrées autour de la moyenne, mais quelques valeurs extrêmes.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06E0A05A-4665-D1A0-BBB5-AF1842BB8E94}"/>
              </a:ext>
            </a:extLst>
          </p:cNvPr>
          <p:cNvGrpSpPr/>
          <p:nvPr/>
        </p:nvGrpSpPr>
        <p:grpSpPr>
          <a:xfrm>
            <a:off x="2896439" y="1575488"/>
            <a:ext cx="4159625" cy="2135452"/>
            <a:chOff x="4241338" y="1587754"/>
            <a:chExt cx="4159625" cy="2135452"/>
          </a:xfrm>
        </p:grpSpPr>
        <p:pic>
          <p:nvPicPr>
            <p:cNvPr id="6" name="Image 5" descr="Une image contenant diagramme, Tracé, ligne, texte&#10;&#10;Le contenu généré par l’IA peut être incorrect.">
              <a:extLst>
                <a:ext uri="{FF2B5EF4-FFF2-40B4-BE49-F238E27FC236}">
                  <a16:creationId xmlns:a16="http://schemas.microsoft.com/office/drawing/2014/main" id="{AF208BFD-98A7-EB85-3FCB-3A2A562EC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41338" y="1587754"/>
              <a:ext cx="4159625" cy="2135452"/>
            </a:xfrm>
            <a:prstGeom prst="rect">
              <a:avLst/>
            </a:prstGeom>
          </p:spPr>
        </p:pic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D9B2F9BA-10A9-AA9C-F4F1-5315125F3C28}"/>
                </a:ext>
              </a:extLst>
            </p:cNvPr>
            <p:cNvGrpSpPr/>
            <p:nvPr/>
          </p:nvGrpSpPr>
          <p:grpSpPr>
            <a:xfrm>
              <a:off x="6154678" y="1803478"/>
              <a:ext cx="2049064" cy="1247937"/>
              <a:chOff x="6154678" y="1803478"/>
              <a:chExt cx="2049064" cy="1247937"/>
            </a:xfrm>
          </p:grpSpPr>
          <p:sp>
            <p:nvSpPr>
              <p:cNvPr id="5" name="Virage 4">
                <a:extLst>
                  <a:ext uri="{FF2B5EF4-FFF2-40B4-BE49-F238E27FC236}">
                    <a16:creationId xmlns:a16="http://schemas.microsoft.com/office/drawing/2014/main" id="{602C69D8-5B68-39D4-9A07-C682BDE73512}"/>
                  </a:ext>
                </a:extLst>
              </p:cNvPr>
              <p:cNvSpPr/>
              <p:nvPr/>
            </p:nvSpPr>
            <p:spPr>
              <a:xfrm rot="20830240" flipV="1">
                <a:off x="6154678" y="1908044"/>
                <a:ext cx="993225" cy="1143371"/>
              </a:xfrm>
              <a:prstGeom prst="bentArrow">
                <a:avLst>
                  <a:gd name="adj1" fmla="val 7749"/>
                  <a:gd name="adj2" fmla="val 13871"/>
                  <a:gd name="adj3" fmla="val 26324"/>
                  <a:gd name="adj4" fmla="val 43750"/>
                </a:avLst>
              </a:prstGeom>
              <a:solidFill>
                <a:srgbClr val="ADF1A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6689DE4-01F8-9256-E9E4-C5303B013942}"/>
                  </a:ext>
                </a:extLst>
              </p:cNvPr>
              <p:cNvSpPr txBox="1"/>
              <p:nvPr/>
            </p:nvSpPr>
            <p:spPr>
              <a:xfrm>
                <a:off x="6321151" y="1803478"/>
                <a:ext cx="188259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Graphique </a:t>
                </a:r>
                <a:r>
                  <a:rPr lang="fr-FR" dirty="0" err="1"/>
                  <a:t>Leptocurtique</a:t>
                </a:r>
                <a:r>
                  <a:rPr lang="fr-FR" dirty="0"/>
                  <a:t> avec Asymétrie Positive</a:t>
                </a:r>
              </a:p>
            </p:txBody>
          </p:sp>
        </p:grpSp>
      </p:grpSp>
      <p:pic>
        <p:nvPicPr>
          <p:cNvPr id="11" name="Image 10">
            <a:extLst>
              <a:ext uri="{FF2B5EF4-FFF2-40B4-BE49-F238E27FC236}">
                <a16:creationId xmlns:a16="http://schemas.microsoft.com/office/drawing/2014/main" id="{66CB6006-E8AB-BB52-BC36-AD109F508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069" y="1464269"/>
            <a:ext cx="1501441" cy="348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7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A99390-E093-ECF3-7FD5-4F1D81B3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100" dirty="0">
                <a:solidFill>
                  <a:srgbClr val="F3F3F3"/>
                </a:solidFill>
                <a:latin typeface="Montserrat"/>
              </a:rPr>
              <a:t>Analyse</a:t>
            </a:r>
            <a:r>
              <a:rPr lang="fr-FR" sz="2500" dirty="0">
                <a:solidFill>
                  <a:srgbClr val="F3F3F3"/>
                </a:solidFill>
                <a:latin typeface="Montserrat"/>
              </a:rPr>
              <a:t> </a:t>
            </a:r>
            <a:r>
              <a:rPr lang="fr-FR" sz="2100" dirty="0">
                <a:solidFill>
                  <a:srgbClr val="F3F3F3"/>
                </a:solidFill>
                <a:latin typeface="Montserrat"/>
              </a:rPr>
              <a:t>bivarié prix d’achat et prix de vente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9C514B6-B009-F3EF-B884-1D5936E22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60" y="1529807"/>
            <a:ext cx="4309997" cy="338765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C7FCB1C-538C-F2DE-4989-DF88EF79CBC3}"/>
              </a:ext>
            </a:extLst>
          </p:cNvPr>
          <p:cNvSpPr txBox="1"/>
          <p:nvPr/>
        </p:nvSpPr>
        <p:spPr>
          <a:xfrm>
            <a:off x="132622" y="1586865"/>
            <a:ext cx="393589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Analyse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Cohérence globale entre les prix d’achat et prix de vente.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Quelques cas atypiques : prix de achat bien inférieur au prix de vente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87A433D-1086-4B4D-F2DA-BE081B478B12}"/>
              </a:ext>
            </a:extLst>
          </p:cNvPr>
          <p:cNvCxnSpPr/>
          <p:nvPr/>
        </p:nvCxnSpPr>
        <p:spPr>
          <a:xfrm flipH="1" flipV="1">
            <a:off x="7673008" y="3510918"/>
            <a:ext cx="586409" cy="119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72048F4-73CF-118C-3E5A-9773BB040CEA}"/>
              </a:ext>
            </a:extLst>
          </p:cNvPr>
          <p:cNvCxnSpPr>
            <a:cxnSpLocks/>
          </p:cNvCxnSpPr>
          <p:nvPr/>
        </p:nvCxnSpPr>
        <p:spPr>
          <a:xfrm flipH="1" flipV="1">
            <a:off x="7305261" y="4214191"/>
            <a:ext cx="586409" cy="119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FBA04BED-EC2F-C5A1-3B60-91146599B440}"/>
              </a:ext>
            </a:extLst>
          </p:cNvPr>
          <p:cNvCxnSpPr>
            <a:cxnSpLocks/>
          </p:cNvCxnSpPr>
          <p:nvPr/>
        </p:nvCxnSpPr>
        <p:spPr>
          <a:xfrm>
            <a:off x="4015410" y="4440667"/>
            <a:ext cx="401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ccolade ouvrante 12">
            <a:extLst>
              <a:ext uri="{FF2B5EF4-FFF2-40B4-BE49-F238E27FC236}">
                <a16:creationId xmlns:a16="http://schemas.microsoft.com/office/drawing/2014/main" id="{95CC54B0-14CF-24DC-19B8-E6DB2014793A}"/>
              </a:ext>
            </a:extLst>
          </p:cNvPr>
          <p:cNvSpPr/>
          <p:nvPr/>
        </p:nvSpPr>
        <p:spPr>
          <a:xfrm>
            <a:off x="4502426" y="4214191"/>
            <a:ext cx="188844" cy="4075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077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0279FFF9-CFD3-76FF-4D07-226B708A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3E454B3A-74E0-C6C7-1252-7F5E3CAE9EDE}"/>
              </a:ext>
            </a:extLst>
          </p:cNvPr>
          <p:cNvSpPr txBox="1"/>
          <p:nvPr/>
        </p:nvSpPr>
        <p:spPr>
          <a:xfrm>
            <a:off x="895525" y="337250"/>
            <a:ext cx="8520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727C1657-D45D-A1C8-73AB-3B1D4BCC000E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DCFCC72-58F0-E543-A814-A75D67ECDB35}"/>
              </a:ext>
            </a:extLst>
          </p:cNvPr>
          <p:cNvSpPr txBox="1"/>
          <p:nvPr/>
        </p:nvSpPr>
        <p:spPr>
          <a:xfrm>
            <a:off x="1173269" y="4165800"/>
            <a:ext cx="712376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Conclusion : </a:t>
            </a:r>
          </a:p>
          <a:p>
            <a:r>
              <a:rPr lang="fr-FR" sz="1100" dirty="0"/>
              <a:t>484 articles représentent </a:t>
            </a:r>
          </a:p>
        </p:txBody>
      </p:sp>
      <p:pic>
        <p:nvPicPr>
          <p:cNvPr id="4" name="Image 3" descr="Une image contenant texte, ligne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3DE1636D-2033-E613-D25B-C128B9092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54" y="3162835"/>
            <a:ext cx="8915851" cy="1959179"/>
          </a:xfrm>
          <a:prstGeom prst="rect">
            <a:avLst/>
          </a:prstGeom>
        </p:spPr>
      </p:pic>
      <p:pic>
        <p:nvPicPr>
          <p:cNvPr id="7" name="Image 6" descr="Une image contenant texte, Police, conceptio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0957146-CF2A-5C60-76E3-3994F2819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6703"/>
            <a:ext cx="9073806" cy="17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76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3876146B-3FE6-57B1-A3C1-63247999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A0D73F01-6DA0-2FA1-648D-449D2C11C308}"/>
              </a:ext>
            </a:extLst>
          </p:cNvPr>
          <p:cNvSpPr txBox="1"/>
          <p:nvPr/>
        </p:nvSpPr>
        <p:spPr>
          <a:xfrm>
            <a:off x="895525" y="337250"/>
            <a:ext cx="8520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FCA375A0-369B-4FE5-AEE7-0F7882098496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E368F25E-B16C-A2D9-84F0-E0377401B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45" y="1550763"/>
            <a:ext cx="4124808" cy="306687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FB16FCB-4FB5-2042-7187-5F2BC8593F0B}"/>
              </a:ext>
            </a:extLst>
          </p:cNvPr>
          <p:cNvSpPr txBox="1"/>
          <p:nvPr/>
        </p:nvSpPr>
        <p:spPr>
          <a:xfrm>
            <a:off x="4711148" y="1550763"/>
            <a:ext cx="393589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Analyse : </a:t>
            </a:r>
          </a:p>
          <a:p>
            <a:endParaRPr lang="fr-F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Chiffre d’affaires Total de </a:t>
            </a:r>
            <a:r>
              <a:rPr lang="fr-FR" sz="1400" dirty="0"/>
              <a:t>143 598,9 €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Meilleur chiffre d’affaires médian sur le Cognac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400" dirty="0"/>
          </a:p>
          <a:p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830383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6FD3A7-73B6-A406-EB88-F73274939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400" dirty="0"/>
              <a:t>16707 articles en stock</a:t>
            </a:r>
          </a:p>
          <a:p>
            <a:r>
              <a:rPr lang="fr-FR" sz="1400" dirty="0"/>
              <a:t>711 Produits</a:t>
            </a:r>
          </a:p>
          <a:p>
            <a:r>
              <a:rPr lang="fr-FR" sz="1400" dirty="0"/>
              <a:t>Valorisation du stock à 277 225,11€</a:t>
            </a:r>
          </a:p>
          <a:p>
            <a:endParaRPr lang="fr-FR" dirty="0"/>
          </a:p>
        </p:txBody>
      </p:sp>
      <p:pic>
        <p:nvPicPr>
          <p:cNvPr id="5" name="Image 4" descr="Une image contenant capture d’écran, texte, ligne, Tracé&#10;&#10;Le contenu généré par l’IA peut être incorrect.">
            <a:extLst>
              <a:ext uri="{FF2B5EF4-FFF2-40B4-BE49-F238E27FC236}">
                <a16:creationId xmlns:a16="http://schemas.microsoft.com/office/drawing/2014/main" id="{6D2F3CEC-BFA6-0D74-BA09-609F2499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125" y="1585111"/>
            <a:ext cx="3528393" cy="2716585"/>
          </a:xfrm>
          <a:prstGeom prst="rect">
            <a:avLst/>
          </a:prstGeom>
        </p:spPr>
      </p:pic>
      <p:sp>
        <p:nvSpPr>
          <p:cNvPr id="8" name="Google Shape;88;p7">
            <a:extLst>
              <a:ext uri="{FF2B5EF4-FFF2-40B4-BE49-F238E27FC236}">
                <a16:creationId xmlns:a16="http://schemas.microsoft.com/office/drawing/2014/main" id="{42C02A81-05F8-AE9D-991E-EF892CA86627}"/>
              </a:ext>
            </a:extLst>
          </p:cNvPr>
          <p:cNvSpPr txBox="1"/>
          <p:nvPr/>
        </p:nvSpPr>
        <p:spPr>
          <a:xfrm>
            <a:off x="895525" y="337250"/>
            <a:ext cx="8520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10" name="Google Shape;89;p7">
            <a:extLst>
              <a:ext uri="{FF2B5EF4-FFF2-40B4-BE49-F238E27FC236}">
                <a16:creationId xmlns:a16="http://schemas.microsoft.com/office/drawing/2014/main" id="{766DDFF6-6F8F-8CC8-F978-E1369B44B848}"/>
              </a:ext>
            </a:extLst>
          </p:cNvPr>
          <p:cNvSpPr/>
          <p:nvPr/>
        </p:nvSpPr>
        <p:spPr>
          <a:xfrm>
            <a:off x="1565453" y="1043750"/>
            <a:ext cx="2161721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7DCCC61F-CD34-DE58-AF5A-EF0F54933E73}"/>
              </a:ext>
            </a:extLst>
          </p:cNvPr>
          <p:cNvSpPr/>
          <p:nvPr/>
        </p:nvSpPr>
        <p:spPr>
          <a:xfrm>
            <a:off x="4313125" y="1560825"/>
            <a:ext cx="2235159" cy="138299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C76F3F59-ACC9-E00E-141B-5E031F7044C4}"/>
              </a:ext>
            </a:extLst>
          </p:cNvPr>
          <p:cNvCxnSpPr>
            <a:cxnSpLocks/>
          </p:cNvCxnSpPr>
          <p:nvPr/>
        </p:nvCxnSpPr>
        <p:spPr>
          <a:xfrm flipV="1">
            <a:off x="3117608" y="2624585"/>
            <a:ext cx="1219131" cy="690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7EAB7F38-834E-58B7-E8EE-A9E4043C3279}"/>
              </a:ext>
            </a:extLst>
          </p:cNvPr>
          <p:cNvSpPr/>
          <p:nvPr/>
        </p:nvSpPr>
        <p:spPr>
          <a:xfrm>
            <a:off x="5771535" y="3775587"/>
            <a:ext cx="1602659" cy="27530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FCD481E-9B8C-3581-C2D3-6327CFC87176}"/>
              </a:ext>
            </a:extLst>
          </p:cNvPr>
          <p:cNvCxnSpPr>
            <a:cxnSpLocks/>
          </p:cNvCxnSpPr>
          <p:nvPr/>
        </p:nvCxnSpPr>
        <p:spPr>
          <a:xfrm flipV="1">
            <a:off x="4720266" y="4138753"/>
            <a:ext cx="1219131" cy="690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6EF18C06-E16D-6787-E3C9-FF38B739C416}"/>
              </a:ext>
            </a:extLst>
          </p:cNvPr>
          <p:cNvSpPr txBox="1"/>
          <p:nvPr/>
        </p:nvSpPr>
        <p:spPr>
          <a:xfrm>
            <a:off x="1565453" y="3107876"/>
            <a:ext cx="16722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Disposition de stock sur des produit qui se vendent peu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B02473-6E5B-4F52-2F21-983557DDD28B}"/>
              </a:ext>
            </a:extLst>
          </p:cNvPr>
          <p:cNvSpPr txBox="1"/>
          <p:nvPr/>
        </p:nvSpPr>
        <p:spPr>
          <a:xfrm>
            <a:off x="3117608" y="4304002"/>
            <a:ext cx="16722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Pas de stock sur des produits qui se vendent bien</a:t>
            </a:r>
          </a:p>
        </p:txBody>
      </p:sp>
    </p:spTree>
    <p:extLst>
      <p:ext uri="{BB962C8B-B14F-4D97-AF65-F5344CB8AC3E}">
        <p14:creationId xmlns:p14="http://schemas.microsoft.com/office/powerpoint/2010/main" val="2206310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5D09EF0D-41FB-ACA6-C0D1-CF6CDD7A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8D2FBF1D-9442-8457-D5DF-47711176AF30}"/>
              </a:ext>
            </a:extLst>
          </p:cNvPr>
          <p:cNvSpPr txBox="1"/>
          <p:nvPr/>
        </p:nvSpPr>
        <p:spPr>
          <a:xfrm>
            <a:off x="895525" y="337250"/>
            <a:ext cx="8520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851A15C-27F0-822F-7071-60C9E16EEA0C}"/>
              </a:ext>
            </a:extLst>
          </p:cNvPr>
          <p:cNvSpPr txBox="1"/>
          <p:nvPr/>
        </p:nvSpPr>
        <p:spPr>
          <a:xfrm>
            <a:off x="481632" y="3951343"/>
            <a:ext cx="345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Analyse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Taux de marge important sur le Cognac et Whisky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2 Gins vendus au même prix</a:t>
            </a:r>
          </a:p>
        </p:txBody>
      </p:sp>
      <p:pic>
        <p:nvPicPr>
          <p:cNvPr id="5" name="Image 4" descr="Une image contenant texte, capture d’écran, Rectangle, ligne&#10;&#10;Le contenu généré par l’IA peut être incorrect.">
            <a:extLst>
              <a:ext uri="{FF2B5EF4-FFF2-40B4-BE49-F238E27FC236}">
                <a16:creationId xmlns:a16="http://schemas.microsoft.com/office/drawing/2014/main" id="{E3842083-6625-EC59-F5BA-97CE8CEE8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018" y="1501045"/>
            <a:ext cx="5098320" cy="3569791"/>
          </a:xfrm>
          <a:prstGeom prst="rect">
            <a:avLst/>
          </a:prstGeom>
        </p:spPr>
      </p:pic>
      <p:sp>
        <p:nvSpPr>
          <p:cNvPr id="3" name="Google Shape;89;p7">
            <a:extLst>
              <a:ext uri="{FF2B5EF4-FFF2-40B4-BE49-F238E27FC236}">
                <a16:creationId xmlns:a16="http://schemas.microsoft.com/office/drawing/2014/main" id="{0DF789E1-5415-9890-81AA-266D4E602784}"/>
              </a:ext>
            </a:extLst>
          </p:cNvPr>
          <p:cNvSpPr/>
          <p:nvPr/>
        </p:nvSpPr>
        <p:spPr>
          <a:xfrm>
            <a:off x="3868018" y="1043750"/>
            <a:ext cx="1956311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 5" descr="Une image contenant diagramme, capture d’écran, Rectangle, texte&#10;&#10;Le contenu généré par l’IA peut être incorrect.">
            <a:extLst>
              <a:ext uri="{FF2B5EF4-FFF2-40B4-BE49-F238E27FC236}">
                <a16:creationId xmlns:a16="http://schemas.microsoft.com/office/drawing/2014/main" id="{18901D59-6FD3-4EE2-6230-4DD6CF6E4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0" y="1501045"/>
            <a:ext cx="3205923" cy="247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16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B6293E-6B32-01CD-F421-C87A43C6B768}"/>
              </a:ext>
            </a:extLst>
          </p:cNvPr>
          <p:cNvSpPr/>
          <p:nvPr/>
        </p:nvSpPr>
        <p:spPr>
          <a:xfrm>
            <a:off x="4572000" y="2017644"/>
            <a:ext cx="3478696" cy="487017"/>
          </a:xfrm>
          <a:prstGeom prst="rect">
            <a:avLst/>
          </a:prstGeom>
          <a:solidFill>
            <a:srgbClr val="3A4CC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631B89-69BB-E86D-2705-8E0C952305CD}"/>
              </a:ext>
            </a:extLst>
          </p:cNvPr>
          <p:cNvSpPr/>
          <p:nvPr/>
        </p:nvSpPr>
        <p:spPr>
          <a:xfrm>
            <a:off x="4572000" y="2504661"/>
            <a:ext cx="3478696" cy="570063"/>
          </a:xfrm>
          <a:prstGeom prst="rect">
            <a:avLst/>
          </a:prstGeom>
          <a:solidFill>
            <a:srgbClr val="B40325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0CCB88-EDBA-84D6-CEAB-BD7232C04854}"/>
              </a:ext>
            </a:extLst>
          </p:cNvPr>
          <p:cNvSpPr/>
          <p:nvPr/>
        </p:nvSpPr>
        <p:spPr>
          <a:xfrm>
            <a:off x="4572000" y="3087847"/>
            <a:ext cx="3478696" cy="570063"/>
          </a:xfrm>
          <a:prstGeom prst="rect">
            <a:avLst/>
          </a:prstGeom>
          <a:solidFill>
            <a:srgbClr val="CAD7F1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ADECDB28-A843-7C66-7504-0A2196C83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27" y="1575875"/>
            <a:ext cx="3705784" cy="293336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3AA521F-373E-F704-8790-D0C9B6EAF755}"/>
              </a:ext>
            </a:extLst>
          </p:cNvPr>
          <p:cNvSpPr txBox="1"/>
          <p:nvPr/>
        </p:nvSpPr>
        <p:spPr>
          <a:xfrm>
            <a:off x="4572000" y="1657362"/>
            <a:ext cx="359338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Analyse des corrélations : </a:t>
            </a:r>
          </a:p>
          <a:p>
            <a:endParaRPr lang="fr-FR" sz="1100" b="1" u="sng" dirty="0"/>
          </a:p>
          <a:p>
            <a:r>
              <a:rPr lang="fr-FR" sz="1100" dirty="0"/>
              <a:t>1 – Mesure négative entre prix et total des ventes </a:t>
            </a:r>
          </a:p>
          <a:p>
            <a:r>
              <a:rPr lang="fr-FR" sz="1100" dirty="0">
                <a:sym typeface="Wingdings" pitchFamily="2" charset="2"/>
              </a:rPr>
              <a:t> Lorsque le prix augmente, plus les ventes baisses</a:t>
            </a:r>
          </a:p>
          <a:p>
            <a:endParaRPr lang="fr-FR" sz="1100" dirty="0">
              <a:sym typeface="Wingdings" pitchFamily="2" charset="2"/>
            </a:endParaRPr>
          </a:p>
          <a:p>
            <a:r>
              <a:rPr lang="fr-FR" sz="1100" dirty="0">
                <a:sym typeface="Wingdings" pitchFamily="2" charset="2"/>
              </a:rPr>
              <a:t>2 – Mesure positive entre total des ventes et stock</a:t>
            </a:r>
          </a:p>
          <a:p>
            <a:r>
              <a:rPr lang="fr-FR" sz="1100" dirty="0">
                <a:sym typeface="Wingdings" pitchFamily="2" charset="2"/>
              </a:rPr>
              <a:t> Les ventes augmentent lorsqu’il y a du stock</a:t>
            </a:r>
          </a:p>
          <a:p>
            <a:endParaRPr lang="fr-FR" sz="1100" dirty="0">
              <a:sym typeface="Wingdings" pitchFamily="2" charset="2"/>
            </a:endParaRPr>
          </a:p>
          <a:p>
            <a:r>
              <a:rPr lang="fr-FR" sz="1100" dirty="0">
                <a:sym typeface="Wingdings" pitchFamily="2" charset="2"/>
              </a:rPr>
              <a:t>3 – légère mesure négative entre le prix et le stock </a:t>
            </a:r>
          </a:p>
          <a:p>
            <a:r>
              <a:rPr lang="fr-FR" sz="1100" dirty="0">
                <a:sym typeface="Wingdings" pitchFamily="2" charset="2"/>
              </a:rPr>
              <a:t> lorsque le stock augmente, le prix à légèrement tendance à diminuer </a:t>
            </a:r>
            <a:endParaRPr lang="fr-FR" sz="1100" dirty="0"/>
          </a:p>
        </p:txBody>
      </p:sp>
      <p:sp>
        <p:nvSpPr>
          <p:cNvPr id="3" name="Google Shape;88;p7">
            <a:extLst>
              <a:ext uri="{FF2B5EF4-FFF2-40B4-BE49-F238E27FC236}">
                <a16:creationId xmlns:a16="http://schemas.microsoft.com/office/drawing/2014/main" id="{6484F29B-F2C2-AB56-0B72-5E5EEF46E6CB}"/>
              </a:ext>
            </a:extLst>
          </p:cNvPr>
          <p:cNvSpPr txBox="1"/>
          <p:nvPr/>
        </p:nvSpPr>
        <p:spPr>
          <a:xfrm>
            <a:off x="895525" y="337250"/>
            <a:ext cx="85206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6" name="Google Shape;89;p7">
            <a:extLst>
              <a:ext uri="{FF2B5EF4-FFF2-40B4-BE49-F238E27FC236}">
                <a16:creationId xmlns:a16="http://schemas.microsoft.com/office/drawing/2014/main" id="{BB7A9679-D89E-0744-75D8-59C776E25758}"/>
              </a:ext>
            </a:extLst>
          </p:cNvPr>
          <p:cNvSpPr/>
          <p:nvPr/>
        </p:nvSpPr>
        <p:spPr>
          <a:xfrm>
            <a:off x="6018184" y="1043750"/>
            <a:ext cx="1956311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3110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Fiabiliser la base de données :</a:t>
            </a:r>
          </a:p>
          <a:p>
            <a:pPr marL="742950" lvl="1" indent="-285750"/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Appliquer des contraintes « Price / Stock / Product_id »</a:t>
            </a:r>
          </a:p>
          <a:p>
            <a:pPr marL="742950" lvl="1" indent="-285750"/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Supprimer les colonnes inutiles</a:t>
            </a:r>
          </a:p>
          <a:p>
            <a:pPr marL="742950" lvl="1" indent="-285750"/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Point d’attention sur RGPD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indent="-285750"/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Intégrer les valeurs :</a:t>
            </a:r>
          </a:p>
          <a:p>
            <a:pPr marL="742950" lvl="1" indent="-285750"/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Prix_HT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, Marge, CA, rotation de stock	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i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indent="-285750"/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Mettre en place un </a:t>
            </a:r>
            <a:r>
              <a:rPr lang="fr-FR" i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dynamique:</a:t>
            </a:r>
          </a:p>
          <a:p>
            <a:pPr marL="742950" lvl="1" indent="-285750"/>
            <a:r>
              <a:rPr lang="fr-FR" i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Identification immédiate des écarts</a:t>
            </a: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fr-FR" i="1" dirty="0">
                <a:solidFill>
                  <a:schemeClr val="tx1"/>
                </a:solidFill>
                <a:latin typeface="Montserrat"/>
                <a:sym typeface="Montserrat"/>
              </a:rPr>
              <a:t>Mise en place des graphiques selon typologie des données : Qualitative / Quantitative</a:t>
            </a:r>
          </a:p>
          <a:p>
            <a:pPr marL="285750" indent="-285750"/>
            <a:endParaRPr lang="fr-FR" i="1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marL="285750" indent="-285750"/>
            <a:r>
              <a:rPr lang="fr-FR" i="1" dirty="0">
                <a:solidFill>
                  <a:schemeClr val="tx1"/>
                </a:solidFill>
                <a:latin typeface="Montserrat"/>
                <a:sym typeface="Montserrat"/>
              </a:rPr>
              <a:t>Meilleure appréhension des notions de « Statistiques » </a:t>
            </a:r>
          </a:p>
          <a:p>
            <a:pPr marL="285750" indent="-285750"/>
            <a:endParaRPr lang="fr-FR" i="1" dirty="0">
              <a:solidFill>
                <a:schemeClr val="tx1"/>
              </a:solidFill>
              <a:latin typeface="Montserrat"/>
              <a:sym typeface="Montserrat"/>
            </a:endParaRPr>
          </a:p>
          <a:p>
            <a:pPr marL="285750" indent="-285750"/>
            <a:r>
              <a:rPr lang="fr-FR" i="1" dirty="0">
                <a:solidFill>
                  <a:schemeClr val="tx1"/>
                </a:solidFill>
                <a:latin typeface="Montserrat"/>
                <a:sym typeface="Montserrat"/>
              </a:rPr>
              <a:t>Manipulation globale des </a:t>
            </a:r>
            <a:r>
              <a:rPr lang="fr-FR" i="1" dirty="0" err="1">
                <a:solidFill>
                  <a:schemeClr val="tx1"/>
                </a:solidFill>
                <a:latin typeface="Montserrat"/>
                <a:sym typeface="Montserrat"/>
              </a:rPr>
              <a:t>DataFrames</a:t>
            </a:r>
            <a:r>
              <a:rPr lang="fr-FR" i="1" dirty="0">
                <a:solidFill>
                  <a:schemeClr val="tx1"/>
                </a:solidFill>
                <a:latin typeface="Montserrat"/>
                <a:sym typeface="Montserrat"/>
              </a:rPr>
              <a:t> avec Pandas</a:t>
            </a:r>
            <a:endParaRPr i="1" dirty="0">
              <a:solidFill>
                <a:schemeClr val="tx1"/>
              </a:solidFill>
              <a:latin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5347</TotalTime>
  <Words>1063</Words>
  <Application>Microsoft Macintosh PowerPoint</Application>
  <PresentationFormat>Affichage à l'écran (16:9)</PresentationFormat>
  <Paragraphs>182</Paragraphs>
  <Slides>16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Wingdings</vt:lpstr>
      <vt:lpstr>Inter</vt:lpstr>
      <vt:lpstr>Arial</vt:lpstr>
      <vt:lpstr>Montserrat</vt:lpstr>
      <vt:lpstr>Simple Light</vt:lpstr>
      <vt:lpstr>Présentation PowerPoint</vt:lpstr>
      <vt:lpstr>Contexte</vt:lpstr>
      <vt:lpstr>Présentation PowerPoint</vt:lpstr>
      <vt:lpstr>Les commandes et fonctions utilisées</vt:lpstr>
      <vt:lpstr>Présentation PowerPoint</vt:lpstr>
      <vt:lpstr>Présentation PowerPoint</vt:lpstr>
      <vt:lpstr>Fusion ou consolidations des données Pré-Analyse des données  de la table Web: </vt:lpstr>
      <vt:lpstr>Analyse univariée du prix de vente </vt:lpstr>
      <vt:lpstr>Analyse bivarié prix d’achat et prix de vente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Romain RAMAT</cp:lastModifiedBy>
  <cp:revision>26</cp:revision>
  <dcterms:modified xsi:type="dcterms:W3CDTF">2025-03-01T14:28:10Z</dcterms:modified>
</cp:coreProperties>
</file>