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57" r:id="rId4"/>
    <p:sldId id="258" r:id="rId5"/>
    <p:sldId id="259" r:id="rId6"/>
    <p:sldId id="271" r:id="rId7"/>
    <p:sldId id="266" r:id="rId8"/>
    <p:sldId id="264" r:id="rId9"/>
    <p:sldId id="269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05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510816-E22D-0B0E-5499-88C92B8315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575917F-E902-3CC5-6538-DEFC4B36B2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F634076-30B1-246F-A6D3-B6DB89B96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7F9FD-7961-499E-B9F5-4118F5126ABB}" type="datetimeFigureOut">
              <a:rPr lang="fr-FR" smtClean="0"/>
              <a:t>07/02/2026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EA223CD-7E39-3C8F-3FDC-50FD59C05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B9398CE-2129-AA62-1E90-93922EE72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F4E39-98BA-48EB-B7F5-B0EE7AE3B3B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1346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48CEB8-87FC-E4E1-4EB2-081F047315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"/>
            <a:ext cx="12192000" cy="1690688"/>
          </a:xfrm>
          <a:solidFill>
            <a:srgbClr val="262626"/>
          </a:solidFill>
        </p:spPr>
        <p:txBody>
          <a:bodyPr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	Modifiez le style du titre :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13A53C0-2843-04B1-90F3-DBE8A285F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7F9FD-7961-499E-B9F5-4118F5126ABB}" type="datetimeFigureOut">
              <a:rPr lang="fr-FR" smtClean="0"/>
              <a:t>07/02/2026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38F69CC-B02F-69F7-0B8C-A1C3E5FC4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CE3A297-55BF-F806-264C-D2DFB31A2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F4E39-98BA-48EB-B7F5-B0EE7AE3B3B1}" type="slidenum">
              <a:rPr lang="fr-FR" smtClean="0"/>
              <a:t>‹N°›</a:t>
            </a:fld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6424C52-F3D6-A24C-56A3-9E563F16A632}"/>
              </a:ext>
            </a:extLst>
          </p:cNvPr>
          <p:cNvSpPr/>
          <p:nvPr userDrawn="1"/>
        </p:nvSpPr>
        <p:spPr>
          <a:xfrm>
            <a:off x="0" y="1690688"/>
            <a:ext cx="12192000" cy="5167311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1B39CDE-6116-A8EF-3482-977FC201C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4875" y="2098674"/>
            <a:ext cx="10515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C793184B-C725-749F-A73D-259B7B7F4F29}"/>
              </a:ext>
            </a:extLst>
          </p:cNvPr>
          <p:cNvCxnSpPr>
            <a:cxnSpLocks/>
          </p:cNvCxnSpPr>
          <p:nvPr userDrawn="1"/>
        </p:nvCxnSpPr>
        <p:spPr>
          <a:xfrm>
            <a:off x="1146663" y="2031755"/>
            <a:ext cx="463062" cy="0"/>
          </a:xfrm>
          <a:prstGeom prst="line">
            <a:avLst/>
          </a:prstGeom>
          <a:ln w="412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3479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48CEB8-87FC-E4E1-4EB2-081F04731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1B39CDE-6116-A8EF-3482-977FC201C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13A53C0-2843-04B1-90F3-DBE8A285F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7F9FD-7961-499E-B9F5-4118F5126ABB}" type="datetimeFigureOut">
              <a:rPr lang="fr-FR" smtClean="0"/>
              <a:t>07/02/2026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38F69CC-B02F-69F7-0B8C-A1C3E5FC4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CE3A297-55BF-F806-264C-D2DFB31A2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F4E39-98BA-48EB-B7F5-B0EE7AE3B3B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9136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ECC4A0-C56F-AD57-9B5A-FEA5F7EEB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6884F16-03D9-1650-75EB-D25F29227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846BE30-CA8F-601C-B4B8-C7F0A5F81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7F9FD-7961-499E-B9F5-4118F5126ABB}" type="datetimeFigureOut">
              <a:rPr lang="fr-FR" smtClean="0"/>
              <a:t>07/02/2026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338434B-955F-92EA-55B8-97A5C2C52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75ABEF7-8B6A-72A2-A450-F70EA9C98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F4E39-98BA-48EB-B7F5-B0EE7AE3B3B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7823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52455A-9F80-6A1A-EE4C-23C5A4F1B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A46ECCD-A6F5-AED8-49D8-9CBDF4A1F9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BD7A8A9-C1BD-54DB-DDE1-F4606BCB34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FE1A749-3B54-EE29-DC66-B6E73B237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7F9FD-7961-499E-B9F5-4118F5126ABB}" type="datetimeFigureOut">
              <a:rPr lang="fr-FR" smtClean="0"/>
              <a:t>07/02/2026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C336E88-B250-FBDE-2454-B0AFB295B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DC58A78-1EE4-6233-34D8-E9CBFBE15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F4E39-98BA-48EB-B7F5-B0EE7AE3B3B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710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3F4571-5814-3F9C-E7D6-CB098CE63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C2F3271-3079-22F0-2B21-FE802F0614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A140A33-FC56-2B2F-B727-DE2CD18D50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1C1C7B2-4FC5-E22D-E803-3E98628727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DFE056B-82AE-BCE2-FEB6-ECA40A2213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3522757-ADCA-4124-B7DC-50DEDF864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7F9FD-7961-499E-B9F5-4118F5126ABB}" type="datetimeFigureOut">
              <a:rPr lang="fr-FR" smtClean="0"/>
              <a:t>07/02/2026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95FAD06-C538-38F3-85B9-416DA072D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8C81B70-019A-AF02-DD8F-35312A166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F4E39-98BA-48EB-B7F5-B0EE7AE3B3B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7864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E552BB-C264-5F70-AB57-E2E8BBA7A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283B1ED-AAAE-94AF-E30E-8083369A5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7F9FD-7961-499E-B9F5-4118F5126ABB}" type="datetimeFigureOut">
              <a:rPr lang="fr-FR" smtClean="0"/>
              <a:t>07/02/2026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5256FDF-7591-8D81-E411-27DE6D7E2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0B15703-7902-544A-C9CA-C4A5FD500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F4E39-98BA-48EB-B7F5-B0EE7AE3B3B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1449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8AF7BCF-63FE-19B0-43A3-2D8F16D44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7F9FD-7961-499E-B9F5-4118F5126ABB}" type="datetimeFigureOut">
              <a:rPr lang="fr-FR" smtClean="0"/>
              <a:t>07/02/2026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81862AB-2B58-2273-1B35-31C3220F9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A0544E2-71F0-EC88-CAD1-D956D5458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F4E39-98BA-48EB-B7F5-B0EE7AE3B3B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5880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D62987-3D07-68E2-8ADF-525F4D250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F906585-AB2F-F484-8C91-15087B2DA0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BC82E5B-5D3C-7A8B-89DA-9F6116ED68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D4CC701-026E-5174-BBC3-701D923DE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7F9FD-7961-499E-B9F5-4118F5126ABB}" type="datetimeFigureOut">
              <a:rPr lang="fr-FR" smtClean="0"/>
              <a:t>07/02/2026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76988B0-5F82-CFAB-8642-2ACFAE6E8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00E4E58-5E37-34A8-B522-9A6424606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F4E39-98BA-48EB-B7F5-B0EE7AE3B3B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1790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7C9203-BC82-6F8C-2205-70343E977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1E9FAB0-2995-5915-CFD1-DDE8AC0B9D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A5FF103-6BF4-5772-7ACE-1DB19D33EE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2C7D0B0-C654-6ECD-7446-F162D10E3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7F9FD-7961-499E-B9F5-4118F5126ABB}" type="datetimeFigureOut">
              <a:rPr lang="fr-FR" smtClean="0"/>
              <a:t>07/02/2026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EA75C48-BBD1-9D9D-137A-A756920E0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F9A98D9-A7F7-0B6B-D8E0-753ACD87D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F4E39-98BA-48EB-B7F5-B0EE7AE3B3B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5548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A453B5-3763-FFB9-D89F-E5322C615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ED3455E-53E2-45D1-FFC1-52F5DF0811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448BF49-5475-9FD9-0F5C-039562C0B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7F9FD-7961-499E-B9F5-4118F5126ABB}" type="datetimeFigureOut">
              <a:rPr lang="fr-FR" smtClean="0"/>
              <a:t>07/02/2026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593D36-75FD-6675-2D7B-6C21211C4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0F152EC-809E-5029-98AE-944E69B5A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F4E39-98BA-48EB-B7F5-B0EE7AE3B3B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95376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FEB616E-4C2E-473E-A98E-32BD005998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99AB001-DCAF-8602-20F5-B232D28601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1FCF1B3-BF18-B092-149E-1462A9B54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7F9FD-7961-499E-B9F5-4118F5126ABB}" type="datetimeFigureOut">
              <a:rPr lang="fr-FR" smtClean="0"/>
              <a:t>07/02/2026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C9A88A1-DFB0-C929-3B85-18208E7F2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3F0AB4B-942E-D96D-20CC-EF042D1BE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F4E39-98BA-48EB-B7F5-B0EE7AE3B3B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312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96BB7B1-ADBB-6A24-6387-B478B2F24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43A6D90-2C72-9FE5-B0F8-9B58F97D94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0797347-E2A7-98A9-5EC4-8576B6E22E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67F9FD-7961-499E-B9F5-4118F5126ABB}" type="datetimeFigureOut">
              <a:rPr lang="fr-FR" smtClean="0"/>
              <a:t>07/02/2026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31988C6-CB3D-163A-A759-E85586A374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1A4BDA4-F542-0932-7557-99A519C783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CF4E39-98BA-48EB-B7F5-B0EE7AE3B3B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4532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7" name="Rectangle 1036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2" name="Picture 8" descr="NO LOGO FOR THIS CHALLENGE">
            <a:extLst>
              <a:ext uri="{FF2B5EF4-FFF2-40B4-BE49-F238E27FC236}">
                <a16:creationId xmlns:a16="http://schemas.microsoft.com/office/drawing/2014/main" id="{A76A3CB1-16A7-E521-16DB-EE8D68CC3E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0" r="960" b="1"/>
          <a:stretch>
            <a:fillRect/>
          </a:stretch>
        </p:blipFill>
        <p:spPr bwMode="auto">
          <a:xfrm>
            <a:off x="0" y="0"/>
            <a:ext cx="966964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9" name="Rectangle 1038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94ADB4D-BCF1-F7E2-862B-AF777921AA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11024" y="1315064"/>
            <a:ext cx="3445765" cy="1006475"/>
          </a:xfrm>
          <a:noFill/>
        </p:spPr>
        <p:txBody>
          <a:bodyPr>
            <a:normAutofit fontScale="90000"/>
          </a:bodyPr>
          <a:lstStyle/>
          <a:p>
            <a:pPr algn="l"/>
            <a:r>
              <a:rPr lang="fr-FR" b="1" dirty="0" err="1"/>
              <a:t>Fraud</a:t>
            </a:r>
            <a:r>
              <a:rPr lang="fr-FR" b="1" dirty="0"/>
              <a:t> Data Analyst</a:t>
            </a:r>
            <a:endParaRPr lang="fr-FR" sz="5200" b="1" dirty="0"/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49D4EBAC-9D22-53A5-5B41-A5CAF02FDD78}"/>
              </a:ext>
            </a:extLst>
          </p:cNvPr>
          <p:cNvSpPr/>
          <p:nvPr/>
        </p:nvSpPr>
        <p:spPr>
          <a:xfrm>
            <a:off x="4965701" y="5638784"/>
            <a:ext cx="5118100" cy="1006474"/>
          </a:xfrm>
          <a:prstGeom prst="roundRect">
            <a:avLst/>
          </a:prstGeom>
          <a:solidFill>
            <a:srgbClr val="F2F2F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>
                <a:solidFill>
                  <a:schemeClr val="tx1"/>
                </a:solidFill>
              </a:rPr>
              <a:t>Romain RAMAT </a:t>
            </a:r>
          </a:p>
          <a:p>
            <a:r>
              <a:rPr lang="fr-FR" dirty="0">
                <a:solidFill>
                  <a:schemeClr val="tx1"/>
                </a:solidFill>
              </a:rPr>
              <a:t>08/02/2026</a:t>
            </a:r>
          </a:p>
        </p:txBody>
      </p:sp>
    </p:spTree>
    <p:extLst>
      <p:ext uri="{BB962C8B-B14F-4D97-AF65-F5344CB8AC3E}">
        <p14:creationId xmlns:p14="http://schemas.microsoft.com/office/powerpoint/2010/main" val="4278782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C8AFE1-AD67-FCFA-A9A7-AA47FF274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	Contexte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BEC5F69-36B9-B91A-7D6C-6FDAD8A58E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 fraude, un enjeu majeur et stratégique :</a:t>
            </a:r>
          </a:p>
          <a:p>
            <a:pPr lvl="1"/>
            <a:r>
              <a:rPr lang="fr-FR" dirty="0"/>
              <a:t>Perte financière</a:t>
            </a:r>
          </a:p>
          <a:p>
            <a:pPr lvl="1"/>
            <a:r>
              <a:rPr lang="fr-FR" dirty="0"/>
              <a:t>Risque de réputation et d’image</a:t>
            </a:r>
          </a:p>
          <a:p>
            <a:pPr lvl="1"/>
            <a:endParaRPr lang="fr-FR" dirty="0"/>
          </a:p>
        </p:txBody>
      </p:sp>
      <p:sp>
        <p:nvSpPr>
          <p:cNvPr id="6" name="Forme libre : forme 5">
            <a:extLst>
              <a:ext uri="{FF2B5EF4-FFF2-40B4-BE49-F238E27FC236}">
                <a16:creationId xmlns:a16="http://schemas.microsoft.com/office/drawing/2014/main" id="{4342E3FB-E32F-E892-6ECC-16A1B01115FF}"/>
              </a:ext>
            </a:extLst>
          </p:cNvPr>
          <p:cNvSpPr/>
          <p:nvPr/>
        </p:nvSpPr>
        <p:spPr>
          <a:xfrm>
            <a:off x="2708786" y="4552335"/>
            <a:ext cx="712839" cy="906997"/>
          </a:xfrm>
          <a:custGeom>
            <a:avLst/>
            <a:gdLst>
              <a:gd name="csX0" fmla="*/ 292537 w 894736"/>
              <a:gd name="csY0" fmla="*/ 607061 h 1192134"/>
              <a:gd name="csX1" fmla="*/ 602199 w 894736"/>
              <a:gd name="csY1" fmla="*/ 607061 h 1192134"/>
              <a:gd name="csX2" fmla="*/ 894736 w 894736"/>
              <a:gd name="csY2" fmla="*/ 899598 h 1192134"/>
              <a:gd name="csX3" fmla="*/ 894735 w 894736"/>
              <a:gd name="csY3" fmla="*/ 1192134 h 1192134"/>
              <a:gd name="csX4" fmla="*/ 0 w 894736"/>
              <a:gd name="csY4" fmla="*/ 1192134 h 1192134"/>
              <a:gd name="csX5" fmla="*/ 0 w 894736"/>
              <a:gd name="csY5" fmla="*/ 899598 h 1192134"/>
              <a:gd name="csX6" fmla="*/ 292537 w 894736"/>
              <a:gd name="csY6" fmla="*/ 607061 h 1192134"/>
              <a:gd name="csX7" fmla="*/ 447368 w 894736"/>
              <a:gd name="csY7" fmla="*/ 0 h 1192134"/>
              <a:gd name="csX8" fmla="*/ 683342 w 894736"/>
              <a:gd name="csY8" fmla="*/ 245807 h 1192134"/>
              <a:gd name="csX9" fmla="*/ 447368 w 894736"/>
              <a:gd name="csY9" fmla="*/ 491614 h 1192134"/>
              <a:gd name="csX10" fmla="*/ 211394 w 894736"/>
              <a:gd name="csY10" fmla="*/ 245807 h 1192134"/>
              <a:gd name="csX11" fmla="*/ 447368 w 894736"/>
              <a:gd name="csY11" fmla="*/ 0 h 11921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894736" h="1192134">
                <a:moveTo>
                  <a:pt x="292537" y="607061"/>
                </a:moveTo>
                <a:lnTo>
                  <a:pt x="602199" y="607061"/>
                </a:lnTo>
                <a:cubicBezTo>
                  <a:pt x="763763" y="607061"/>
                  <a:pt x="894736" y="738034"/>
                  <a:pt x="894736" y="899598"/>
                </a:cubicBezTo>
                <a:cubicBezTo>
                  <a:pt x="894736" y="997110"/>
                  <a:pt x="894735" y="1094622"/>
                  <a:pt x="894735" y="1192134"/>
                </a:cubicBezTo>
                <a:lnTo>
                  <a:pt x="0" y="1192134"/>
                </a:lnTo>
                <a:lnTo>
                  <a:pt x="0" y="899598"/>
                </a:lnTo>
                <a:cubicBezTo>
                  <a:pt x="0" y="738034"/>
                  <a:pt x="130973" y="607061"/>
                  <a:pt x="292537" y="607061"/>
                </a:cubicBezTo>
                <a:close/>
                <a:moveTo>
                  <a:pt x="447368" y="0"/>
                </a:moveTo>
                <a:cubicBezTo>
                  <a:pt x="577693" y="0"/>
                  <a:pt x="683342" y="110052"/>
                  <a:pt x="683342" y="245807"/>
                </a:cubicBezTo>
                <a:cubicBezTo>
                  <a:pt x="683342" y="381562"/>
                  <a:pt x="577693" y="491614"/>
                  <a:pt x="447368" y="491614"/>
                </a:cubicBezTo>
                <a:cubicBezTo>
                  <a:pt x="317043" y="491614"/>
                  <a:pt x="211394" y="381562"/>
                  <a:pt x="211394" y="245807"/>
                </a:cubicBezTo>
                <a:cubicBezTo>
                  <a:pt x="211394" y="110052"/>
                  <a:pt x="317043" y="0"/>
                  <a:pt x="447368" y="0"/>
                </a:cubicBez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7" name="Forme libre : forme 6">
            <a:extLst>
              <a:ext uri="{FF2B5EF4-FFF2-40B4-BE49-F238E27FC236}">
                <a16:creationId xmlns:a16="http://schemas.microsoft.com/office/drawing/2014/main" id="{0D9F46B8-8775-D685-D497-F4D7CD4227EE}"/>
              </a:ext>
            </a:extLst>
          </p:cNvPr>
          <p:cNvSpPr/>
          <p:nvPr/>
        </p:nvSpPr>
        <p:spPr>
          <a:xfrm>
            <a:off x="4491800" y="4552335"/>
            <a:ext cx="1092407" cy="990631"/>
          </a:xfrm>
          <a:custGeom>
            <a:avLst/>
            <a:gdLst>
              <a:gd name="csX0" fmla="*/ 297976 w 1641013"/>
              <a:gd name="csY0" fmla="*/ 1021091 h 1571138"/>
              <a:gd name="csX1" fmla="*/ 297976 w 1641013"/>
              <a:gd name="csY1" fmla="*/ 1021092 h 1571138"/>
              <a:gd name="csX2" fmla="*/ 297976 w 1641013"/>
              <a:gd name="csY2" fmla="*/ 1021092 h 1571138"/>
              <a:gd name="csX3" fmla="*/ 348076 w 1641013"/>
              <a:gd name="csY3" fmla="*/ 992437 h 1571138"/>
              <a:gd name="csX4" fmla="*/ 368076 w 1641013"/>
              <a:gd name="csY4" fmla="*/ 997901 h 1571138"/>
              <a:gd name="csX5" fmla="*/ 466677 w 1641013"/>
              <a:gd name="csY5" fmla="*/ 1047481 h 1571138"/>
              <a:gd name="csX6" fmla="*/ 1580745 w 1641013"/>
              <a:gd name="csY6" fmla="*/ 1047481 h 1571138"/>
              <a:gd name="csX7" fmla="*/ 1641013 w 1641013"/>
              <a:gd name="csY7" fmla="*/ 1107749 h 1571138"/>
              <a:gd name="csX8" fmla="*/ 1641012 w 1641013"/>
              <a:gd name="csY8" fmla="*/ 1107749 h 1571138"/>
              <a:gd name="csX9" fmla="*/ 1580744 w 1641013"/>
              <a:gd name="csY9" fmla="*/ 1168017 h 1571138"/>
              <a:gd name="csX10" fmla="*/ 1380469 w 1641013"/>
              <a:gd name="csY10" fmla="*/ 1168017 h 1571138"/>
              <a:gd name="csX11" fmla="*/ 1425045 w 1641013"/>
              <a:gd name="csY11" fmla="*/ 1172111 h 1571138"/>
              <a:gd name="csX12" fmla="*/ 1601686 w 1641013"/>
              <a:gd name="csY12" fmla="*/ 1369577 h 1571138"/>
              <a:gd name="csX13" fmla="*/ 1380460 w 1641013"/>
              <a:gd name="csY13" fmla="*/ 1571138 h 1571138"/>
              <a:gd name="csX14" fmla="*/ 1159234 w 1641013"/>
              <a:gd name="csY14" fmla="*/ 1369577 h 1571138"/>
              <a:gd name="csX15" fmla="*/ 1335875 w 1641013"/>
              <a:gd name="csY15" fmla="*/ 1172111 h 1571138"/>
              <a:gd name="csX16" fmla="*/ 1380451 w 1641013"/>
              <a:gd name="csY16" fmla="*/ 1168017 h 1571138"/>
              <a:gd name="csX17" fmla="*/ 623378 w 1641013"/>
              <a:gd name="csY17" fmla="*/ 1168016 h 1571138"/>
              <a:gd name="csX18" fmla="*/ 667961 w 1641013"/>
              <a:gd name="csY18" fmla="*/ 1172111 h 1571138"/>
              <a:gd name="csX19" fmla="*/ 844602 w 1641013"/>
              <a:gd name="csY19" fmla="*/ 1369577 h 1571138"/>
              <a:gd name="csX20" fmla="*/ 623376 w 1641013"/>
              <a:gd name="csY20" fmla="*/ 1571138 h 1571138"/>
              <a:gd name="csX21" fmla="*/ 402150 w 1641013"/>
              <a:gd name="csY21" fmla="*/ 1369577 h 1571138"/>
              <a:gd name="csX22" fmla="*/ 578791 w 1641013"/>
              <a:gd name="csY22" fmla="*/ 1172111 h 1571138"/>
              <a:gd name="csX23" fmla="*/ 623375 w 1641013"/>
              <a:gd name="csY23" fmla="*/ 1168016 h 1571138"/>
              <a:gd name="csX24" fmla="*/ 462417 w 1641013"/>
              <a:gd name="csY24" fmla="*/ 1168016 h 1571138"/>
              <a:gd name="csX25" fmla="*/ 419801 w 1641013"/>
              <a:gd name="csY25" fmla="*/ 1150364 h 1571138"/>
              <a:gd name="csX26" fmla="*/ 414791 w 1641013"/>
              <a:gd name="csY26" fmla="*/ 1138269 h 1571138"/>
              <a:gd name="csX27" fmla="*/ 321167 w 1641013"/>
              <a:gd name="csY27" fmla="*/ 1091191 h 1571138"/>
              <a:gd name="csX28" fmla="*/ 295053 w 1641013"/>
              <a:gd name="csY28" fmla="*/ 1060944 h 1571138"/>
              <a:gd name="csX29" fmla="*/ 297976 w 1641013"/>
              <a:gd name="csY29" fmla="*/ 1021092 h 1571138"/>
              <a:gd name="csX30" fmla="*/ 328223 w 1641013"/>
              <a:gd name="csY30" fmla="*/ 994979 h 1571138"/>
              <a:gd name="csX31" fmla="*/ 348076 w 1641013"/>
              <a:gd name="csY31" fmla="*/ 992437 h 1571138"/>
              <a:gd name="csX32" fmla="*/ 9664 w 1641013"/>
              <a:gd name="csY32" fmla="*/ 27552 h 1571138"/>
              <a:gd name="csX33" fmla="*/ 9664 w 1641013"/>
              <a:gd name="csY33" fmla="*/ 27552 h 1571138"/>
              <a:gd name="csX34" fmla="*/ 9664 w 1641013"/>
              <a:gd name="csY34" fmla="*/ 27553 h 1571138"/>
              <a:gd name="csX35" fmla="*/ 70725 w 1641013"/>
              <a:gd name="csY35" fmla="*/ 904 h 1571138"/>
              <a:gd name="csX36" fmla="*/ 92997 w 1641013"/>
              <a:gd name="csY36" fmla="*/ 9664 h 1571138"/>
              <a:gd name="csX37" fmla="*/ 462413 w 1641013"/>
              <a:gd name="csY37" fmla="*/ 248510 h 1571138"/>
              <a:gd name="csX38" fmla="*/ 488616 w 1641013"/>
              <a:gd name="csY38" fmla="*/ 286472 h 1571138"/>
              <a:gd name="csX39" fmla="*/ 488668 w 1641013"/>
              <a:gd name="csY39" fmla="*/ 289147 h 1571138"/>
              <a:gd name="csX40" fmla="*/ 491261 w 1641013"/>
              <a:gd name="csY40" fmla="*/ 292992 h 1571138"/>
              <a:gd name="csX41" fmla="*/ 495509 w 1641013"/>
              <a:gd name="csY41" fmla="*/ 314032 h 1571138"/>
              <a:gd name="csX42" fmla="*/ 495509 w 1641013"/>
              <a:gd name="csY42" fmla="*/ 380234 h 1571138"/>
              <a:gd name="csX43" fmla="*/ 1626267 w 1641013"/>
              <a:gd name="csY43" fmla="*/ 259979 h 1571138"/>
              <a:gd name="csX44" fmla="*/ 1626267 w 1641013"/>
              <a:gd name="csY44" fmla="*/ 918740 h 1571138"/>
              <a:gd name="csX45" fmla="*/ 387403 w 1641013"/>
              <a:gd name="csY45" fmla="*/ 918740 h 1571138"/>
              <a:gd name="csX46" fmla="*/ 387403 w 1641013"/>
              <a:gd name="csY46" fmla="*/ 429152 h 1571138"/>
              <a:gd name="csX47" fmla="*/ 387402 w 1641013"/>
              <a:gd name="csY47" fmla="*/ 429149 h 1571138"/>
              <a:gd name="csX48" fmla="*/ 387402 w 1641013"/>
              <a:gd name="csY48" fmla="*/ 343547 h 1571138"/>
              <a:gd name="csX49" fmla="*/ 27553 w 1641013"/>
              <a:gd name="csY49" fmla="*/ 110885 h 1571138"/>
              <a:gd name="csX50" fmla="*/ 904 w 1641013"/>
              <a:gd name="csY50" fmla="*/ 49823 h 1571138"/>
              <a:gd name="csX51" fmla="*/ 9664 w 1641013"/>
              <a:gd name="csY51" fmla="*/ 27552 h 1571138"/>
              <a:gd name="csX52" fmla="*/ 26378 w 1641013"/>
              <a:gd name="csY52" fmla="*/ 10424 h 1571138"/>
              <a:gd name="csX53" fmla="*/ 70725 w 1641013"/>
              <a:gd name="csY53" fmla="*/ 904 h 15711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</a:cxnLst>
            <a:rect l="l" t="t" r="r" b="b"/>
            <a:pathLst>
              <a:path w="1641013" h="1571138">
                <a:moveTo>
                  <a:pt x="297976" y="1021091"/>
                </a:moveTo>
                <a:lnTo>
                  <a:pt x="297976" y="1021092"/>
                </a:lnTo>
                <a:lnTo>
                  <a:pt x="297976" y="1021092"/>
                </a:lnTo>
                <a:close/>
                <a:moveTo>
                  <a:pt x="348076" y="992437"/>
                </a:moveTo>
                <a:cubicBezTo>
                  <a:pt x="354843" y="992883"/>
                  <a:pt x="361635" y="994663"/>
                  <a:pt x="368076" y="997901"/>
                </a:cubicBezTo>
                <a:lnTo>
                  <a:pt x="466677" y="1047481"/>
                </a:lnTo>
                <a:lnTo>
                  <a:pt x="1580745" y="1047481"/>
                </a:lnTo>
                <a:cubicBezTo>
                  <a:pt x="1614030" y="1047481"/>
                  <a:pt x="1641013" y="1074464"/>
                  <a:pt x="1641013" y="1107749"/>
                </a:cubicBezTo>
                <a:lnTo>
                  <a:pt x="1641012" y="1107749"/>
                </a:lnTo>
                <a:cubicBezTo>
                  <a:pt x="1641012" y="1141034"/>
                  <a:pt x="1614029" y="1168017"/>
                  <a:pt x="1580744" y="1168017"/>
                </a:cubicBezTo>
                <a:lnTo>
                  <a:pt x="1380469" y="1168017"/>
                </a:lnTo>
                <a:lnTo>
                  <a:pt x="1425045" y="1172111"/>
                </a:lnTo>
                <a:cubicBezTo>
                  <a:pt x="1525854" y="1190906"/>
                  <a:pt x="1601686" y="1272173"/>
                  <a:pt x="1601686" y="1369577"/>
                </a:cubicBezTo>
                <a:cubicBezTo>
                  <a:pt x="1601686" y="1480896"/>
                  <a:pt x="1502640" y="1571138"/>
                  <a:pt x="1380460" y="1571138"/>
                </a:cubicBezTo>
                <a:cubicBezTo>
                  <a:pt x="1258280" y="1571138"/>
                  <a:pt x="1159234" y="1480896"/>
                  <a:pt x="1159234" y="1369577"/>
                </a:cubicBezTo>
                <a:cubicBezTo>
                  <a:pt x="1159234" y="1272173"/>
                  <a:pt x="1235066" y="1190906"/>
                  <a:pt x="1335875" y="1172111"/>
                </a:cubicBezTo>
                <a:lnTo>
                  <a:pt x="1380451" y="1168017"/>
                </a:lnTo>
                <a:lnTo>
                  <a:pt x="623378" y="1168016"/>
                </a:lnTo>
                <a:lnTo>
                  <a:pt x="667961" y="1172111"/>
                </a:lnTo>
                <a:cubicBezTo>
                  <a:pt x="768770" y="1190906"/>
                  <a:pt x="844602" y="1272173"/>
                  <a:pt x="844602" y="1369577"/>
                </a:cubicBezTo>
                <a:cubicBezTo>
                  <a:pt x="844602" y="1480896"/>
                  <a:pt x="745556" y="1571138"/>
                  <a:pt x="623376" y="1571138"/>
                </a:cubicBezTo>
                <a:cubicBezTo>
                  <a:pt x="501196" y="1571138"/>
                  <a:pt x="402150" y="1480896"/>
                  <a:pt x="402150" y="1369577"/>
                </a:cubicBezTo>
                <a:cubicBezTo>
                  <a:pt x="402150" y="1272173"/>
                  <a:pt x="477982" y="1190906"/>
                  <a:pt x="578791" y="1172111"/>
                </a:cubicBezTo>
                <a:lnTo>
                  <a:pt x="623375" y="1168016"/>
                </a:lnTo>
                <a:lnTo>
                  <a:pt x="462417" y="1168016"/>
                </a:lnTo>
                <a:cubicBezTo>
                  <a:pt x="445775" y="1168016"/>
                  <a:pt x="430708" y="1161270"/>
                  <a:pt x="419801" y="1150364"/>
                </a:cubicBezTo>
                <a:lnTo>
                  <a:pt x="414791" y="1138269"/>
                </a:lnTo>
                <a:lnTo>
                  <a:pt x="321167" y="1091191"/>
                </a:lnTo>
                <a:cubicBezTo>
                  <a:pt x="308286" y="1084714"/>
                  <a:pt x="299250" y="1073630"/>
                  <a:pt x="295053" y="1060944"/>
                </a:cubicBezTo>
                <a:lnTo>
                  <a:pt x="297976" y="1021092"/>
                </a:lnTo>
                <a:lnTo>
                  <a:pt x="328223" y="994979"/>
                </a:lnTo>
                <a:cubicBezTo>
                  <a:pt x="334566" y="992880"/>
                  <a:pt x="341309" y="991992"/>
                  <a:pt x="348076" y="992437"/>
                </a:cubicBezTo>
                <a:close/>
                <a:moveTo>
                  <a:pt x="9664" y="27552"/>
                </a:moveTo>
                <a:lnTo>
                  <a:pt x="9664" y="27552"/>
                </a:lnTo>
                <a:lnTo>
                  <a:pt x="9664" y="27553"/>
                </a:lnTo>
                <a:close/>
                <a:moveTo>
                  <a:pt x="70725" y="904"/>
                </a:moveTo>
                <a:cubicBezTo>
                  <a:pt x="78436" y="2258"/>
                  <a:pt x="86009" y="5146"/>
                  <a:pt x="92997" y="9664"/>
                </a:cubicBezTo>
                <a:lnTo>
                  <a:pt x="462413" y="248510"/>
                </a:lnTo>
                <a:cubicBezTo>
                  <a:pt x="476389" y="257546"/>
                  <a:pt x="485379" y="271392"/>
                  <a:pt x="488616" y="286472"/>
                </a:cubicBezTo>
                <a:lnTo>
                  <a:pt x="488668" y="289147"/>
                </a:lnTo>
                <a:lnTo>
                  <a:pt x="491261" y="292992"/>
                </a:lnTo>
                <a:cubicBezTo>
                  <a:pt x="493996" y="299459"/>
                  <a:pt x="495509" y="306569"/>
                  <a:pt x="495509" y="314032"/>
                </a:cubicBezTo>
                <a:lnTo>
                  <a:pt x="495509" y="380234"/>
                </a:lnTo>
                <a:lnTo>
                  <a:pt x="1626267" y="259979"/>
                </a:lnTo>
                <a:lnTo>
                  <a:pt x="1626267" y="918740"/>
                </a:lnTo>
                <a:lnTo>
                  <a:pt x="387403" y="918740"/>
                </a:lnTo>
                <a:lnTo>
                  <a:pt x="387403" y="429152"/>
                </a:lnTo>
                <a:lnTo>
                  <a:pt x="387402" y="429149"/>
                </a:lnTo>
                <a:lnTo>
                  <a:pt x="387402" y="343547"/>
                </a:lnTo>
                <a:lnTo>
                  <a:pt x="27553" y="110885"/>
                </a:lnTo>
                <a:cubicBezTo>
                  <a:pt x="6589" y="97331"/>
                  <a:pt x="-3157" y="72956"/>
                  <a:pt x="904" y="49823"/>
                </a:cubicBezTo>
                <a:lnTo>
                  <a:pt x="9664" y="27552"/>
                </a:lnTo>
                <a:lnTo>
                  <a:pt x="26378" y="10424"/>
                </a:lnTo>
                <a:cubicBezTo>
                  <a:pt x="39330" y="1626"/>
                  <a:pt x="55304" y="-1803"/>
                  <a:pt x="70725" y="904"/>
                </a:cubicBez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dirty="0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0FF27937-7EB4-58B9-2166-0970A4C0441C}"/>
              </a:ext>
            </a:extLst>
          </p:cNvPr>
          <p:cNvGrpSpPr/>
          <p:nvPr/>
        </p:nvGrpSpPr>
        <p:grpSpPr>
          <a:xfrm>
            <a:off x="6654382" y="4620661"/>
            <a:ext cx="816769" cy="853977"/>
            <a:chOff x="5486400" y="4805545"/>
            <a:chExt cx="1150374" cy="1032388"/>
          </a:xfrm>
        </p:grpSpPr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91F58673-AAB8-B937-5C50-E40C86906FDA}"/>
                </a:ext>
              </a:extLst>
            </p:cNvPr>
            <p:cNvSpPr/>
            <p:nvPr/>
          </p:nvSpPr>
          <p:spPr>
            <a:xfrm>
              <a:off x="5486400" y="4805545"/>
              <a:ext cx="1150374" cy="1032388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" name="Forme libre : forme 13">
              <a:extLst>
                <a:ext uri="{FF2B5EF4-FFF2-40B4-BE49-F238E27FC236}">
                  <a16:creationId xmlns:a16="http://schemas.microsoft.com/office/drawing/2014/main" id="{63CAB273-4F96-A8FD-C6E3-669AB1AC7240}"/>
                </a:ext>
              </a:extLst>
            </p:cNvPr>
            <p:cNvSpPr/>
            <p:nvPr/>
          </p:nvSpPr>
          <p:spPr>
            <a:xfrm rot="2300881">
              <a:off x="5757075" y="4929307"/>
              <a:ext cx="609024" cy="633640"/>
            </a:xfrm>
            <a:custGeom>
              <a:avLst/>
              <a:gdLst>
                <a:gd name="csX0" fmla="*/ 444294 w 609024"/>
                <a:gd name="csY0" fmla="*/ 2260 h 633640"/>
                <a:gd name="csX1" fmla="*/ 599853 w 609024"/>
                <a:gd name="csY1" fmla="*/ 0 h 633640"/>
                <a:gd name="csX2" fmla="*/ 609024 w 609024"/>
                <a:gd name="csY2" fmla="*/ 631380 h 633640"/>
                <a:gd name="csX3" fmla="*/ 453465 w 609024"/>
                <a:gd name="csY3" fmla="*/ 633640 h 633640"/>
                <a:gd name="csX4" fmla="*/ 453462 w 609024"/>
                <a:gd name="csY4" fmla="*/ 633441 h 633640"/>
                <a:gd name="csX5" fmla="*/ 0 w 609024"/>
                <a:gd name="csY5" fmla="*/ 633441 h 633640"/>
                <a:gd name="csX6" fmla="*/ 0 w 609024"/>
                <a:gd name="csY6" fmla="*/ 477866 h 633640"/>
                <a:gd name="csX7" fmla="*/ 451202 w 609024"/>
                <a:gd name="csY7" fmla="*/ 477866 h 6336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609024" h="633640">
                  <a:moveTo>
                    <a:pt x="444294" y="2260"/>
                  </a:moveTo>
                  <a:lnTo>
                    <a:pt x="599853" y="0"/>
                  </a:lnTo>
                  <a:lnTo>
                    <a:pt x="609024" y="631380"/>
                  </a:lnTo>
                  <a:lnTo>
                    <a:pt x="453465" y="633640"/>
                  </a:lnTo>
                  <a:lnTo>
                    <a:pt x="453462" y="633441"/>
                  </a:lnTo>
                  <a:lnTo>
                    <a:pt x="0" y="633441"/>
                  </a:lnTo>
                  <a:lnTo>
                    <a:pt x="0" y="477866"/>
                  </a:lnTo>
                  <a:lnTo>
                    <a:pt x="451202" y="477866"/>
                  </a:lnTo>
                  <a:close/>
                </a:path>
              </a:pathLst>
            </a:cu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</p:grpSp>
      <p:sp>
        <p:nvSpPr>
          <p:cNvPr id="16" name="Ellipse 15">
            <a:extLst>
              <a:ext uri="{FF2B5EF4-FFF2-40B4-BE49-F238E27FC236}">
                <a16:creationId xmlns:a16="http://schemas.microsoft.com/office/drawing/2014/main" id="{8343350D-2D5F-7BDA-3041-F086D9B69E2F}"/>
              </a:ext>
            </a:extLst>
          </p:cNvPr>
          <p:cNvSpPr/>
          <p:nvPr/>
        </p:nvSpPr>
        <p:spPr>
          <a:xfrm>
            <a:off x="8531036" y="4485204"/>
            <a:ext cx="550607" cy="49621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8F7918AE-FF17-752D-3E41-A0B977B85583}"/>
              </a:ext>
            </a:extLst>
          </p:cNvPr>
          <p:cNvSpPr/>
          <p:nvPr/>
        </p:nvSpPr>
        <p:spPr>
          <a:xfrm>
            <a:off x="8531037" y="5091072"/>
            <a:ext cx="550607" cy="496219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Flèche : droite 17">
            <a:extLst>
              <a:ext uri="{FF2B5EF4-FFF2-40B4-BE49-F238E27FC236}">
                <a16:creationId xmlns:a16="http://schemas.microsoft.com/office/drawing/2014/main" id="{94080F67-BE41-F1F4-B0C3-AD3B492E1CFF}"/>
              </a:ext>
            </a:extLst>
          </p:cNvPr>
          <p:cNvSpPr/>
          <p:nvPr/>
        </p:nvSpPr>
        <p:spPr>
          <a:xfrm>
            <a:off x="3832080" y="4772238"/>
            <a:ext cx="413845" cy="54600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Flèche : droite 18">
            <a:extLst>
              <a:ext uri="{FF2B5EF4-FFF2-40B4-BE49-F238E27FC236}">
                <a16:creationId xmlns:a16="http://schemas.microsoft.com/office/drawing/2014/main" id="{274FD985-9410-200E-1BC8-57E64CB6B294}"/>
              </a:ext>
            </a:extLst>
          </p:cNvPr>
          <p:cNvSpPr/>
          <p:nvPr/>
        </p:nvSpPr>
        <p:spPr>
          <a:xfrm>
            <a:off x="5912372" y="4733314"/>
            <a:ext cx="413845" cy="54600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Flèche : droite 19">
            <a:extLst>
              <a:ext uri="{FF2B5EF4-FFF2-40B4-BE49-F238E27FC236}">
                <a16:creationId xmlns:a16="http://schemas.microsoft.com/office/drawing/2014/main" id="{F4AF0DB6-AF0F-8EFD-1DEC-09E7F5229E4F}"/>
              </a:ext>
            </a:extLst>
          </p:cNvPr>
          <p:cNvSpPr/>
          <p:nvPr/>
        </p:nvSpPr>
        <p:spPr>
          <a:xfrm>
            <a:off x="7794171" y="4753786"/>
            <a:ext cx="413845" cy="54600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2F236F2-1EB1-CEE6-114C-7D7118423BDC}"/>
              </a:ext>
            </a:extLst>
          </p:cNvPr>
          <p:cNvSpPr/>
          <p:nvPr/>
        </p:nvSpPr>
        <p:spPr>
          <a:xfrm>
            <a:off x="8347587" y="4247535"/>
            <a:ext cx="953729" cy="1641988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9FB1670D-7D32-5702-FF62-5F71CD35F3A2}"/>
              </a:ext>
            </a:extLst>
          </p:cNvPr>
          <p:cNvGrpSpPr/>
          <p:nvPr/>
        </p:nvGrpSpPr>
        <p:grpSpPr>
          <a:xfrm>
            <a:off x="1111250" y="3671570"/>
            <a:ext cx="9969500" cy="2437130"/>
            <a:chOff x="1168400" y="3785870"/>
            <a:chExt cx="9969500" cy="2437130"/>
          </a:xfrm>
        </p:grpSpPr>
        <p:sp>
          <p:nvSpPr>
            <p:cNvPr id="22" name="Rectangle : coins arrondis 21">
              <a:extLst>
                <a:ext uri="{FF2B5EF4-FFF2-40B4-BE49-F238E27FC236}">
                  <a16:creationId xmlns:a16="http://schemas.microsoft.com/office/drawing/2014/main" id="{92731B3F-B5C6-E0AF-AEE7-DF3908169A55}"/>
                </a:ext>
              </a:extLst>
            </p:cNvPr>
            <p:cNvSpPr/>
            <p:nvPr/>
          </p:nvSpPr>
          <p:spPr>
            <a:xfrm>
              <a:off x="1168400" y="4013200"/>
              <a:ext cx="9969500" cy="22098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E6FB857A-2810-F8B3-76E4-092ED4C8BFDB}"/>
                </a:ext>
              </a:extLst>
            </p:cNvPr>
            <p:cNvSpPr txBox="1"/>
            <p:nvPr/>
          </p:nvSpPr>
          <p:spPr>
            <a:xfrm>
              <a:off x="1502286" y="3785870"/>
              <a:ext cx="1948425" cy="461665"/>
            </a:xfrm>
            <a:prstGeom prst="rect">
              <a:avLst/>
            </a:prstGeom>
            <a:solidFill>
              <a:srgbClr val="F2F2F2"/>
            </a:solidFill>
          </p:spPr>
          <p:txBody>
            <a:bodyPr wrap="square" rtlCol="0">
              <a:spAutoFit/>
            </a:bodyPr>
            <a:lstStyle/>
            <a:p>
              <a:r>
                <a:rPr lang="fr-FR" sz="2400" dirty="0"/>
                <a:t>Le process</a:t>
              </a:r>
            </a:p>
          </p:txBody>
        </p:sp>
      </p:grpSp>
      <p:grpSp>
        <p:nvGrpSpPr>
          <p:cNvPr id="4" name="Groupe 3">
            <a:extLst>
              <a:ext uri="{FF2B5EF4-FFF2-40B4-BE49-F238E27FC236}">
                <a16:creationId xmlns:a16="http://schemas.microsoft.com/office/drawing/2014/main" id="{F4012123-9C8A-A9B6-FB00-EF1B54BFCD0E}"/>
              </a:ext>
            </a:extLst>
          </p:cNvPr>
          <p:cNvGrpSpPr/>
          <p:nvPr/>
        </p:nvGrpSpPr>
        <p:grpSpPr>
          <a:xfrm>
            <a:off x="10295281" y="519208"/>
            <a:ext cx="785469" cy="652273"/>
            <a:chOff x="5958231" y="4075479"/>
            <a:chExt cx="1234184" cy="1026874"/>
          </a:xfrm>
          <a:solidFill>
            <a:schemeClr val="bg1"/>
          </a:solidFill>
        </p:grpSpPr>
        <p:sp>
          <p:nvSpPr>
            <p:cNvPr id="5" name="Forme libre : forme 4">
              <a:extLst>
                <a:ext uri="{FF2B5EF4-FFF2-40B4-BE49-F238E27FC236}">
                  <a16:creationId xmlns:a16="http://schemas.microsoft.com/office/drawing/2014/main" id="{D4028113-3DA6-BC5A-58E8-5B6C354A613B}"/>
                </a:ext>
              </a:extLst>
            </p:cNvPr>
            <p:cNvSpPr/>
            <p:nvPr/>
          </p:nvSpPr>
          <p:spPr>
            <a:xfrm rot="10800000">
              <a:off x="5958231" y="4075479"/>
              <a:ext cx="1234184" cy="577173"/>
            </a:xfrm>
            <a:custGeom>
              <a:avLst/>
              <a:gdLst>
                <a:gd name="csX0" fmla="*/ 1234184 w 1234184"/>
                <a:gd name="csY0" fmla="*/ 94344 h 577173"/>
                <a:gd name="csX1" fmla="*/ 1234184 w 1234184"/>
                <a:gd name="csY1" fmla="*/ 94343 h 577173"/>
                <a:gd name="csX2" fmla="*/ 1234184 w 1234184"/>
                <a:gd name="csY2" fmla="*/ 94343 h 577173"/>
                <a:gd name="csX3" fmla="*/ 624115 w 1234184"/>
                <a:gd name="csY3" fmla="*/ 577173 h 577173"/>
                <a:gd name="csX4" fmla="*/ 169093 w 1234184"/>
                <a:gd name="csY4" fmla="*/ 222344 h 577173"/>
                <a:gd name="csX5" fmla="*/ 166445 w 1234184"/>
                <a:gd name="csY5" fmla="*/ 197214 h 577173"/>
                <a:gd name="csX6" fmla="*/ 172195 w 1234184"/>
                <a:gd name="csY6" fmla="*/ 188686 h 577173"/>
                <a:gd name="csX7" fmla="*/ 94343 w 1234184"/>
                <a:gd name="csY7" fmla="*/ 188686 h 577173"/>
                <a:gd name="csX8" fmla="*/ 0 w 1234184"/>
                <a:gd name="csY8" fmla="*/ 94343 h 577173"/>
                <a:gd name="csX9" fmla="*/ 1 w 1234184"/>
                <a:gd name="csY9" fmla="*/ 94343 h 577173"/>
                <a:gd name="csX10" fmla="*/ 94344 w 1234184"/>
                <a:gd name="csY10" fmla="*/ 0 h 577173"/>
                <a:gd name="csX11" fmla="*/ 1139841 w 1234184"/>
                <a:gd name="csY11" fmla="*/ 1 h 577173"/>
                <a:gd name="csX12" fmla="*/ 1226770 w 1234184"/>
                <a:gd name="csY12" fmla="*/ 57621 h 577173"/>
                <a:gd name="csX13" fmla="*/ 1234184 w 1234184"/>
                <a:gd name="csY13" fmla="*/ 94343 h 577173"/>
                <a:gd name="csX14" fmla="*/ 1226770 w 1234184"/>
                <a:gd name="csY14" fmla="*/ 131065 h 577173"/>
                <a:gd name="csX15" fmla="*/ 1139841 w 1234184"/>
                <a:gd name="csY15" fmla="*/ 188686 h 577173"/>
                <a:gd name="csX16" fmla="*/ 1076033 w 1234184"/>
                <a:gd name="csY16" fmla="*/ 188686 h 577173"/>
                <a:gd name="csX17" fmla="*/ 1081784 w 1234184"/>
                <a:gd name="csY17" fmla="*/ 197216 h 577173"/>
                <a:gd name="csX18" fmla="*/ 1079137 w 1234184"/>
                <a:gd name="csY18" fmla="*/ 222344 h 577173"/>
                <a:gd name="csX19" fmla="*/ 624115 w 1234184"/>
                <a:gd name="csY19" fmla="*/ 577173 h 57717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1234184" h="577173">
                  <a:moveTo>
                    <a:pt x="1234184" y="94344"/>
                  </a:moveTo>
                  <a:lnTo>
                    <a:pt x="1234184" y="94343"/>
                  </a:lnTo>
                  <a:lnTo>
                    <a:pt x="1234184" y="94343"/>
                  </a:lnTo>
                  <a:close/>
                  <a:moveTo>
                    <a:pt x="624115" y="577173"/>
                  </a:moveTo>
                  <a:cubicBezTo>
                    <a:pt x="399666" y="577173"/>
                    <a:pt x="212402" y="424844"/>
                    <a:pt x="169093" y="222344"/>
                  </a:cubicBezTo>
                  <a:lnTo>
                    <a:pt x="166445" y="197214"/>
                  </a:lnTo>
                  <a:lnTo>
                    <a:pt x="172195" y="188686"/>
                  </a:lnTo>
                  <a:lnTo>
                    <a:pt x="94343" y="188686"/>
                  </a:lnTo>
                  <a:cubicBezTo>
                    <a:pt x="42239" y="188686"/>
                    <a:pt x="0" y="146447"/>
                    <a:pt x="0" y="94343"/>
                  </a:cubicBezTo>
                  <a:lnTo>
                    <a:pt x="1" y="94343"/>
                  </a:lnTo>
                  <a:cubicBezTo>
                    <a:pt x="1" y="42239"/>
                    <a:pt x="42240" y="0"/>
                    <a:pt x="94344" y="0"/>
                  </a:cubicBezTo>
                  <a:lnTo>
                    <a:pt x="1139841" y="1"/>
                  </a:lnTo>
                  <a:cubicBezTo>
                    <a:pt x="1178919" y="1"/>
                    <a:pt x="1212448" y="23760"/>
                    <a:pt x="1226770" y="57621"/>
                  </a:cubicBezTo>
                  <a:lnTo>
                    <a:pt x="1234184" y="94343"/>
                  </a:lnTo>
                  <a:lnTo>
                    <a:pt x="1226770" y="131065"/>
                  </a:lnTo>
                  <a:cubicBezTo>
                    <a:pt x="1212448" y="164927"/>
                    <a:pt x="1178919" y="188686"/>
                    <a:pt x="1139841" y="188686"/>
                  </a:cubicBezTo>
                  <a:lnTo>
                    <a:pt x="1076033" y="188686"/>
                  </a:lnTo>
                  <a:lnTo>
                    <a:pt x="1081784" y="197216"/>
                  </a:lnTo>
                  <a:lnTo>
                    <a:pt x="1079137" y="222344"/>
                  </a:lnTo>
                  <a:cubicBezTo>
                    <a:pt x="1035828" y="424844"/>
                    <a:pt x="848564" y="577173"/>
                    <a:pt x="624115" y="577173"/>
                  </a:cubicBezTo>
                  <a:close/>
                </a:path>
              </a:pathLst>
            </a:custGeom>
            <a:grpFill/>
            <a:ln>
              <a:solidFill>
                <a:srgbClr val="26262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9" name="Forme libre : forme 8">
              <a:extLst>
                <a:ext uri="{FF2B5EF4-FFF2-40B4-BE49-F238E27FC236}">
                  <a16:creationId xmlns:a16="http://schemas.microsoft.com/office/drawing/2014/main" id="{C46D10C1-9366-BE13-C3D2-58569B200A09}"/>
                </a:ext>
              </a:extLst>
            </p:cNvPr>
            <p:cNvSpPr/>
            <p:nvPr/>
          </p:nvSpPr>
          <p:spPr>
            <a:xfrm>
              <a:off x="5996848" y="4765631"/>
              <a:ext cx="1156947" cy="336722"/>
            </a:xfrm>
            <a:custGeom>
              <a:avLst/>
              <a:gdLst>
                <a:gd name="csX0" fmla="*/ 811059 w 1156947"/>
                <a:gd name="csY0" fmla="*/ 69358 h 336722"/>
                <a:gd name="csX1" fmla="*/ 700073 w 1156947"/>
                <a:gd name="csY1" fmla="*/ 138610 h 336722"/>
                <a:gd name="csX2" fmla="*/ 825573 w 1156947"/>
                <a:gd name="csY2" fmla="*/ 185486 h 336722"/>
                <a:gd name="csX3" fmla="*/ 936559 w 1156947"/>
                <a:gd name="csY3" fmla="*/ 116234 h 336722"/>
                <a:gd name="csX4" fmla="*/ 811059 w 1156947"/>
                <a:gd name="csY4" fmla="*/ 69358 h 336722"/>
                <a:gd name="csX5" fmla="*/ 308906 w 1156947"/>
                <a:gd name="csY5" fmla="*/ 58101 h 336722"/>
                <a:gd name="csX6" fmla="*/ 227720 w 1156947"/>
                <a:gd name="csY6" fmla="*/ 101705 h 336722"/>
                <a:gd name="csX7" fmla="*/ 335099 w 1156947"/>
                <a:gd name="csY7" fmla="*/ 175137 h 336722"/>
                <a:gd name="csX8" fmla="*/ 462847 w 1156947"/>
                <a:gd name="csY8" fmla="*/ 133108 h 336722"/>
                <a:gd name="csX9" fmla="*/ 355467 w 1156947"/>
                <a:gd name="csY9" fmla="*/ 59676 h 336722"/>
                <a:gd name="csX10" fmla="*/ 308906 w 1156947"/>
                <a:gd name="csY10" fmla="*/ 58101 h 336722"/>
                <a:gd name="csX11" fmla="*/ 181450 w 1156947"/>
                <a:gd name="csY11" fmla="*/ 0 h 336722"/>
                <a:gd name="csX12" fmla="*/ 972776 w 1156947"/>
                <a:gd name="csY12" fmla="*/ 0 h 336722"/>
                <a:gd name="csX13" fmla="*/ 973741 w 1156947"/>
                <a:gd name="csY13" fmla="*/ 400 h 336722"/>
                <a:gd name="csX14" fmla="*/ 985589 w 1156947"/>
                <a:gd name="csY14" fmla="*/ 172 h 336722"/>
                <a:gd name="csX15" fmla="*/ 1156947 w 1156947"/>
                <a:gd name="csY15" fmla="*/ 65450 h 336722"/>
                <a:gd name="csX16" fmla="*/ 744400 w 1156947"/>
                <a:gd name="csY16" fmla="*/ 332987 h 336722"/>
                <a:gd name="csX17" fmla="*/ 608018 w 1156947"/>
                <a:gd name="csY17" fmla="*/ 255228 h 336722"/>
                <a:gd name="csX18" fmla="*/ 603030 w 1156947"/>
                <a:gd name="csY18" fmla="*/ 223640 h 336722"/>
                <a:gd name="csX19" fmla="*/ 600795 w 1156947"/>
                <a:gd name="csY19" fmla="*/ 226692 h 336722"/>
                <a:gd name="csX20" fmla="*/ 580182 w 1156947"/>
                <a:gd name="csY20" fmla="*/ 235332 h 336722"/>
                <a:gd name="csX21" fmla="*/ 558702 w 1156947"/>
                <a:gd name="csY21" fmla="*/ 228474 h 336722"/>
                <a:gd name="csX22" fmla="*/ 553983 w 1156947"/>
                <a:gd name="csY22" fmla="*/ 223233 h 336722"/>
                <a:gd name="csX23" fmla="*/ 548930 w 1156947"/>
                <a:gd name="csY23" fmla="*/ 255227 h 336722"/>
                <a:gd name="csX24" fmla="*/ 412549 w 1156947"/>
                <a:gd name="csY24" fmla="*/ 332987 h 336722"/>
                <a:gd name="csX25" fmla="*/ 0 w 1156947"/>
                <a:gd name="csY25" fmla="*/ 65449 h 336722"/>
                <a:gd name="csX26" fmla="*/ 171358 w 1156947"/>
                <a:gd name="csY26" fmla="*/ 172 h 336722"/>
                <a:gd name="csX27" fmla="*/ 180606 w 1156947"/>
                <a:gd name="csY27" fmla="*/ 350 h 336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1156947" h="336722">
                  <a:moveTo>
                    <a:pt x="811059" y="69358"/>
                  </a:moveTo>
                  <a:cubicBezTo>
                    <a:pt x="745754" y="75537"/>
                    <a:pt x="696064" y="106542"/>
                    <a:pt x="700073" y="138610"/>
                  </a:cubicBezTo>
                  <a:cubicBezTo>
                    <a:pt x="704080" y="170677"/>
                    <a:pt x="760268" y="191665"/>
                    <a:pt x="825573" y="185486"/>
                  </a:cubicBezTo>
                  <a:cubicBezTo>
                    <a:pt x="890877" y="179307"/>
                    <a:pt x="940567" y="148302"/>
                    <a:pt x="936559" y="116234"/>
                  </a:cubicBezTo>
                  <a:cubicBezTo>
                    <a:pt x="932551" y="84167"/>
                    <a:pt x="876363" y="63179"/>
                    <a:pt x="811059" y="69358"/>
                  </a:cubicBezTo>
                  <a:close/>
                  <a:moveTo>
                    <a:pt x="308906" y="58101"/>
                  </a:moveTo>
                  <a:cubicBezTo>
                    <a:pt x="265165" y="61229"/>
                    <a:pt x="231939" y="77793"/>
                    <a:pt x="227720" y="101705"/>
                  </a:cubicBezTo>
                  <a:cubicBezTo>
                    <a:pt x="222095" y="133589"/>
                    <a:pt x="270170" y="166465"/>
                    <a:pt x="335099" y="175137"/>
                  </a:cubicBezTo>
                  <a:cubicBezTo>
                    <a:pt x="400027" y="183808"/>
                    <a:pt x="457222" y="164991"/>
                    <a:pt x="462847" y="133108"/>
                  </a:cubicBezTo>
                  <a:cubicBezTo>
                    <a:pt x="468472" y="101224"/>
                    <a:pt x="420396" y="68348"/>
                    <a:pt x="355467" y="59676"/>
                  </a:cubicBezTo>
                  <a:cubicBezTo>
                    <a:pt x="339236" y="57508"/>
                    <a:pt x="323487" y="57059"/>
                    <a:pt x="308906" y="58101"/>
                  </a:cubicBezTo>
                  <a:close/>
                  <a:moveTo>
                    <a:pt x="181450" y="0"/>
                  </a:moveTo>
                  <a:lnTo>
                    <a:pt x="972776" y="0"/>
                  </a:lnTo>
                  <a:lnTo>
                    <a:pt x="973741" y="400"/>
                  </a:lnTo>
                  <a:lnTo>
                    <a:pt x="985589" y="172"/>
                  </a:lnTo>
                  <a:cubicBezTo>
                    <a:pt x="1077088" y="4162"/>
                    <a:pt x="1156947" y="21746"/>
                    <a:pt x="1156947" y="65450"/>
                  </a:cubicBezTo>
                  <a:cubicBezTo>
                    <a:pt x="1156947" y="152855"/>
                    <a:pt x="837511" y="311634"/>
                    <a:pt x="744400" y="332987"/>
                  </a:cubicBezTo>
                  <a:cubicBezTo>
                    <a:pt x="674566" y="349002"/>
                    <a:pt x="627291" y="311736"/>
                    <a:pt x="608018" y="255228"/>
                  </a:cubicBezTo>
                  <a:lnTo>
                    <a:pt x="603030" y="223640"/>
                  </a:lnTo>
                  <a:lnTo>
                    <a:pt x="600795" y="226692"/>
                  </a:lnTo>
                  <a:cubicBezTo>
                    <a:pt x="594605" y="231955"/>
                    <a:pt x="587648" y="235015"/>
                    <a:pt x="580182" y="235332"/>
                  </a:cubicBezTo>
                  <a:cubicBezTo>
                    <a:pt x="572717" y="235647"/>
                    <a:pt x="565451" y="233190"/>
                    <a:pt x="558702" y="228474"/>
                  </a:cubicBezTo>
                  <a:lnTo>
                    <a:pt x="553983" y="223233"/>
                  </a:lnTo>
                  <a:lnTo>
                    <a:pt x="548930" y="255227"/>
                  </a:lnTo>
                  <a:cubicBezTo>
                    <a:pt x="529657" y="311735"/>
                    <a:pt x="482382" y="349001"/>
                    <a:pt x="412549" y="332987"/>
                  </a:cubicBezTo>
                  <a:cubicBezTo>
                    <a:pt x="319437" y="311634"/>
                    <a:pt x="0" y="152855"/>
                    <a:pt x="0" y="65449"/>
                  </a:cubicBezTo>
                  <a:cubicBezTo>
                    <a:pt x="0" y="21746"/>
                    <a:pt x="79859" y="4161"/>
                    <a:pt x="171358" y="172"/>
                  </a:cubicBezTo>
                  <a:lnTo>
                    <a:pt x="180606" y="350"/>
                  </a:lnTo>
                  <a:close/>
                </a:path>
              </a:pathLst>
            </a:cu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3611952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A825AAF-D81E-DE64-388D-35CACBD8A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548" y="608265"/>
            <a:ext cx="9888496" cy="900131"/>
          </a:xfrm>
        </p:spPr>
        <p:txBody>
          <a:bodyPr anchor="t">
            <a:normAutofit/>
          </a:bodyPr>
          <a:lstStyle/>
          <a:p>
            <a:r>
              <a:rPr lang="fr-FR" sz="4000" dirty="0">
                <a:solidFill>
                  <a:schemeClr val="bg1"/>
                </a:solidFill>
              </a:rPr>
              <a:t>Données d’entrées du challenge :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EB7E4B8-DA1D-FEC9-1E73-E6045C698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b="1" dirty="0"/>
              <a:t>4 Fichiers sont disponibles en entrées :</a:t>
            </a:r>
          </a:p>
          <a:p>
            <a:pPr lvl="1"/>
            <a:r>
              <a:rPr lang="fr-FR" sz="2000" b="1" dirty="0" err="1"/>
              <a:t>X_train</a:t>
            </a:r>
            <a:r>
              <a:rPr lang="fr-FR" sz="2000" b="1" dirty="0"/>
              <a:t>  : </a:t>
            </a:r>
            <a:r>
              <a:rPr lang="fr-FR" sz="2000" dirty="0"/>
              <a:t>variables explicatives pour l’entraînement</a:t>
            </a:r>
          </a:p>
          <a:p>
            <a:pPr lvl="1"/>
            <a:r>
              <a:rPr lang="fr-FR" sz="2000" b="1" dirty="0" err="1"/>
              <a:t>y_train</a:t>
            </a:r>
            <a:r>
              <a:rPr lang="fr-FR" sz="2000" b="1" dirty="0"/>
              <a:t> </a:t>
            </a:r>
            <a:r>
              <a:rPr lang="fr-FR" sz="2000" dirty="0"/>
              <a:t>: variables cibles pour l’entraînement</a:t>
            </a:r>
          </a:p>
          <a:p>
            <a:pPr lvl="1"/>
            <a:r>
              <a:rPr lang="fr-FR" sz="2000" b="1" dirty="0" err="1"/>
              <a:t>X_test</a:t>
            </a:r>
            <a:r>
              <a:rPr lang="fr-FR" sz="2000" b="1" dirty="0"/>
              <a:t> </a:t>
            </a:r>
            <a:r>
              <a:rPr lang="fr-FR" sz="2000" dirty="0"/>
              <a:t>:  variables explicatives pour le test </a:t>
            </a:r>
            <a:r>
              <a:rPr lang="fr-FR" sz="2000" dirty="0">
                <a:sym typeface="Wingdings" panose="05000000000000000000" pitchFamily="2" charset="2"/>
              </a:rPr>
              <a:t> </a:t>
            </a:r>
            <a:r>
              <a:rPr lang="fr-FR" sz="2000" b="1" u="sng" dirty="0">
                <a:sym typeface="Wingdings" panose="05000000000000000000" pitchFamily="2" charset="2"/>
              </a:rPr>
              <a:t>Non exploitable</a:t>
            </a:r>
            <a:endParaRPr lang="fr-FR" sz="2000" b="1" u="sng" dirty="0"/>
          </a:p>
          <a:p>
            <a:pPr lvl="1"/>
            <a:r>
              <a:rPr lang="fr-FR" sz="2000" b="1" dirty="0" err="1"/>
              <a:t>y_test</a:t>
            </a:r>
            <a:r>
              <a:rPr lang="fr-FR" sz="2000" b="1" dirty="0"/>
              <a:t> : </a:t>
            </a:r>
            <a:r>
              <a:rPr lang="fr-FR" sz="2000" dirty="0"/>
              <a:t>variables cibles pour le test </a:t>
            </a:r>
            <a:r>
              <a:rPr lang="fr-FR" sz="2000" dirty="0">
                <a:sym typeface="Wingdings" panose="05000000000000000000" pitchFamily="2" charset="2"/>
              </a:rPr>
              <a:t> </a:t>
            </a:r>
            <a:r>
              <a:rPr lang="fr-FR" sz="2000" b="1" u="sng" dirty="0">
                <a:sym typeface="Wingdings" panose="05000000000000000000" pitchFamily="2" charset="2"/>
              </a:rPr>
              <a:t>Non exploitable</a:t>
            </a:r>
            <a:endParaRPr lang="fr-FR" sz="2000" b="1" u="sng" dirty="0"/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9233B02D-20E4-A7D4-6D42-8BC51951CA84}"/>
              </a:ext>
            </a:extLst>
          </p:cNvPr>
          <p:cNvSpPr/>
          <p:nvPr/>
        </p:nvSpPr>
        <p:spPr>
          <a:xfrm>
            <a:off x="1385446" y="4863573"/>
            <a:ext cx="9281662" cy="789976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Le jeu « </a:t>
            </a:r>
            <a:r>
              <a:rPr lang="fr-FR" dirty="0" err="1"/>
              <a:t>y_test</a:t>
            </a:r>
            <a:r>
              <a:rPr lang="fr-FR" dirty="0"/>
              <a:t> » étant un exemple aléatoire composé de pourcentage et non de cas de fraude avéré, n’a pas été considéré dans le déroulé de l’exercice.</a:t>
            </a:r>
          </a:p>
        </p:txBody>
      </p:sp>
    </p:spTree>
    <p:extLst>
      <p:ext uri="{BB962C8B-B14F-4D97-AF65-F5344CB8AC3E}">
        <p14:creationId xmlns:p14="http://schemas.microsoft.com/office/powerpoint/2010/main" val="4054776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057E505-FB40-EFBF-481C-BB992F6F2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359" y="450993"/>
            <a:ext cx="9888496" cy="900131"/>
          </a:xfrm>
        </p:spPr>
        <p:txBody>
          <a:bodyPr anchor="t">
            <a:normAutofit/>
          </a:bodyPr>
          <a:lstStyle/>
          <a:p>
            <a:r>
              <a:rPr lang="fr-FR" sz="4000" dirty="0">
                <a:solidFill>
                  <a:schemeClr val="bg1"/>
                </a:solidFill>
              </a:rPr>
              <a:t>Analyse du jeu d’entrainement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7455F379-8F3E-9745-E8D6-2236F35D1BE0}"/>
              </a:ext>
            </a:extLst>
          </p:cNvPr>
          <p:cNvGrpSpPr/>
          <p:nvPr/>
        </p:nvGrpSpPr>
        <p:grpSpPr>
          <a:xfrm>
            <a:off x="1779208" y="2938647"/>
            <a:ext cx="1283110" cy="1048357"/>
            <a:chOff x="4576917" y="3145101"/>
            <a:chExt cx="1283110" cy="1048357"/>
          </a:xfrm>
        </p:grpSpPr>
        <p:sp>
          <p:nvSpPr>
            <p:cNvPr id="4" name="Flèche : virage 3">
              <a:extLst>
                <a:ext uri="{FF2B5EF4-FFF2-40B4-BE49-F238E27FC236}">
                  <a16:creationId xmlns:a16="http://schemas.microsoft.com/office/drawing/2014/main" id="{DE290C82-9010-7F94-B0AE-6EAE7E3C02FF}"/>
                </a:ext>
              </a:extLst>
            </p:cNvPr>
            <p:cNvSpPr/>
            <p:nvPr/>
          </p:nvSpPr>
          <p:spPr>
            <a:xfrm rot="5400000">
              <a:off x="4483511" y="3244645"/>
              <a:ext cx="1042219" cy="855407"/>
            </a:xfrm>
            <a:prstGeom prst="ben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5" name="Flèche : virage 4">
              <a:extLst>
                <a:ext uri="{FF2B5EF4-FFF2-40B4-BE49-F238E27FC236}">
                  <a16:creationId xmlns:a16="http://schemas.microsoft.com/office/drawing/2014/main" id="{AC6AE12F-A8D1-9732-A519-F2C04E1809B4}"/>
                </a:ext>
              </a:extLst>
            </p:cNvPr>
            <p:cNvSpPr/>
            <p:nvPr/>
          </p:nvSpPr>
          <p:spPr>
            <a:xfrm rot="5400000" flipV="1">
              <a:off x="4911214" y="3238508"/>
              <a:ext cx="1042219" cy="855406"/>
            </a:xfrm>
            <a:prstGeom prst="ben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</p:grpSp>
      <p:pic>
        <p:nvPicPr>
          <p:cNvPr id="7" name="Image 6">
            <a:extLst>
              <a:ext uri="{FF2B5EF4-FFF2-40B4-BE49-F238E27FC236}">
                <a16:creationId xmlns:a16="http://schemas.microsoft.com/office/drawing/2014/main" id="{FC18106D-E8A2-FE11-9909-0DE083189A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60" y="2645520"/>
            <a:ext cx="855408" cy="855408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604A1C2F-7760-C03B-CDEB-0BBD200974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2179" y="2645520"/>
            <a:ext cx="855408" cy="855408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A25236C1-D697-D803-563C-0F10D4E507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322" y="4266192"/>
            <a:ext cx="855408" cy="855408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1B2C6EFE-674E-094B-66BD-58F40A1C8274}"/>
              </a:ext>
            </a:extLst>
          </p:cNvPr>
          <p:cNvSpPr txBox="1"/>
          <p:nvPr/>
        </p:nvSpPr>
        <p:spPr>
          <a:xfrm>
            <a:off x="3181953" y="2273119"/>
            <a:ext cx="975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Y_train</a:t>
            </a:r>
            <a:endParaRPr lang="fr-FR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47425C0A-E15F-8101-43FE-971465EFE38F}"/>
              </a:ext>
            </a:extLst>
          </p:cNvPr>
          <p:cNvSpPr txBox="1"/>
          <p:nvPr/>
        </p:nvSpPr>
        <p:spPr>
          <a:xfrm>
            <a:off x="769359" y="2273119"/>
            <a:ext cx="975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X_train</a:t>
            </a:r>
            <a:endParaRPr lang="fr-FR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884CE016-D376-FA2B-7940-4F82BE58E82B}"/>
              </a:ext>
            </a:extLst>
          </p:cNvPr>
          <p:cNvSpPr txBox="1"/>
          <p:nvPr/>
        </p:nvSpPr>
        <p:spPr>
          <a:xfrm>
            <a:off x="2009030" y="3970806"/>
            <a:ext cx="975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Merge</a:t>
            </a:r>
          </a:p>
        </p:txBody>
      </p:sp>
      <p:sp>
        <p:nvSpPr>
          <p:cNvPr id="16" name="Flèche : droite 15">
            <a:extLst>
              <a:ext uri="{FF2B5EF4-FFF2-40B4-BE49-F238E27FC236}">
                <a16:creationId xmlns:a16="http://schemas.microsoft.com/office/drawing/2014/main" id="{6CA9B8BC-A3FB-3D1E-3E4A-F1493DB42AF5}"/>
              </a:ext>
            </a:extLst>
          </p:cNvPr>
          <p:cNvSpPr/>
          <p:nvPr/>
        </p:nvSpPr>
        <p:spPr>
          <a:xfrm>
            <a:off x="3306093" y="4155472"/>
            <a:ext cx="813619" cy="523221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63C0C8E1-9796-96C0-FECA-9B474B6B81E9}"/>
              </a:ext>
            </a:extLst>
          </p:cNvPr>
          <p:cNvSpPr txBox="1"/>
          <p:nvPr/>
        </p:nvSpPr>
        <p:spPr>
          <a:xfrm>
            <a:off x="651390" y="3449309"/>
            <a:ext cx="1029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(92790,146)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7B817C87-BBD3-99B1-3EE6-2C912E360EB5}"/>
              </a:ext>
            </a:extLst>
          </p:cNvPr>
          <p:cNvSpPr txBox="1"/>
          <p:nvPr/>
        </p:nvSpPr>
        <p:spPr>
          <a:xfrm>
            <a:off x="3306093" y="3500928"/>
            <a:ext cx="1029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(92790,2)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0D4A005E-BEBE-C8EA-A116-8CE45A1DB90C}"/>
              </a:ext>
            </a:extLst>
          </p:cNvPr>
          <p:cNvSpPr txBox="1"/>
          <p:nvPr/>
        </p:nvSpPr>
        <p:spPr>
          <a:xfrm>
            <a:off x="1916851" y="5444643"/>
            <a:ext cx="1029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(92790,147)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8DB4EA94-0E90-48AD-5E18-B4F143DB7FE3}"/>
              </a:ext>
            </a:extLst>
          </p:cNvPr>
          <p:cNvSpPr txBox="1"/>
          <p:nvPr/>
        </p:nvSpPr>
        <p:spPr>
          <a:xfrm>
            <a:off x="4317593" y="4115444"/>
            <a:ext cx="29595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98,57 % (91471) cas non-Fraude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1,4% (1319) cas fraude</a:t>
            </a:r>
          </a:p>
        </p:txBody>
      </p:sp>
      <p:sp>
        <p:nvSpPr>
          <p:cNvPr id="21" name="Flèche : droite 20">
            <a:extLst>
              <a:ext uri="{FF2B5EF4-FFF2-40B4-BE49-F238E27FC236}">
                <a16:creationId xmlns:a16="http://schemas.microsoft.com/office/drawing/2014/main" id="{5B436EFB-27EC-1E88-B4D3-BE09DE39A456}"/>
              </a:ext>
            </a:extLst>
          </p:cNvPr>
          <p:cNvSpPr/>
          <p:nvPr/>
        </p:nvSpPr>
        <p:spPr>
          <a:xfrm>
            <a:off x="7560417" y="4170676"/>
            <a:ext cx="836331" cy="52322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2" name="Accolade ouvrante 21">
            <a:extLst>
              <a:ext uri="{FF2B5EF4-FFF2-40B4-BE49-F238E27FC236}">
                <a16:creationId xmlns:a16="http://schemas.microsoft.com/office/drawing/2014/main" id="{B7BE1942-0217-7B1D-4E72-612984E9DDCA}"/>
              </a:ext>
            </a:extLst>
          </p:cNvPr>
          <p:cNvSpPr/>
          <p:nvPr/>
        </p:nvSpPr>
        <p:spPr>
          <a:xfrm rot="16200000">
            <a:off x="5723332" y="3322124"/>
            <a:ext cx="246387" cy="2959527"/>
          </a:xfrm>
          <a:prstGeom prst="leftBrace">
            <a:avLst/>
          </a:prstGeom>
          <a:ln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AB8602E0-4B84-1FC9-C7EE-9A9D078E4833}"/>
              </a:ext>
            </a:extLst>
          </p:cNvPr>
          <p:cNvSpPr/>
          <p:nvPr/>
        </p:nvSpPr>
        <p:spPr>
          <a:xfrm>
            <a:off x="4291778" y="5011904"/>
            <a:ext cx="3163551" cy="686444"/>
          </a:xfrm>
          <a:prstGeom prst="roundRect">
            <a:avLst/>
          </a:prstGeom>
          <a:solidFill>
            <a:srgbClr val="26262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Déséquilibre des cas de fraudes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77E14D4C-AF5C-4832-BC8F-046445AC42A0}"/>
              </a:ext>
            </a:extLst>
          </p:cNvPr>
          <p:cNvSpPr txBox="1"/>
          <p:nvPr/>
        </p:nvSpPr>
        <p:spPr>
          <a:xfrm>
            <a:off x="8536219" y="4115444"/>
            <a:ext cx="295952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Gestion des items dans le fichier</a:t>
            </a:r>
          </a:p>
          <a:p>
            <a:r>
              <a:rPr lang="fr-FR" sz="1400" dirty="0">
                <a:sym typeface="Wingdings" panose="05000000000000000000" pitchFamily="2" charset="2"/>
              </a:rPr>
              <a:t>	Objectif </a:t>
            </a:r>
            <a:r>
              <a:rPr lang="fr-FR" sz="1400" dirty="0"/>
              <a:t> </a:t>
            </a:r>
          </a:p>
          <a:p>
            <a:r>
              <a:rPr lang="fr-FR" sz="1400" dirty="0"/>
              <a:t>Se rapprocher sur une vue Panier</a:t>
            </a: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820C558F-FCEC-11D6-0445-A873758C1EE6}"/>
              </a:ext>
            </a:extLst>
          </p:cNvPr>
          <p:cNvSpPr/>
          <p:nvPr/>
        </p:nvSpPr>
        <p:spPr>
          <a:xfrm>
            <a:off x="8222256" y="5022564"/>
            <a:ext cx="3814916" cy="686445"/>
          </a:xfrm>
          <a:prstGeom prst="roundRect">
            <a:avLst/>
          </a:prstGeom>
          <a:solidFill>
            <a:srgbClr val="26262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En l’état, les données décrivent un panier sous forme éclatée (item1,2,3,…24)</a:t>
            </a:r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2A4F16A8-2C4E-F111-47A0-4957D2061B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979502"/>
              </p:ext>
            </p:extLst>
          </p:nvPr>
        </p:nvGraphicFramePr>
        <p:xfrm>
          <a:off x="6270508" y="1739092"/>
          <a:ext cx="5518369" cy="209716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38018">
                  <a:extLst>
                    <a:ext uri="{9D8B030D-6E8A-4147-A177-3AD203B41FA5}">
                      <a16:colId xmlns:a16="http://schemas.microsoft.com/office/drawing/2014/main" val="3900627893"/>
                    </a:ext>
                  </a:extLst>
                </a:gridCol>
                <a:gridCol w="2809837">
                  <a:extLst>
                    <a:ext uri="{9D8B030D-6E8A-4147-A177-3AD203B41FA5}">
                      <a16:colId xmlns:a16="http://schemas.microsoft.com/office/drawing/2014/main" val="3576757131"/>
                    </a:ext>
                  </a:extLst>
                </a:gridCol>
                <a:gridCol w="1370514">
                  <a:extLst>
                    <a:ext uri="{9D8B030D-6E8A-4147-A177-3AD203B41FA5}">
                      <a16:colId xmlns:a16="http://schemas.microsoft.com/office/drawing/2014/main" val="91586205"/>
                    </a:ext>
                  </a:extLst>
                </a:gridCol>
              </a:tblGrid>
              <a:tr h="299595">
                <a:tc>
                  <a:txBody>
                    <a:bodyPr/>
                    <a:lstStyle/>
                    <a:p>
                      <a:r>
                        <a:rPr lang="fr-FR" sz="1050" dirty="0"/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dirty="0"/>
                        <a:t>Exemple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2787355"/>
                  </a:ext>
                </a:extLst>
              </a:tr>
              <a:tr h="299595">
                <a:tc>
                  <a:txBody>
                    <a:bodyPr/>
                    <a:lstStyle/>
                    <a:p>
                      <a:r>
                        <a:rPr lang="fr-FR" sz="1050" dirty="0"/>
                        <a:t>ID (</a:t>
                      </a:r>
                      <a:r>
                        <a:rPr lang="fr-FR" sz="1050" dirty="0" err="1"/>
                        <a:t>num</a:t>
                      </a:r>
                      <a:r>
                        <a:rPr lang="fr-FR" sz="105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dirty="0"/>
                        <a:t>ID unique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6624096"/>
                  </a:ext>
                </a:extLst>
              </a:tr>
              <a:tr h="299595">
                <a:tc>
                  <a:txBody>
                    <a:bodyPr/>
                    <a:lstStyle/>
                    <a:p>
                      <a:r>
                        <a:rPr lang="fr-FR" sz="1050" dirty="0"/>
                        <a:t>Item1 à 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dirty="0"/>
                        <a:t>Catégorie du bien de l’item de 1 à 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dirty="0"/>
                        <a:t>Computer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2073967"/>
                  </a:ext>
                </a:extLst>
              </a:tr>
              <a:tr h="299595">
                <a:tc>
                  <a:txBody>
                    <a:bodyPr/>
                    <a:lstStyle/>
                    <a:p>
                      <a:r>
                        <a:rPr lang="fr-FR" sz="1050" dirty="0"/>
                        <a:t>Cash_price1 à 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dirty="0"/>
                        <a:t>Prix de l’item de 1 à 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dirty="0"/>
                        <a:t>850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9947278"/>
                  </a:ext>
                </a:extLst>
              </a:tr>
              <a:tr h="299595">
                <a:tc>
                  <a:txBody>
                    <a:bodyPr/>
                    <a:lstStyle/>
                    <a:p>
                      <a:r>
                        <a:rPr lang="fr-FR" sz="1050" dirty="0" err="1"/>
                        <a:t>Make</a:t>
                      </a:r>
                      <a:r>
                        <a:rPr lang="fr-FR" sz="1050" dirty="0"/>
                        <a:t> 1 à 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dirty="0"/>
                        <a:t>Fabriquant de l’item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dirty="0"/>
                        <a:t>Apple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4384396"/>
                  </a:ext>
                </a:extLst>
              </a:tr>
              <a:tr h="299595">
                <a:tc>
                  <a:txBody>
                    <a:bodyPr/>
                    <a:lstStyle/>
                    <a:p>
                      <a:r>
                        <a:rPr lang="fr-FR" sz="1050" dirty="0"/>
                        <a:t>Goods_code1  à 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dirty="0"/>
                        <a:t>Nombre de produits dans l’item 1 à 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6273966"/>
                  </a:ext>
                </a:extLst>
              </a:tr>
              <a:tr h="299595">
                <a:tc>
                  <a:txBody>
                    <a:bodyPr/>
                    <a:lstStyle/>
                    <a:p>
                      <a:r>
                        <a:rPr lang="fr-FR" sz="1050" dirty="0"/>
                        <a:t>Nb of items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dirty="0"/>
                        <a:t>Nombre total d’items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0844661"/>
                  </a:ext>
                </a:extLst>
              </a:tr>
            </a:tbl>
          </a:graphicData>
        </a:graphic>
      </p:graphicFrame>
      <p:sp>
        <p:nvSpPr>
          <p:cNvPr id="26" name="ZoneTexte 25">
            <a:extLst>
              <a:ext uri="{FF2B5EF4-FFF2-40B4-BE49-F238E27FC236}">
                <a16:creationId xmlns:a16="http://schemas.microsoft.com/office/drawing/2014/main" id="{0DC7360E-0C56-7CFE-A5FB-86D4478DE434}"/>
              </a:ext>
            </a:extLst>
          </p:cNvPr>
          <p:cNvSpPr txBox="1"/>
          <p:nvPr/>
        </p:nvSpPr>
        <p:spPr>
          <a:xfrm>
            <a:off x="1943881" y="5063767"/>
            <a:ext cx="975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df_train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4646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0DA0F3-DDE6-FE66-318C-173CF4423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000" dirty="0"/>
              <a:t>	Mise en place de </a:t>
            </a:r>
            <a:r>
              <a:rPr lang="fr-FR" sz="4000" dirty="0" err="1"/>
              <a:t>features</a:t>
            </a:r>
            <a:r>
              <a:rPr lang="fr-FR" sz="4000" dirty="0"/>
              <a:t> focus « Panier » :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B2FBC249-2108-EEF2-9C0B-2D463E57F14D}"/>
              </a:ext>
            </a:extLst>
          </p:cNvPr>
          <p:cNvSpPr/>
          <p:nvPr/>
        </p:nvSpPr>
        <p:spPr>
          <a:xfrm>
            <a:off x="201556" y="1748520"/>
            <a:ext cx="4227871" cy="1325563"/>
          </a:xfrm>
          <a:prstGeom prst="roundRect">
            <a:avLst/>
          </a:prstGeom>
          <a:solidFill>
            <a:srgbClr val="26262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Un bon modèle de détection de fraude :</a:t>
            </a:r>
          </a:p>
          <a:p>
            <a:pPr marL="285750" indent="-285750" algn="ctr">
              <a:buFontTx/>
              <a:buChar char="-"/>
            </a:pPr>
            <a:r>
              <a:rPr lang="fr-FR" dirty="0"/>
              <a:t>N’interdit pas</a:t>
            </a:r>
          </a:p>
          <a:p>
            <a:pPr marL="285750" indent="-285750" algn="ctr">
              <a:buFontTx/>
              <a:buChar char="-"/>
            </a:pPr>
            <a:r>
              <a:rPr lang="fr-FR" dirty="0"/>
              <a:t>Ne juge pas</a:t>
            </a:r>
          </a:p>
          <a:p>
            <a:pPr algn="ctr"/>
            <a:r>
              <a:rPr lang="fr-FR" dirty="0"/>
              <a:t>Il observe des écarts</a:t>
            </a:r>
          </a:p>
        </p:txBody>
      </p:sp>
      <p:sp>
        <p:nvSpPr>
          <p:cNvPr id="5" name="Flèche : droite 4">
            <a:extLst>
              <a:ext uri="{FF2B5EF4-FFF2-40B4-BE49-F238E27FC236}">
                <a16:creationId xmlns:a16="http://schemas.microsoft.com/office/drawing/2014/main" id="{D39A77B9-871C-90D1-C218-D37AE1F27E4C}"/>
              </a:ext>
            </a:extLst>
          </p:cNvPr>
          <p:cNvSpPr/>
          <p:nvPr/>
        </p:nvSpPr>
        <p:spPr>
          <a:xfrm>
            <a:off x="4503174" y="2149693"/>
            <a:ext cx="550603" cy="523221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1CF4CD82-D160-C7B6-50E5-730F67FBAD82}"/>
              </a:ext>
            </a:extLst>
          </p:cNvPr>
          <p:cNvSpPr/>
          <p:nvPr/>
        </p:nvSpPr>
        <p:spPr>
          <a:xfrm>
            <a:off x="5201270" y="1766264"/>
            <a:ext cx="6587607" cy="1352935"/>
          </a:xfrm>
          <a:prstGeom prst="roundRect">
            <a:avLst/>
          </a:prstGeom>
          <a:solidFill>
            <a:srgbClr val="26262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On ne dit pas :  Téléphone </a:t>
            </a:r>
            <a:r>
              <a:rPr lang="fr-FR" dirty="0" err="1"/>
              <a:t>Iphone</a:t>
            </a:r>
            <a:r>
              <a:rPr lang="fr-FR" dirty="0"/>
              <a:t> 16 = Fraude</a:t>
            </a:r>
          </a:p>
          <a:p>
            <a:pPr algn="ctr"/>
            <a:endParaRPr lang="fr-FR" sz="700" dirty="0"/>
          </a:p>
          <a:p>
            <a:pPr algn="ctr"/>
            <a:r>
              <a:rPr lang="fr-FR" dirty="0"/>
              <a:t>Mais :</a:t>
            </a:r>
          </a:p>
          <a:p>
            <a:pPr algn="ctr"/>
            <a:r>
              <a:rPr lang="fr-FR" dirty="0"/>
              <a:t>Le contenu de ce panier ressemble </a:t>
            </a:r>
            <a:r>
              <a:rPr lang="fr-FR" dirty="0">
                <a:solidFill>
                  <a:srgbClr val="FF0000"/>
                </a:solidFill>
              </a:rPr>
              <a:t>statistiquement</a:t>
            </a:r>
            <a:r>
              <a:rPr lang="fr-FR" dirty="0"/>
              <a:t> aux paniers frauduleux observés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82582E1-4DA0-180D-A22D-69E8604AA2B4}"/>
              </a:ext>
            </a:extLst>
          </p:cNvPr>
          <p:cNvSpPr txBox="1"/>
          <p:nvPr/>
        </p:nvSpPr>
        <p:spPr>
          <a:xfrm>
            <a:off x="331835" y="3691297"/>
            <a:ext cx="28218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Nombre réel d’items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Nombre d’items unique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Taux de répétition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66ED17B-B7D5-2A3C-561E-273EB44C838D}"/>
              </a:ext>
            </a:extLst>
          </p:cNvPr>
          <p:cNvSpPr txBox="1"/>
          <p:nvPr/>
        </p:nvSpPr>
        <p:spPr>
          <a:xfrm>
            <a:off x="3173356" y="3716442"/>
            <a:ext cx="282186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Montant total du panier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Prix max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Prix moyen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Dispersion des prix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Ratio prix max/prix total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34AFDBC-5715-3497-2963-A058B0836B19}"/>
              </a:ext>
            </a:extLst>
          </p:cNvPr>
          <p:cNvSpPr txBox="1"/>
          <p:nvPr/>
        </p:nvSpPr>
        <p:spPr>
          <a:xfrm>
            <a:off x="331836" y="3321965"/>
            <a:ext cx="2802195" cy="369332"/>
          </a:xfrm>
          <a:prstGeom prst="rect">
            <a:avLst/>
          </a:prstGeom>
          <a:solidFill>
            <a:srgbClr val="262626"/>
          </a:solidFill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Structure du panier :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D1383D1-96A2-0E3A-3020-193410DC8B06}"/>
              </a:ext>
            </a:extLst>
          </p:cNvPr>
          <p:cNvSpPr txBox="1"/>
          <p:nvPr/>
        </p:nvSpPr>
        <p:spPr>
          <a:xfrm>
            <a:off x="3193022" y="3323799"/>
            <a:ext cx="2802195" cy="369332"/>
          </a:xfrm>
          <a:prstGeom prst="rect">
            <a:avLst/>
          </a:prstGeom>
          <a:solidFill>
            <a:srgbClr val="262626"/>
          </a:solidFill>
        </p:spPr>
        <p:txBody>
          <a:bodyPr wrap="square" rtlCol="0">
            <a:spAutoFit/>
          </a:bodyPr>
          <a:lstStyle>
            <a:defPPr>
              <a:defRPr lang="fr-FR"/>
            </a:defPPr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Le prix: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B7A01B3-7582-B72D-36B2-CDF5D766D546}"/>
              </a:ext>
            </a:extLst>
          </p:cNvPr>
          <p:cNvSpPr txBox="1"/>
          <p:nvPr/>
        </p:nvSpPr>
        <p:spPr>
          <a:xfrm>
            <a:off x="6113203" y="3323799"/>
            <a:ext cx="2782529" cy="369332"/>
          </a:xfrm>
          <a:prstGeom prst="rect">
            <a:avLst/>
          </a:prstGeom>
          <a:solidFill>
            <a:srgbClr val="262626"/>
          </a:solidFill>
        </p:spPr>
        <p:txBody>
          <a:bodyPr wrap="square" rtlCol="0">
            <a:spAutoFit/>
          </a:bodyPr>
          <a:lstStyle>
            <a:defPPr>
              <a:defRPr lang="fr-FR"/>
            </a:defPPr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Les quantités: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70996E3-EA67-7D23-0264-42C33875B19C}"/>
              </a:ext>
            </a:extLst>
          </p:cNvPr>
          <p:cNvSpPr txBox="1"/>
          <p:nvPr/>
        </p:nvSpPr>
        <p:spPr>
          <a:xfrm>
            <a:off x="6073871" y="3768706"/>
            <a:ext cx="28218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Quantité totale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Quantité moyenne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Quantité max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21C38BF7-3C7C-6ABD-D1B8-9CFC70D44406}"/>
              </a:ext>
            </a:extLst>
          </p:cNvPr>
          <p:cNvSpPr txBox="1"/>
          <p:nvPr/>
        </p:nvSpPr>
        <p:spPr>
          <a:xfrm>
            <a:off x="9013718" y="3321965"/>
            <a:ext cx="2782529" cy="369332"/>
          </a:xfrm>
          <a:prstGeom prst="rect">
            <a:avLst/>
          </a:prstGeom>
          <a:solidFill>
            <a:srgbClr val="262626"/>
          </a:solidFill>
        </p:spPr>
        <p:txBody>
          <a:bodyPr wrap="square" rtlCol="0">
            <a:spAutoFit/>
          </a:bodyPr>
          <a:lstStyle>
            <a:defPPr>
              <a:defRPr lang="fr-FR"/>
            </a:defPPr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Diversité: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43E95269-1A33-9C75-46FA-C60FCE0DB1D4}"/>
              </a:ext>
            </a:extLst>
          </p:cNvPr>
          <p:cNvSpPr txBox="1"/>
          <p:nvPr/>
        </p:nvSpPr>
        <p:spPr>
          <a:xfrm>
            <a:off x="9013718" y="3768706"/>
            <a:ext cx="28218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Nbre catégorie unique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Nbre marque unique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Nbre de modèle unique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</p:txBody>
      </p:sp>
      <p:sp>
        <p:nvSpPr>
          <p:cNvPr id="14" name="Accolade ouvrante 13">
            <a:extLst>
              <a:ext uri="{FF2B5EF4-FFF2-40B4-BE49-F238E27FC236}">
                <a16:creationId xmlns:a16="http://schemas.microsoft.com/office/drawing/2014/main" id="{FDC09C53-A3E9-F57B-8D91-F0A8E4290DCF}"/>
              </a:ext>
            </a:extLst>
          </p:cNvPr>
          <p:cNvSpPr/>
          <p:nvPr/>
        </p:nvSpPr>
        <p:spPr>
          <a:xfrm rot="16200000">
            <a:off x="6067443" y="-315289"/>
            <a:ext cx="246387" cy="11550445"/>
          </a:xfrm>
          <a:prstGeom prst="leftBrace">
            <a:avLst/>
          </a:prstGeom>
          <a:ln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1577692D-A783-8468-9529-B48C4E9D2823}"/>
              </a:ext>
            </a:extLst>
          </p:cNvPr>
          <p:cNvSpPr/>
          <p:nvPr/>
        </p:nvSpPr>
        <p:spPr>
          <a:xfrm>
            <a:off x="589936" y="5769314"/>
            <a:ext cx="11375923" cy="462164"/>
          </a:xfrm>
          <a:prstGeom prst="roundRect">
            <a:avLst/>
          </a:prstGeom>
          <a:solidFill>
            <a:srgbClr val="262626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Transformation des items en feature exploitables par un algorithme de Machine Learning</a:t>
            </a:r>
          </a:p>
        </p:txBody>
      </p:sp>
      <p:sp>
        <p:nvSpPr>
          <p:cNvPr id="16" name="Forme libre : forme 15">
            <a:extLst>
              <a:ext uri="{FF2B5EF4-FFF2-40B4-BE49-F238E27FC236}">
                <a16:creationId xmlns:a16="http://schemas.microsoft.com/office/drawing/2014/main" id="{2BEF6B80-06C0-B96B-F1D2-0785215ECF6C}"/>
              </a:ext>
            </a:extLst>
          </p:cNvPr>
          <p:cNvSpPr/>
          <p:nvPr/>
        </p:nvSpPr>
        <p:spPr>
          <a:xfrm>
            <a:off x="9840037" y="528479"/>
            <a:ext cx="800513" cy="633731"/>
          </a:xfrm>
          <a:custGeom>
            <a:avLst/>
            <a:gdLst>
              <a:gd name="csX0" fmla="*/ 297976 w 1641013"/>
              <a:gd name="csY0" fmla="*/ 1021091 h 1571138"/>
              <a:gd name="csX1" fmla="*/ 297976 w 1641013"/>
              <a:gd name="csY1" fmla="*/ 1021092 h 1571138"/>
              <a:gd name="csX2" fmla="*/ 297976 w 1641013"/>
              <a:gd name="csY2" fmla="*/ 1021092 h 1571138"/>
              <a:gd name="csX3" fmla="*/ 348076 w 1641013"/>
              <a:gd name="csY3" fmla="*/ 992437 h 1571138"/>
              <a:gd name="csX4" fmla="*/ 368076 w 1641013"/>
              <a:gd name="csY4" fmla="*/ 997901 h 1571138"/>
              <a:gd name="csX5" fmla="*/ 466677 w 1641013"/>
              <a:gd name="csY5" fmla="*/ 1047481 h 1571138"/>
              <a:gd name="csX6" fmla="*/ 1580745 w 1641013"/>
              <a:gd name="csY6" fmla="*/ 1047481 h 1571138"/>
              <a:gd name="csX7" fmla="*/ 1641013 w 1641013"/>
              <a:gd name="csY7" fmla="*/ 1107749 h 1571138"/>
              <a:gd name="csX8" fmla="*/ 1641012 w 1641013"/>
              <a:gd name="csY8" fmla="*/ 1107749 h 1571138"/>
              <a:gd name="csX9" fmla="*/ 1580744 w 1641013"/>
              <a:gd name="csY9" fmla="*/ 1168017 h 1571138"/>
              <a:gd name="csX10" fmla="*/ 1380469 w 1641013"/>
              <a:gd name="csY10" fmla="*/ 1168017 h 1571138"/>
              <a:gd name="csX11" fmla="*/ 1425045 w 1641013"/>
              <a:gd name="csY11" fmla="*/ 1172111 h 1571138"/>
              <a:gd name="csX12" fmla="*/ 1601686 w 1641013"/>
              <a:gd name="csY12" fmla="*/ 1369577 h 1571138"/>
              <a:gd name="csX13" fmla="*/ 1380460 w 1641013"/>
              <a:gd name="csY13" fmla="*/ 1571138 h 1571138"/>
              <a:gd name="csX14" fmla="*/ 1159234 w 1641013"/>
              <a:gd name="csY14" fmla="*/ 1369577 h 1571138"/>
              <a:gd name="csX15" fmla="*/ 1335875 w 1641013"/>
              <a:gd name="csY15" fmla="*/ 1172111 h 1571138"/>
              <a:gd name="csX16" fmla="*/ 1380451 w 1641013"/>
              <a:gd name="csY16" fmla="*/ 1168017 h 1571138"/>
              <a:gd name="csX17" fmla="*/ 623378 w 1641013"/>
              <a:gd name="csY17" fmla="*/ 1168016 h 1571138"/>
              <a:gd name="csX18" fmla="*/ 667961 w 1641013"/>
              <a:gd name="csY18" fmla="*/ 1172111 h 1571138"/>
              <a:gd name="csX19" fmla="*/ 844602 w 1641013"/>
              <a:gd name="csY19" fmla="*/ 1369577 h 1571138"/>
              <a:gd name="csX20" fmla="*/ 623376 w 1641013"/>
              <a:gd name="csY20" fmla="*/ 1571138 h 1571138"/>
              <a:gd name="csX21" fmla="*/ 402150 w 1641013"/>
              <a:gd name="csY21" fmla="*/ 1369577 h 1571138"/>
              <a:gd name="csX22" fmla="*/ 578791 w 1641013"/>
              <a:gd name="csY22" fmla="*/ 1172111 h 1571138"/>
              <a:gd name="csX23" fmla="*/ 623375 w 1641013"/>
              <a:gd name="csY23" fmla="*/ 1168016 h 1571138"/>
              <a:gd name="csX24" fmla="*/ 462417 w 1641013"/>
              <a:gd name="csY24" fmla="*/ 1168016 h 1571138"/>
              <a:gd name="csX25" fmla="*/ 419801 w 1641013"/>
              <a:gd name="csY25" fmla="*/ 1150364 h 1571138"/>
              <a:gd name="csX26" fmla="*/ 414791 w 1641013"/>
              <a:gd name="csY26" fmla="*/ 1138269 h 1571138"/>
              <a:gd name="csX27" fmla="*/ 321167 w 1641013"/>
              <a:gd name="csY27" fmla="*/ 1091191 h 1571138"/>
              <a:gd name="csX28" fmla="*/ 295053 w 1641013"/>
              <a:gd name="csY28" fmla="*/ 1060944 h 1571138"/>
              <a:gd name="csX29" fmla="*/ 297976 w 1641013"/>
              <a:gd name="csY29" fmla="*/ 1021092 h 1571138"/>
              <a:gd name="csX30" fmla="*/ 328223 w 1641013"/>
              <a:gd name="csY30" fmla="*/ 994979 h 1571138"/>
              <a:gd name="csX31" fmla="*/ 348076 w 1641013"/>
              <a:gd name="csY31" fmla="*/ 992437 h 1571138"/>
              <a:gd name="csX32" fmla="*/ 9664 w 1641013"/>
              <a:gd name="csY32" fmla="*/ 27552 h 1571138"/>
              <a:gd name="csX33" fmla="*/ 9664 w 1641013"/>
              <a:gd name="csY33" fmla="*/ 27552 h 1571138"/>
              <a:gd name="csX34" fmla="*/ 9664 w 1641013"/>
              <a:gd name="csY34" fmla="*/ 27553 h 1571138"/>
              <a:gd name="csX35" fmla="*/ 70725 w 1641013"/>
              <a:gd name="csY35" fmla="*/ 904 h 1571138"/>
              <a:gd name="csX36" fmla="*/ 92997 w 1641013"/>
              <a:gd name="csY36" fmla="*/ 9664 h 1571138"/>
              <a:gd name="csX37" fmla="*/ 462413 w 1641013"/>
              <a:gd name="csY37" fmla="*/ 248510 h 1571138"/>
              <a:gd name="csX38" fmla="*/ 488616 w 1641013"/>
              <a:gd name="csY38" fmla="*/ 286472 h 1571138"/>
              <a:gd name="csX39" fmla="*/ 488668 w 1641013"/>
              <a:gd name="csY39" fmla="*/ 289147 h 1571138"/>
              <a:gd name="csX40" fmla="*/ 491261 w 1641013"/>
              <a:gd name="csY40" fmla="*/ 292992 h 1571138"/>
              <a:gd name="csX41" fmla="*/ 495509 w 1641013"/>
              <a:gd name="csY41" fmla="*/ 314032 h 1571138"/>
              <a:gd name="csX42" fmla="*/ 495509 w 1641013"/>
              <a:gd name="csY42" fmla="*/ 380234 h 1571138"/>
              <a:gd name="csX43" fmla="*/ 1626267 w 1641013"/>
              <a:gd name="csY43" fmla="*/ 259979 h 1571138"/>
              <a:gd name="csX44" fmla="*/ 1626267 w 1641013"/>
              <a:gd name="csY44" fmla="*/ 918740 h 1571138"/>
              <a:gd name="csX45" fmla="*/ 387403 w 1641013"/>
              <a:gd name="csY45" fmla="*/ 918740 h 1571138"/>
              <a:gd name="csX46" fmla="*/ 387403 w 1641013"/>
              <a:gd name="csY46" fmla="*/ 429152 h 1571138"/>
              <a:gd name="csX47" fmla="*/ 387402 w 1641013"/>
              <a:gd name="csY47" fmla="*/ 429149 h 1571138"/>
              <a:gd name="csX48" fmla="*/ 387402 w 1641013"/>
              <a:gd name="csY48" fmla="*/ 343547 h 1571138"/>
              <a:gd name="csX49" fmla="*/ 27553 w 1641013"/>
              <a:gd name="csY49" fmla="*/ 110885 h 1571138"/>
              <a:gd name="csX50" fmla="*/ 904 w 1641013"/>
              <a:gd name="csY50" fmla="*/ 49823 h 1571138"/>
              <a:gd name="csX51" fmla="*/ 9664 w 1641013"/>
              <a:gd name="csY51" fmla="*/ 27552 h 1571138"/>
              <a:gd name="csX52" fmla="*/ 26378 w 1641013"/>
              <a:gd name="csY52" fmla="*/ 10424 h 1571138"/>
              <a:gd name="csX53" fmla="*/ 70725 w 1641013"/>
              <a:gd name="csY53" fmla="*/ 904 h 15711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</a:cxnLst>
            <a:rect l="l" t="t" r="r" b="b"/>
            <a:pathLst>
              <a:path w="1641013" h="1571138">
                <a:moveTo>
                  <a:pt x="297976" y="1021091"/>
                </a:moveTo>
                <a:lnTo>
                  <a:pt x="297976" y="1021092"/>
                </a:lnTo>
                <a:lnTo>
                  <a:pt x="297976" y="1021092"/>
                </a:lnTo>
                <a:close/>
                <a:moveTo>
                  <a:pt x="348076" y="992437"/>
                </a:moveTo>
                <a:cubicBezTo>
                  <a:pt x="354843" y="992883"/>
                  <a:pt x="361635" y="994663"/>
                  <a:pt x="368076" y="997901"/>
                </a:cubicBezTo>
                <a:lnTo>
                  <a:pt x="466677" y="1047481"/>
                </a:lnTo>
                <a:lnTo>
                  <a:pt x="1580745" y="1047481"/>
                </a:lnTo>
                <a:cubicBezTo>
                  <a:pt x="1614030" y="1047481"/>
                  <a:pt x="1641013" y="1074464"/>
                  <a:pt x="1641013" y="1107749"/>
                </a:cubicBezTo>
                <a:lnTo>
                  <a:pt x="1641012" y="1107749"/>
                </a:lnTo>
                <a:cubicBezTo>
                  <a:pt x="1641012" y="1141034"/>
                  <a:pt x="1614029" y="1168017"/>
                  <a:pt x="1580744" y="1168017"/>
                </a:cubicBezTo>
                <a:lnTo>
                  <a:pt x="1380469" y="1168017"/>
                </a:lnTo>
                <a:lnTo>
                  <a:pt x="1425045" y="1172111"/>
                </a:lnTo>
                <a:cubicBezTo>
                  <a:pt x="1525854" y="1190906"/>
                  <a:pt x="1601686" y="1272173"/>
                  <a:pt x="1601686" y="1369577"/>
                </a:cubicBezTo>
                <a:cubicBezTo>
                  <a:pt x="1601686" y="1480896"/>
                  <a:pt x="1502640" y="1571138"/>
                  <a:pt x="1380460" y="1571138"/>
                </a:cubicBezTo>
                <a:cubicBezTo>
                  <a:pt x="1258280" y="1571138"/>
                  <a:pt x="1159234" y="1480896"/>
                  <a:pt x="1159234" y="1369577"/>
                </a:cubicBezTo>
                <a:cubicBezTo>
                  <a:pt x="1159234" y="1272173"/>
                  <a:pt x="1235066" y="1190906"/>
                  <a:pt x="1335875" y="1172111"/>
                </a:cubicBezTo>
                <a:lnTo>
                  <a:pt x="1380451" y="1168017"/>
                </a:lnTo>
                <a:lnTo>
                  <a:pt x="623378" y="1168016"/>
                </a:lnTo>
                <a:lnTo>
                  <a:pt x="667961" y="1172111"/>
                </a:lnTo>
                <a:cubicBezTo>
                  <a:pt x="768770" y="1190906"/>
                  <a:pt x="844602" y="1272173"/>
                  <a:pt x="844602" y="1369577"/>
                </a:cubicBezTo>
                <a:cubicBezTo>
                  <a:pt x="844602" y="1480896"/>
                  <a:pt x="745556" y="1571138"/>
                  <a:pt x="623376" y="1571138"/>
                </a:cubicBezTo>
                <a:cubicBezTo>
                  <a:pt x="501196" y="1571138"/>
                  <a:pt x="402150" y="1480896"/>
                  <a:pt x="402150" y="1369577"/>
                </a:cubicBezTo>
                <a:cubicBezTo>
                  <a:pt x="402150" y="1272173"/>
                  <a:pt x="477982" y="1190906"/>
                  <a:pt x="578791" y="1172111"/>
                </a:cubicBezTo>
                <a:lnTo>
                  <a:pt x="623375" y="1168016"/>
                </a:lnTo>
                <a:lnTo>
                  <a:pt x="462417" y="1168016"/>
                </a:lnTo>
                <a:cubicBezTo>
                  <a:pt x="445775" y="1168016"/>
                  <a:pt x="430708" y="1161270"/>
                  <a:pt x="419801" y="1150364"/>
                </a:cubicBezTo>
                <a:lnTo>
                  <a:pt x="414791" y="1138269"/>
                </a:lnTo>
                <a:lnTo>
                  <a:pt x="321167" y="1091191"/>
                </a:lnTo>
                <a:cubicBezTo>
                  <a:pt x="308286" y="1084714"/>
                  <a:pt x="299250" y="1073630"/>
                  <a:pt x="295053" y="1060944"/>
                </a:cubicBezTo>
                <a:lnTo>
                  <a:pt x="297976" y="1021092"/>
                </a:lnTo>
                <a:lnTo>
                  <a:pt x="328223" y="994979"/>
                </a:lnTo>
                <a:cubicBezTo>
                  <a:pt x="334566" y="992880"/>
                  <a:pt x="341309" y="991992"/>
                  <a:pt x="348076" y="992437"/>
                </a:cubicBezTo>
                <a:close/>
                <a:moveTo>
                  <a:pt x="9664" y="27552"/>
                </a:moveTo>
                <a:lnTo>
                  <a:pt x="9664" y="27552"/>
                </a:lnTo>
                <a:lnTo>
                  <a:pt x="9664" y="27553"/>
                </a:lnTo>
                <a:close/>
                <a:moveTo>
                  <a:pt x="70725" y="904"/>
                </a:moveTo>
                <a:cubicBezTo>
                  <a:pt x="78436" y="2258"/>
                  <a:pt x="86009" y="5146"/>
                  <a:pt x="92997" y="9664"/>
                </a:cubicBezTo>
                <a:lnTo>
                  <a:pt x="462413" y="248510"/>
                </a:lnTo>
                <a:cubicBezTo>
                  <a:pt x="476389" y="257546"/>
                  <a:pt x="485379" y="271392"/>
                  <a:pt x="488616" y="286472"/>
                </a:cubicBezTo>
                <a:lnTo>
                  <a:pt x="488668" y="289147"/>
                </a:lnTo>
                <a:lnTo>
                  <a:pt x="491261" y="292992"/>
                </a:lnTo>
                <a:cubicBezTo>
                  <a:pt x="493996" y="299459"/>
                  <a:pt x="495509" y="306569"/>
                  <a:pt x="495509" y="314032"/>
                </a:cubicBezTo>
                <a:lnTo>
                  <a:pt x="495509" y="380234"/>
                </a:lnTo>
                <a:lnTo>
                  <a:pt x="1626267" y="259979"/>
                </a:lnTo>
                <a:lnTo>
                  <a:pt x="1626267" y="918740"/>
                </a:lnTo>
                <a:lnTo>
                  <a:pt x="387403" y="918740"/>
                </a:lnTo>
                <a:lnTo>
                  <a:pt x="387403" y="429152"/>
                </a:lnTo>
                <a:lnTo>
                  <a:pt x="387402" y="429149"/>
                </a:lnTo>
                <a:lnTo>
                  <a:pt x="387402" y="343547"/>
                </a:lnTo>
                <a:lnTo>
                  <a:pt x="27553" y="110885"/>
                </a:lnTo>
                <a:cubicBezTo>
                  <a:pt x="6589" y="97331"/>
                  <a:pt x="-3157" y="72956"/>
                  <a:pt x="904" y="49823"/>
                </a:cubicBezTo>
                <a:lnTo>
                  <a:pt x="9664" y="27552"/>
                </a:lnTo>
                <a:lnTo>
                  <a:pt x="26378" y="10424"/>
                </a:lnTo>
                <a:cubicBezTo>
                  <a:pt x="39330" y="1626"/>
                  <a:pt x="55304" y="-1803"/>
                  <a:pt x="70725" y="904"/>
                </a:cubicBezTo>
                <a:close/>
              </a:path>
            </a:pathLst>
          </a:custGeom>
          <a:solidFill>
            <a:srgbClr val="F2F2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1039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C41AC9-0EE8-F03C-8ED0-42DF403C2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	Néanmoins il existe des catégories à risque :</a:t>
            </a:r>
          </a:p>
        </p:txBody>
      </p:sp>
      <p:graphicFrame>
        <p:nvGraphicFramePr>
          <p:cNvPr id="6" name="Espace réservé du contenu 5">
            <a:extLst>
              <a:ext uri="{FF2B5EF4-FFF2-40B4-BE49-F238E27FC236}">
                <a16:creationId xmlns:a16="http://schemas.microsoft.com/office/drawing/2014/main" id="{7ED9C6B2-7249-CDE4-ADE1-305303230C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0895946"/>
              </p:ext>
            </p:extLst>
          </p:nvPr>
        </p:nvGraphicFramePr>
        <p:xfrm>
          <a:off x="178824" y="1800224"/>
          <a:ext cx="6352610" cy="484645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431410">
                  <a:extLst>
                    <a:ext uri="{9D8B030D-6E8A-4147-A177-3AD203B41FA5}">
                      <a16:colId xmlns:a16="http://schemas.microsoft.com/office/drawing/2014/main" val="3539386021"/>
                    </a:ext>
                  </a:extLst>
                </a:gridCol>
                <a:gridCol w="1159158">
                  <a:extLst>
                    <a:ext uri="{9D8B030D-6E8A-4147-A177-3AD203B41FA5}">
                      <a16:colId xmlns:a16="http://schemas.microsoft.com/office/drawing/2014/main" val="2921460441"/>
                    </a:ext>
                  </a:extLst>
                </a:gridCol>
                <a:gridCol w="1762042">
                  <a:extLst>
                    <a:ext uri="{9D8B030D-6E8A-4147-A177-3AD203B41FA5}">
                      <a16:colId xmlns:a16="http://schemas.microsoft.com/office/drawing/2014/main" val="4255004766"/>
                    </a:ext>
                  </a:extLst>
                </a:gridCol>
              </a:tblGrid>
              <a:tr h="20861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CATEGORIE</a:t>
                      </a:r>
                      <a:endParaRPr lang="fr-FR" sz="11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TAUX_FRAUDE</a:t>
                      </a:r>
                      <a:endParaRPr lang="fr-FR" sz="11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NB_TRANSACTION</a:t>
                      </a:r>
                      <a:endParaRPr lang="fr-FR" sz="11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3484478399"/>
                  </a:ext>
                </a:extLst>
              </a:tr>
              <a:tr h="12113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KITCHEN SCALES &amp; MEASURES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100%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68897561"/>
                  </a:ext>
                </a:extLst>
              </a:tr>
              <a:tr h="12113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1100" b="1" u="none" strike="noStrike">
                          <a:solidFill>
                            <a:srgbClr val="000000"/>
                          </a:solidFill>
                          <a:effectLst/>
                        </a:rPr>
                        <a:t>KITCHEN UTENSILS &amp; GADGETS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35%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31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82068748"/>
                  </a:ext>
                </a:extLst>
              </a:tr>
              <a:tr h="12113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1100" b="1" u="none" strike="noStrike">
                          <a:solidFill>
                            <a:srgbClr val="000000"/>
                          </a:solidFill>
                          <a:effectLst/>
                        </a:rPr>
                        <a:t>STORAGE &amp; ORGANISATION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21%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39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195837"/>
                  </a:ext>
                </a:extLst>
              </a:tr>
              <a:tr h="12113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1100" b="1" u="none" strike="noStrike">
                          <a:solidFill>
                            <a:srgbClr val="000000"/>
                          </a:solidFill>
                          <a:effectLst/>
                        </a:rPr>
                        <a:t>LAUNDRY &amp; CLOTHESCARE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15%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34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06068648"/>
                  </a:ext>
                </a:extLst>
              </a:tr>
              <a:tr h="12113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1100" b="1" u="none" strike="noStrike">
                          <a:solidFill>
                            <a:srgbClr val="000000"/>
                          </a:solidFill>
                          <a:effectLst/>
                        </a:rPr>
                        <a:t>LUGGAGE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13%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15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74029168"/>
                  </a:ext>
                </a:extLst>
              </a:tr>
              <a:tr h="12113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1100" b="1" u="none" strike="noStrike">
                          <a:solidFill>
                            <a:srgbClr val="000000"/>
                          </a:solidFill>
                          <a:effectLst/>
                        </a:rPr>
                        <a:t>PRESERVING &amp; BAKING EQUIPMENT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11%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9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21801332"/>
                  </a:ext>
                </a:extLst>
              </a:tr>
              <a:tr h="12113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IMAGING EQUIPMENT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8%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85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03223146"/>
                  </a:ext>
                </a:extLst>
              </a:tr>
              <a:tr h="12113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1100" b="1" u="none" strike="noStrike">
                          <a:solidFill>
                            <a:srgbClr val="000000"/>
                          </a:solidFill>
                          <a:effectLst/>
                        </a:rPr>
                        <a:t>MEN S CLOTHES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7%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59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81231019"/>
                  </a:ext>
                </a:extLst>
              </a:tr>
              <a:tr h="12113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1100" b="1" u="none" strike="noStrike">
                          <a:solidFill>
                            <a:srgbClr val="000000"/>
                          </a:solidFill>
                          <a:effectLst/>
                        </a:rPr>
                        <a:t>BLANK MEDIA MEDIA STORAGE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6%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17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6773986"/>
                  </a:ext>
                </a:extLst>
              </a:tr>
              <a:tr h="12113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1100" b="1" u="none" strike="noStrike">
                          <a:solidFill>
                            <a:srgbClr val="000000"/>
                          </a:solidFill>
                          <a:effectLst/>
                        </a:rPr>
                        <a:t>GAMING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6%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36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3061058"/>
                  </a:ext>
                </a:extLst>
              </a:tr>
              <a:tr h="12113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11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AUDIO ACCESSORIES</a:t>
                      </a:r>
                      <a:endParaRPr lang="fr-FR" sz="11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u="none" strike="noStrike" dirty="0">
                          <a:solidFill>
                            <a:srgbClr val="FF0000"/>
                          </a:solidFill>
                          <a:effectLst/>
                        </a:rPr>
                        <a:t>5%</a:t>
                      </a:r>
                      <a:endParaRPr lang="fr-FR" sz="11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1670</a:t>
                      </a:r>
                      <a:endParaRPr lang="fr-FR" sz="11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0339046"/>
                  </a:ext>
                </a:extLst>
              </a:tr>
              <a:tr h="12113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1100" b="1" u="none" strike="noStrike">
                          <a:solidFill>
                            <a:srgbClr val="000000"/>
                          </a:solidFill>
                          <a:effectLst/>
                        </a:rPr>
                        <a:t>BARWARE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5%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41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95970523"/>
                  </a:ext>
                </a:extLst>
              </a:tr>
              <a:tr h="12113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1100" b="1" u="none" strike="noStrike">
                          <a:solidFill>
                            <a:srgbClr val="000000"/>
                          </a:solidFill>
                          <a:effectLst/>
                        </a:rPr>
                        <a:t>NURSERY ACCESSORIES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5%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111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24940069"/>
                  </a:ext>
                </a:extLst>
              </a:tr>
              <a:tr h="12113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1100" b="1" u="none" strike="noStrike">
                          <a:solidFill>
                            <a:srgbClr val="000000"/>
                          </a:solidFill>
                          <a:effectLst/>
                        </a:rPr>
                        <a:t>MEN S FOOTWEAR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4%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26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66028094"/>
                  </a:ext>
                </a:extLst>
              </a:tr>
              <a:tr h="12113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1100" b="1" u="none" strike="noStrike">
                          <a:solidFill>
                            <a:srgbClr val="000000"/>
                          </a:solidFill>
                          <a:effectLst/>
                        </a:rPr>
                        <a:t>NURSERY LINEN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3%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29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61290329"/>
                  </a:ext>
                </a:extLst>
              </a:tr>
              <a:tr h="12113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1100" b="1" u="none" strike="noStrike">
                          <a:solidFill>
                            <a:srgbClr val="000000"/>
                          </a:solidFill>
                          <a:effectLst/>
                        </a:rPr>
                        <a:t>HI-FI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3%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135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26686053"/>
                  </a:ext>
                </a:extLst>
              </a:tr>
              <a:tr h="12113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TABLEWARE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3%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681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54059143"/>
                  </a:ext>
                </a:extLst>
              </a:tr>
              <a:tr h="12113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TELEPHONES, FAX MACHINES &amp; TWO-WAY RADIOS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u="none" strike="noStrike" dirty="0">
                          <a:solidFill>
                            <a:srgbClr val="FF0000"/>
                          </a:solidFill>
                          <a:effectLst/>
                        </a:rPr>
                        <a:t>3%</a:t>
                      </a:r>
                      <a:endParaRPr lang="fr-FR" sz="11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u="none" strike="noStrike" dirty="0">
                          <a:solidFill>
                            <a:srgbClr val="FF0000"/>
                          </a:solidFill>
                          <a:effectLst/>
                        </a:rPr>
                        <a:t>3138</a:t>
                      </a:r>
                      <a:endParaRPr lang="fr-FR" sz="11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68323831"/>
                  </a:ext>
                </a:extLst>
              </a:tr>
              <a:tr h="12113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1100" b="1" u="none" strike="noStrike">
                          <a:solidFill>
                            <a:srgbClr val="000000"/>
                          </a:solidFill>
                          <a:effectLst/>
                        </a:rPr>
                        <a:t>JEWELLERY WATCHES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3%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36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44840001"/>
                  </a:ext>
                </a:extLst>
              </a:tr>
              <a:tr h="12207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1100" b="1" u="none" strike="noStrike">
                          <a:solidFill>
                            <a:srgbClr val="FF0000"/>
                          </a:solidFill>
                          <a:effectLst/>
                        </a:rPr>
                        <a:t>BABY CHILD TRAVEL</a:t>
                      </a:r>
                      <a:endParaRPr lang="fr-FR" sz="1100" b="1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u="none" strike="noStrike">
                          <a:solidFill>
                            <a:srgbClr val="FF0000"/>
                          </a:solidFill>
                          <a:effectLst/>
                        </a:rPr>
                        <a:t>3%</a:t>
                      </a:r>
                      <a:endParaRPr lang="fr-FR" sz="11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1161</a:t>
                      </a:r>
                      <a:endParaRPr lang="fr-FR" sz="11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15790872"/>
                  </a:ext>
                </a:extLst>
              </a:tr>
              <a:tr h="208717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b="1" u="none" strike="noStrike">
                          <a:solidFill>
                            <a:srgbClr val="FF0000"/>
                          </a:solidFill>
                          <a:effectLst/>
                        </a:rPr>
                        <a:t>TELEPHONES FAX MACHINES TWO-WAY RADIOS</a:t>
                      </a:r>
                      <a:endParaRPr lang="en-US" sz="1100" b="1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u="none" strike="noStrike">
                          <a:solidFill>
                            <a:srgbClr val="FF0000"/>
                          </a:solidFill>
                          <a:effectLst/>
                        </a:rPr>
                        <a:t>3%</a:t>
                      </a:r>
                      <a:endParaRPr lang="fr-FR" sz="11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1513</a:t>
                      </a:r>
                      <a:endParaRPr lang="fr-FR" sz="11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86463276"/>
                  </a:ext>
                </a:extLst>
              </a:tr>
              <a:tr h="12113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1100" b="1" u="none" strike="noStrike">
                          <a:solidFill>
                            <a:srgbClr val="000000"/>
                          </a:solidFill>
                          <a:effectLst/>
                        </a:rPr>
                        <a:t>DECORATIVE ACCESSORIES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3%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592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13136203"/>
                  </a:ext>
                </a:extLst>
              </a:tr>
              <a:tr h="12113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1100" b="1" u="none" strike="noStrike">
                          <a:solidFill>
                            <a:srgbClr val="000000"/>
                          </a:solidFill>
                          <a:effectLst/>
                        </a:rPr>
                        <a:t>FRAGRANCE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3%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79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71450365"/>
                  </a:ext>
                </a:extLst>
              </a:tr>
              <a:tr h="12113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CARPETS, RUGS &amp; FLOORING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2%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86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01277602"/>
                  </a:ext>
                </a:extLst>
              </a:tr>
              <a:tr h="12113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11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COMPUTERS</a:t>
                      </a:r>
                      <a:endParaRPr lang="fr-FR" sz="11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u="none" strike="noStrike">
                          <a:solidFill>
                            <a:srgbClr val="FF0000"/>
                          </a:solidFill>
                          <a:effectLst/>
                        </a:rPr>
                        <a:t>2%</a:t>
                      </a:r>
                      <a:endParaRPr lang="fr-FR" sz="11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u="none" strike="noStrike" dirty="0">
                          <a:solidFill>
                            <a:srgbClr val="FF0000"/>
                          </a:solidFill>
                          <a:effectLst/>
                        </a:rPr>
                        <a:t>50221</a:t>
                      </a:r>
                      <a:endParaRPr lang="fr-FR" sz="11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52290129"/>
                  </a:ext>
                </a:extLst>
              </a:tr>
              <a:tr h="12113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11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FULFILMENT CHARGE</a:t>
                      </a:r>
                      <a:endParaRPr lang="fr-FR" sz="11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u="none" strike="noStrike" dirty="0">
                          <a:solidFill>
                            <a:srgbClr val="FF0000"/>
                          </a:solidFill>
                          <a:effectLst/>
                        </a:rPr>
                        <a:t>2%</a:t>
                      </a:r>
                      <a:endParaRPr lang="fr-FR" sz="11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u="none" strike="noStrike" dirty="0">
                          <a:solidFill>
                            <a:srgbClr val="FF0000"/>
                          </a:solidFill>
                          <a:effectLst/>
                        </a:rPr>
                        <a:t>25023</a:t>
                      </a:r>
                      <a:endParaRPr lang="fr-FR" sz="11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52806594"/>
                  </a:ext>
                </a:extLst>
              </a:tr>
            </a:tbl>
          </a:graphicData>
        </a:graphic>
      </p:graphicFrame>
      <p:sp>
        <p:nvSpPr>
          <p:cNvPr id="7" name="Flèche : droite 6">
            <a:extLst>
              <a:ext uri="{FF2B5EF4-FFF2-40B4-BE49-F238E27FC236}">
                <a16:creationId xmlns:a16="http://schemas.microsoft.com/office/drawing/2014/main" id="{F10526FD-44AF-DF25-6E13-C5FEED9F2268}"/>
              </a:ext>
            </a:extLst>
          </p:cNvPr>
          <p:cNvSpPr/>
          <p:nvPr/>
        </p:nvSpPr>
        <p:spPr>
          <a:xfrm>
            <a:off x="6713690" y="3961839"/>
            <a:ext cx="501979" cy="523221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07C1359F-42EC-8229-267B-B8F7FB1540B2}"/>
              </a:ext>
            </a:extLst>
          </p:cNvPr>
          <p:cNvSpPr/>
          <p:nvPr/>
        </p:nvSpPr>
        <p:spPr>
          <a:xfrm>
            <a:off x="7284659" y="3288609"/>
            <a:ext cx="3116674" cy="1869680"/>
          </a:xfrm>
          <a:prstGeom prst="roundRect">
            <a:avLst/>
          </a:prstGeom>
          <a:solidFill>
            <a:srgbClr val="26262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Sont considérés à risque si :</a:t>
            </a:r>
          </a:p>
          <a:p>
            <a:pPr algn="ctr"/>
            <a:r>
              <a:rPr lang="fr-FR" dirty="0"/>
              <a:t>Taux de fraude supérieur à la moyenne globale (1,4%) et + de 100 transactions</a:t>
            </a:r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B10B55FA-E7E3-D907-0890-5079E6490D87}"/>
              </a:ext>
            </a:extLst>
          </p:cNvPr>
          <p:cNvGrpSpPr/>
          <p:nvPr/>
        </p:nvGrpSpPr>
        <p:grpSpPr>
          <a:xfrm>
            <a:off x="10544543" y="4080574"/>
            <a:ext cx="361950" cy="285750"/>
            <a:chOff x="8153400" y="5848351"/>
            <a:chExt cx="361950" cy="28575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7DEB923-3A5D-1AEA-1FC1-7B47452FC3DC}"/>
                </a:ext>
              </a:extLst>
            </p:cNvPr>
            <p:cNvSpPr/>
            <p:nvPr/>
          </p:nvSpPr>
          <p:spPr>
            <a:xfrm>
              <a:off x="8153400" y="5848351"/>
              <a:ext cx="361950" cy="9525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EDA19DE-C32D-AEBC-BFE8-C50BFFD54A12}"/>
                </a:ext>
              </a:extLst>
            </p:cNvPr>
            <p:cNvSpPr/>
            <p:nvPr/>
          </p:nvSpPr>
          <p:spPr>
            <a:xfrm>
              <a:off x="8153400" y="6038851"/>
              <a:ext cx="361950" cy="9525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20" name="Forme libre : forme 19">
            <a:extLst>
              <a:ext uri="{FF2B5EF4-FFF2-40B4-BE49-F238E27FC236}">
                <a16:creationId xmlns:a16="http://schemas.microsoft.com/office/drawing/2014/main" id="{73219FE9-38F9-1585-8732-2C43ED383F5D}"/>
              </a:ext>
            </a:extLst>
          </p:cNvPr>
          <p:cNvSpPr/>
          <p:nvPr/>
        </p:nvSpPr>
        <p:spPr>
          <a:xfrm rot="19851386">
            <a:off x="10820495" y="3658401"/>
            <a:ext cx="1123884" cy="1309084"/>
          </a:xfrm>
          <a:custGeom>
            <a:avLst/>
            <a:gdLst>
              <a:gd name="csX0" fmla="*/ 782368 w 935964"/>
              <a:gd name="csY0" fmla="*/ 212330 h 1102102"/>
              <a:gd name="csX1" fmla="*/ 212026 w 935964"/>
              <a:gd name="csY1" fmla="*/ 596028 h 1102102"/>
              <a:gd name="csX2" fmla="*/ 782368 w 935964"/>
              <a:gd name="csY2" fmla="*/ 914045 h 1102102"/>
              <a:gd name="csX3" fmla="*/ 879636 w 935964"/>
              <a:gd name="csY3" fmla="*/ 13018 h 1102102"/>
              <a:gd name="csX4" fmla="*/ 884474 w 935964"/>
              <a:gd name="csY4" fmla="*/ 17799 h 1102102"/>
              <a:gd name="csX5" fmla="*/ 889059 w 935964"/>
              <a:gd name="csY5" fmla="*/ 18724 h 1102102"/>
              <a:gd name="csX6" fmla="*/ 935964 w 935964"/>
              <a:gd name="csY6" fmla="*/ 89487 h 1102102"/>
              <a:gd name="csX7" fmla="*/ 935963 w 935964"/>
              <a:gd name="csY7" fmla="*/ 997830 h 1102102"/>
              <a:gd name="csX8" fmla="*/ 929928 w 935964"/>
              <a:gd name="csY8" fmla="*/ 1027723 h 1102102"/>
              <a:gd name="csX9" fmla="*/ 917461 w 935964"/>
              <a:gd name="csY9" fmla="*/ 1046214 h 1102102"/>
              <a:gd name="csX10" fmla="*/ 911098 w 935964"/>
              <a:gd name="csY10" fmla="*/ 1066115 h 1102102"/>
              <a:gd name="csX11" fmla="*/ 815697 w 935964"/>
              <a:gd name="csY11" fmla="*/ 1093212 h 1102102"/>
              <a:gd name="csX12" fmla="*/ 35987 w 935964"/>
              <a:gd name="csY12" fmla="*/ 658453 h 1102102"/>
              <a:gd name="csX13" fmla="*/ 8890 w 935964"/>
              <a:gd name="csY13" fmla="*/ 563052 h 1102102"/>
              <a:gd name="csX14" fmla="*/ 8890 w 935964"/>
              <a:gd name="csY14" fmla="*/ 563054 h 1102102"/>
              <a:gd name="csX15" fmla="*/ 26997 w 935964"/>
              <a:gd name="csY15" fmla="*/ 541897 h 1102102"/>
              <a:gd name="csX16" fmla="*/ 32139 w 935964"/>
              <a:gd name="csY16" fmla="*/ 539292 h 1102102"/>
              <a:gd name="csX17" fmla="*/ 36270 w 935964"/>
              <a:gd name="csY17" fmla="*/ 529109 h 1102102"/>
              <a:gd name="csX18" fmla="*/ 58585 w 935964"/>
              <a:gd name="csY18" fmla="*/ 506524 h 1102102"/>
              <a:gd name="csX19" fmla="*/ 791250 w 935964"/>
              <a:gd name="csY19" fmla="*/ 13623 h 1102102"/>
              <a:gd name="csX20" fmla="*/ 879636 w 935964"/>
              <a:gd name="csY20" fmla="*/ 13018 h 11021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935964" h="1102102">
                <a:moveTo>
                  <a:pt x="782368" y="212330"/>
                </a:moveTo>
                <a:lnTo>
                  <a:pt x="212026" y="596028"/>
                </a:lnTo>
                <a:lnTo>
                  <a:pt x="782368" y="914045"/>
                </a:lnTo>
                <a:close/>
                <a:moveTo>
                  <a:pt x="879636" y="13018"/>
                </a:moveTo>
                <a:lnTo>
                  <a:pt x="884474" y="17799"/>
                </a:lnTo>
                <a:lnTo>
                  <a:pt x="889059" y="18724"/>
                </a:lnTo>
                <a:cubicBezTo>
                  <a:pt x="916623" y="30383"/>
                  <a:pt x="935964" y="57676"/>
                  <a:pt x="935964" y="89487"/>
                </a:cubicBezTo>
                <a:cubicBezTo>
                  <a:pt x="935964" y="392268"/>
                  <a:pt x="935963" y="695049"/>
                  <a:pt x="935963" y="997830"/>
                </a:cubicBezTo>
                <a:cubicBezTo>
                  <a:pt x="935963" y="1008433"/>
                  <a:pt x="933814" y="1018535"/>
                  <a:pt x="929928" y="1027723"/>
                </a:cubicBezTo>
                <a:lnTo>
                  <a:pt x="917461" y="1046214"/>
                </a:lnTo>
                <a:lnTo>
                  <a:pt x="911098" y="1066115"/>
                </a:lnTo>
                <a:cubicBezTo>
                  <a:pt x="892237" y="1099942"/>
                  <a:pt x="849524" y="1112074"/>
                  <a:pt x="815697" y="1093212"/>
                </a:cubicBezTo>
                <a:cubicBezTo>
                  <a:pt x="555794" y="948293"/>
                  <a:pt x="295891" y="803373"/>
                  <a:pt x="35987" y="658453"/>
                </a:cubicBezTo>
                <a:cubicBezTo>
                  <a:pt x="2160" y="639592"/>
                  <a:pt x="-9972" y="596879"/>
                  <a:pt x="8890" y="563052"/>
                </a:cubicBezTo>
                <a:lnTo>
                  <a:pt x="8890" y="563054"/>
                </a:lnTo>
                <a:cubicBezTo>
                  <a:pt x="13606" y="554597"/>
                  <a:pt x="19812" y="547496"/>
                  <a:pt x="26997" y="541897"/>
                </a:cubicBezTo>
                <a:lnTo>
                  <a:pt x="32139" y="539292"/>
                </a:lnTo>
                <a:lnTo>
                  <a:pt x="36270" y="529109"/>
                </a:lnTo>
                <a:cubicBezTo>
                  <a:pt x="41948" y="520413"/>
                  <a:pt x="49426" y="512686"/>
                  <a:pt x="58585" y="506524"/>
                </a:cubicBezTo>
                <a:lnTo>
                  <a:pt x="791250" y="13623"/>
                </a:lnTo>
                <a:cubicBezTo>
                  <a:pt x="818729" y="-4863"/>
                  <a:pt x="853546" y="-4017"/>
                  <a:pt x="879636" y="13018"/>
                </a:cubicBezTo>
                <a:close/>
              </a:path>
            </a:pathLst>
          </a:cu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D0A3E7F-373D-29C8-C2FF-4F0FC9D63AF4}"/>
              </a:ext>
            </a:extLst>
          </p:cNvPr>
          <p:cNvSpPr txBox="1"/>
          <p:nvPr/>
        </p:nvSpPr>
        <p:spPr>
          <a:xfrm rot="20755339">
            <a:off x="10926267" y="4042030"/>
            <a:ext cx="11758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>
                <a:latin typeface="Arial Rounded MT Bold" panose="020F0704030504030204" pitchFamily="34" charset="0"/>
              </a:rPr>
              <a:t>HIGH RISK</a:t>
            </a:r>
          </a:p>
        </p:txBody>
      </p:sp>
    </p:spTree>
    <p:extLst>
      <p:ext uri="{BB962C8B-B14F-4D97-AF65-F5344CB8AC3E}">
        <p14:creationId xmlns:p14="http://schemas.microsoft.com/office/powerpoint/2010/main" val="766015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2222AB-9872-B7B5-DF49-9DDE994B8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Nettoyage des données et mise en place des jeux de test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170B559-0470-C676-FC4F-AD7CFCC63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550" y="2297112"/>
            <a:ext cx="10515600" cy="3856038"/>
          </a:xfrm>
        </p:spPr>
        <p:txBody>
          <a:bodyPr>
            <a:normAutofit/>
          </a:bodyPr>
          <a:lstStyle/>
          <a:p>
            <a:r>
              <a:rPr lang="fr-FR" sz="2000" dirty="0"/>
              <a:t>X = 15  x ‘’Feature engineering’’</a:t>
            </a:r>
          </a:p>
          <a:p>
            <a:r>
              <a:rPr lang="fr-FR" sz="2000" dirty="0"/>
              <a:t>y = ‘’</a:t>
            </a:r>
            <a:r>
              <a:rPr lang="fr-FR" sz="2000" dirty="0" err="1"/>
              <a:t>Fraud_flag</a:t>
            </a:r>
            <a:r>
              <a:rPr lang="fr-FR" sz="2000" dirty="0"/>
              <a:t>’’</a:t>
            </a:r>
          </a:p>
          <a:p>
            <a:pPr marL="0" indent="0">
              <a:buNone/>
            </a:pPr>
            <a:r>
              <a:rPr lang="fr-FR" sz="2000" dirty="0" err="1"/>
              <a:t>train_test_split</a:t>
            </a:r>
            <a:r>
              <a:rPr lang="fr-FR" sz="2000" dirty="0"/>
              <a:t> avec option « </a:t>
            </a:r>
            <a:r>
              <a:rPr lang="fr-FR" sz="2000" dirty="0" err="1"/>
              <a:t>Stratify</a:t>
            </a:r>
            <a:r>
              <a:rPr lang="fr-FR" sz="2000" dirty="0"/>
              <a:t> » </a:t>
            </a:r>
          </a:p>
          <a:p>
            <a:pPr marL="0" indent="0">
              <a:buNone/>
            </a:pPr>
            <a:r>
              <a:rPr lang="fr-FR" sz="2000" dirty="0"/>
              <a:t>	</a:t>
            </a:r>
            <a:r>
              <a:rPr lang="fr-FR" sz="2000" dirty="0">
                <a:sym typeface="Wingdings" panose="05000000000000000000" pitchFamily="2" charset="2"/>
              </a:rPr>
              <a:t>Équilibrer</a:t>
            </a:r>
            <a:r>
              <a:rPr lang="fr-FR" sz="2000" dirty="0"/>
              <a:t> les cas de fraude à 1 dans les jeux test et train 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7CF5E24F-8C3B-5779-61D4-361516F322EC}"/>
              </a:ext>
            </a:extLst>
          </p:cNvPr>
          <p:cNvSpPr/>
          <p:nvPr/>
        </p:nvSpPr>
        <p:spPr>
          <a:xfrm>
            <a:off x="590550" y="4948226"/>
            <a:ext cx="6677025" cy="30480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X_train</a:t>
            </a:r>
            <a:r>
              <a:rPr lang="fr-FR" dirty="0"/>
              <a:t> (80%)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E1CC0704-8E92-E98E-BF0A-C0F02F8CE098}"/>
              </a:ext>
            </a:extLst>
          </p:cNvPr>
          <p:cNvSpPr/>
          <p:nvPr/>
        </p:nvSpPr>
        <p:spPr>
          <a:xfrm>
            <a:off x="7527132" y="4948226"/>
            <a:ext cx="3319462" cy="30480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X_test</a:t>
            </a:r>
            <a:r>
              <a:rPr lang="fr-FR" dirty="0"/>
              <a:t> (20%)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33D118EA-E0D5-F770-559B-F30A10085679}"/>
              </a:ext>
            </a:extLst>
          </p:cNvPr>
          <p:cNvSpPr/>
          <p:nvPr/>
        </p:nvSpPr>
        <p:spPr>
          <a:xfrm>
            <a:off x="590550" y="4160035"/>
            <a:ext cx="10282238" cy="30480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X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0BBF48CA-25CE-936E-505D-84EFF7A9FF46}"/>
              </a:ext>
            </a:extLst>
          </p:cNvPr>
          <p:cNvSpPr/>
          <p:nvPr/>
        </p:nvSpPr>
        <p:spPr>
          <a:xfrm>
            <a:off x="590550" y="4569212"/>
            <a:ext cx="10282238" cy="3048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y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7EC87336-830F-B75E-9DA0-61C86935C66A}"/>
              </a:ext>
            </a:extLst>
          </p:cNvPr>
          <p:cNvSpPr/>
          <p:nvPr/>
        </p:nvSpPr>
        <p:spPr>
          <a:xfrm>
            <a:off x="590550" y="5327240"/>
            <a:ext cx="6677025" cy="304800"/>
          </a:xfrm>
          <a:prstGeom prst="roundRect">
            <a:avLst/>
          </a:prstGeom>
          <a:solidFill>
            <a:srgbClr val="F2F2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>
                <a:solidFill>
                  <a:schemeClr val="tx1"/>
                </a:solidFill>
              </a:rPr>
              <a:t>y_train</a:t>
            </a:r>
            <a:r>
              <a:rPr lang="fr-FR" dirty="0">
                <a:solidFill>
                  <a:schemeClr val="tx1"/>
                </a:solidFill>
              </a:rPr>
              <a:t> (80%)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DE5CD623-EC3D-8250-195F-3F0F7B9E4827}"/>
              </a:ext>
            </a:extLst>
          </p:cNvPr>
          <p:cNvSpPr/>
          <p:nvPr/>
        </p:nvSpPr>
        <p:spPr>
          <a:xfrm>
            <a:off x="7527132" y="5327240"/>
            <a:ext cx="3319462" cy="304800"/>
          </a:xfrm>
          <a:prstGeom prst="roundRect">
            <a:avLst/>
          </a:prstGeom>
          <a:solidFill>
            <a:srgbClr val="F2F2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>
                <a:solidFill>
                  <a:schemeClr val="tx1"/>
                </a:solidFill>
              </a:rPr>
              <a:t>y_test</a:t>
            </a:r>
            <a:r>
              <a:rPr lang="fr-FR" dirty="0">
                <a:solidFill>
                  <a:schemeClr val="tx1"/>
                </a:solidFill>
              </a:rPr>
              <a:t> (20%)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7A349F84-D383-F2F2-5CA9-597763B925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6042" y="2797024"/>
            <a:ext cx="855408" cy="855408"/>
          </a:xfrm>
          <a:prstGeom prst="rect">
            <a:avLst/>
          </a:prstGeom>
        </p:spPr>
      </p:pic>
      <p:cxnSp>
        <p:nvCxnSpPr>
          <p:cNvPr id="14" name="Connecteur : en angle 13">
            <a:extLst>
              <a:ext uri="{FF2B5EF4-FFF2-40B4-BE49-F238E27FC236}">
                <a16:creationId xmlns:a16="http://schemas.microsoft.com/office/drawing/2014/main" id="{E358B31C-CF7F-6BC7-6340-12D1BC6A76EE}"/>
              </a:ext>
            </a:extLst>
          </p:cNvPr>
          <p:cNvCxnSpPr>
            <a:endCxn id="6" idx="3"/>
          </p:cNvCxnSpPr>
          <p:nvPr/>
        </p:nvCxnSpPr>
        <p:spPr>
          <a:xfrm rot="5400000">
            <a:off x="10593226" y="3799510"/>
            <a:ext cx="792487" cy="23336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Connecteur : en angle 14">
            <a:extLst>
              <a:ext uri="{FF2B5EF4-FFF2-40B4-BE49-F238E27FC236}">
                <a16:creationId xmlns:a16="http://schemas.microsoft.com/office/drawing/2014/main" id="{283636D5-7420-566E-1ED2-115C74CF153C}"/>
              </a:ext>
            </a:extLst>
          </p:cNvPr>
          <p:cNvCxnSpPr>
            <a:cxnSpLocks/>
            <a:endCxn id="7" idx="3"/>
          </p:cNvCxnSpPr>
          <p:nvPr/>
        </p:nvCxnSpPr>
        <p:spPr>
          <a:xfrm rot="5400000">
            <a:off x="10528440" y="3864296"/>
            <a:ext cx="1201665" cy="51296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ZoneTexte 20">
            <a:extLst>
              <a:ext uri="{FF2B5EF4-FFF2-40B4-BE49-F238E27FC236}">
                <a16:creationId xmlns:a16="http://schemas.microsoft.com/office/drawing/2014/main" id="{FF540B2E-7358-5768-50DE-C18123E766E2}"/>
              </a:ext>
            </a:extLst>
          </p:cNvPr>
          <p:cNvSpPr txBox="1"/>
          <p:nvPr/>
        </p:nvSpPr>
        <p:spPr>
          <a:xfrm>
            <a:off x="10698111" y="2468600"/>
            <a:ext cx="9512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 err="1"/>
              <a:t>df_train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509487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5D17C7-686F-3AEC-D846-113B532AB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	Modèle d’apprentissage supervisé : </a:t>
            </a:r>
            <a:r>
              <a:rPr lang="fr-FR" dirty="0" err="1"/>
              <a:t>LightGBM</a:t>
            </a:r>
            <a:endParaRPr lang="fr-FR" dirty="0"/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0C12C029-78A9-0888-3790-F97550023C64}"/>
              </a:ext>
            </a:extLst>
          </p:cNvPr>
          <p:cNvSpPr txBox="1"/>
          <p:nvPr/>
        </p:nvSpPr>
        <p:spPr>
          <a:xfrm>
            <a:off x="1617108" y="1841186"/>
            <a:ext cx="2520950" cy="387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fr-FR" sz="3200" b="1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LightGBM</a:t>
            </a:r>
            <a:endParaRPr lang="fr-FR" sz="3200" b="1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5ACF0F5F-CE6E-5A85-52D5-5AA521370377}"/>
              </a:ext>
            </a:extLst>
          </p:cNvPr>
          <p:cNvSpPr/>
          <p:nvPr/>
        </p:nvSpPr>
        <p:spPr>
          <a:xfrm>
            <a:off x="683889" y="3261080"/>
            <a:ext cx="241095" cy="294968"/>
          </a:xfrm>
          <a:prstGeom prst="ellipse">
            <a:avLst/>
          </a:prstGeom>
          <a:solidFill>
            <a:srgbClr val="26262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328D7DFC-40E6-7693-C7E4-B6F9726263B4}"/>
              </a:ext>
            </a:extLst>
          </p:cNvPr>
          <p:cNvSpPr/>
          <p:nvPr/>
        </p:nvSpPr>
        <p:spPr>
          <a:xfrm>
            <a:off x="250742" y="3259317"/>
            <a:ext cx="241095" cy="294968"/>
          </a:xfrm>
          <a:prstGeom prst="ellipse">
            <a:avLst/>
          </a:prstGeom>
          <a:solidFill>
            <a:srgbClr val="F2F2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7D99502A-B636-D9CB-01D3-0DCC695BE357}"/>
              </a:ext>
            </a:extLst>
          </p:cNvPr>
          <p:cNvSpPr/>
          <p:nvPr/>
        </p:nvSpPr>
        <p:spPr>
          <a:xfrm>
            <a:off x="499111" y="2595660"/>
            <a:ext cx="241095" cy="294968"/>
          </a:xfrm>
          <a:prstGeom prst="ellipse">
            <a:avLst/>
          </a:prstGeom>
          <a:solidFill>
            <a:srgbClr val="26262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D4976C5A-0F33-F79C-EBE7-86332892C4D0}"/>
              </a:ext>
            </a:extLst>
          </p:cNvPr>
          <p:cNvSpPr/>
          <p:nvPr/>
        </p:nvSpPr>
        <p:spPr>
          <a:xfrm>
            <a:off x="1764090" y="3261080"/>
            <a:ext cx="241095" cy="294968"/>
          </a:xfrm>
          <a:prstGeom prst="ellipse">
            <a:avLst/>
          </a:prstGeom>
          <a:solidFill>
            <a:srgbClr val="26262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345E8935-4895-5EC7-FFE0-EDBB9D660932}"/>
              </a:ext>
            </a:extLst>
          </p:cNvPr>
          <p:cNvSpPr/>
          <p:nvPr/>
        </p:nvSpPr>
        <p:spPr>
          <a:xfrm>
            <a:off x="2185553" y="3261080"/>
            <a:ext cx="241095" cy="294968"/>
          </a:xfrm>
          <a:prstGeom prst="ellipse">
            <a:avLst/>
          </a:prstGeom>
          <a:solidFill>
            <a:srgbClr val="26262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52D0B95E-BFC4-331F-F331-8165E76C7DDE}"/>
              </a:ext>
            </a:extLst>
          </p:cNvPr>
          <p:cNvSpPr/>
          <p:nvPr/>
        </p:nvSpPr>
        <p:spPr>
          <a:xfrm>
            <a:off x="1988082" y="2599861"/>
            <a:ext cx="241095" cy="294968"/>
          </a:xfrm>
          <a:prstGeom prst="ellipse">
            <a:avLst/>
          </a:prstGeom>
          <a:solidFill>
            <a:srgbClr val="26262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5EF6C1A1-672E-45AF-BF64-9866816EDA06}"/>
              </a:ext>
            </a:extLst>
          </p:cNvPr>
          <p:cNvSpPr/>
          <p:nvPr/>
        </p:nvSpPr>
        <p:spPr>
          <a:xfrm>
            <a:off x="1480375" y="3954354"/>
            <a:ext cx="241095" cy="294968"/>
          </a:xfrm>
          <a:prstGeom prst="ellipse">
            <a:avLst/>
          </a:prstGeom>
          <a:solidFill>
            <a:srgbClr val="26262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B5526072-8516-A0E0-F834-E2979036F68F}"/>
              </a:ext>
            </a:extLst>
          </p:cNvPr>
          <p:cNvSpPr/>
          <p:nvPr/>
        </p:nvSpPr>
        <p:spPr>
          <a:xfrm>
            <a:off x="1907731" y="3946189"/>
            <a:ext cx="241095" cy="294968"/>
          </a:xfrm>
          <a:prstGeom prst="ellipse">
            <a:avLst/>
          </a:prstGeom>
          <a:solidFill>
            <a:srgbClr val="F2F2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9524DAF3-4ACC-A7D8-055E-D9FD2F8FEC88}"/>
              </a:ext>
            </a:extLst>
          </p:cNvPr>
          <p:cNvCxnSpPr>
            <a:cxnSpLocks/>
            <a:stCxn id="3" idx="0"/>
            <a:endCxn id="5" idx="4"/>
          </p:cNvCxnSpPr>
          <p:nvPr/>
        </p:nvCxnSpPr>
        <p:spPr>
          <a:xfrm flipH="1" flipV="1">
            <a:off x="619659" y="2890628"/>
            <a:ext cx="184778" cy="3704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69BEB7EC-8854-93DF-A9BA-F6F650F4B53C}"/>
              </a:ext>
            </a:extLst>
          </p:cNvPr>
          <p:cNvCxnSpPr>
            <a:cxnSpLocks/>
            <a:stCxn id="4" idx="0"/>
            <a:endCxn id="5" idx="4"/>
          </p:cNvCxnSpPr>
          <p:nvPr/>
        </p:nvCxnSpPr>
        <p:spPr>
          <a:xfrm flipV="1">
            <a:off x="371290" y="2890628"/>
            <a:ext cx="248369" cy="36868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D8DA502B-8738-C21D-A821-F2496FCCDEDA}"/>
              </a:ext>
            </a:extLst>
          </p:cNvPr>
          <p:cNvCxnSpPr>
            <a:cxnSpLocks/>
            <a:stCxn id="7" idx="0"/>
            <a:endCxn id="8" idx="4"/>
          </p:cNvCxnSpPr>
          <p:nvPr/>
        </p:nvCxnSpPr>
        <p:spPr>
          <a:xfrm flipH="1" flipV="1">
            <a:off x="2108630" y="2894829"/>
            <a:ext cx="197471" cy="3662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A9A82DF-3CA9-4DCE-6651-96E59CB67F7E}"/>
              </a:ext>
            </a:extLst>
          </p:cNvPr>
          <p:cNvCxnSpPr>
            <a:cxnSpLocks/>
            <a:stCxn id="9" idx="0"/>
            <a:endCxn id="6" idx="4"/>
          </p:cNvCxnSpPr>
          <p:nvPr/>
        </p:nvCxnSpPr>
        <p:spPr>
          <a:xfrm flipV="1">
            <a:off x="1600923" y="3556048"/>
            <a:ext cx="283715" cy="3983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C9D52512-3537-3682-4636-266DF4DF2B79}"/>
              </a:ext>
            </a:extLst>
          </p:cNvPr>
          <p:cNvCxnSpPr>
            <a:cxnSpLocks/>
            <a:stCxn id="10" idx="0"/>
            <a:endCxn id="6" idx="4"/>
          </p:cNvCxnSpPr>
          <p:nvPr/>
        </p:nvCxnSpPr>
        <p:spPr>
          <a:xfrm flipH="1" flipV="1">
            <a:off x="1884638" y="3556048"/>
            <a:ext cx="143641" cy="3901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1B097B94-22DF-CD2F-9C26-4096EFB05BED}"/>
              </a:ext>
            </a:extLst>
          </p:cNvPr>
          <p:cNvSpPr/>
          <p:nvPr/>
        </p:nvSpPr>
        <p:spPr>
          <a:xfrm>
            <a:off x="184860" y="4977177"/>
            <a:ext cx="4251441" cy="129956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Gestion du déséquilibre avec l’option </a:t>
            </a:r>
            <a:r>
              <a:rPr lang="fr-FR" dirty="0" err="1"/>
              <a:t>scale_pos_weight</a:t>
            </a:r>
            <a:r>
              <a:rPr lang="fr-FR" dirty="0"/>
              <a:t> = (nb cas positif / nb cas négatif) soit 69,36% </a:t>
            </a:r>
          </a:p>
        </p:txBody>
      </p:sp>
      <p:graphicFrame>
        <p:nvGraphicFramePr>
          <p:cNvPr id="14" name="Tableau 13">
            <a:extLst>
              <a:ext uri="{FF2B5EF4-FFF2-40B4-BE49-F238E27FC236}">
                <a16:creationId xmlns:a16="http://schemas.microsoft.com/office/drawing/2014/main" id="{140994CB-8468-6F56-0F87-FE29E47449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3826755"/>
              </p:ext>
            </p:extLst>
          </p:nvPr>
        </p:nvGraphicFramePr>
        <p:xfrm>
          <a:off x="5627839" y="1769315"/>
          <a:ext cx="6305961" cy="4831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68491">
                  <a:extLst>
                    <a:ext uri="{9D8B030D-6E8A-4147-A177-3AD203B41FA5}">
                      <a16:colId xmlns:a16="http://schemas.microsoft.com/office/drawing/2014/main" val="1711414060"/>
                    </a:ext>
                  </a:extLst>
                </a:gridCol>
                <a:gridCol w="1622323">
                  <a:extLst>
                    <a:ext uri="{9D8B030D-6E8A-4147-A177-3AD203B41FA5}">
                      <a16:colId xmlns:a16="http://schemas.microsoft.com/office/drawing/2014/main" val="2751960989"/>
                    </a:ext>
                  </a:extLst>
                </a:gridCol>
                <a:gridCol w="3215147">
                  <a:extLst>
                    <a:ext uri="{9D8B030D-6E8A-4147-A177-3AD203B41FA5}">
                      <a16:colId xmlns:a16="http://schemas.microsoft.com/office/drawing/2014/main" val="27237523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Paramètre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Catégorie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5095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kern="1200" dirty="0">
                          <a:solidFill>
                            <a:schemeClr val="dk1"/>
                          </a:solidFill>
                        </a:rPr>
                        <a:t>objective = "</a:t>
                      </a:r>
                      <a:r>
                        <a:rPr lang="fr-FR" sz="1000" kern="1200" dirty="0" err="1">
                          <a:solidFill>
                            <a:schemeClr val="dk1"/>
                          </a:solidFill>
                        </a:rPr>
                        <a:t>binary</a:t>
                      </a:r>
                      <a:r>
                        <a:rPr lang="fr-FR" sz="1000" kern="1200" dirty="0">
                          <a:solidFill>
                            <a:schemeClr val="dk1"/>
                          </a:solidFill>
                        </a:rPr>
                        <a:t>"</a:t>
                      </a:r>
                      <a:endParaRPr lang="fr-FR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kern="1200" dirty="0">
                          <a:solidFill>
                            <a:schemeClr val="dk1"/>
                          </a:solidFill>
                        </a:rPr>
                        <a:t>Fonction de perte</a:t>
                      </a:r>
                      <a:endParaRPr lang="fr-FR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dirty="0"/>
                        <a:t>Indique que la tâche est une classification binaire (fraude / non‑fraude).</a:t>
                      </a:r>
                      <a:endParaRPr lang="fr-FR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38566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dirty="0" err="1"/>
                        <a:t>n_estimators</a:t>
                      </a:r>
                      <a:r>
                        <a:rPr lang="fr-FR" sz="1000" dirty="0"/>
                        <a:t> = 2500</a:t>
                      </a:r>
                      <a:endParaRPr lang="fr-FR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dirty="0"/>
                        <a:t>Structure du modèle</a:t>
                      </a:r>
                      <a:endParaRPr lang="fr-FR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dirty="0"/>
                        <a:t>Nombre maximal d’arbres que </a:t>
                      </a:r>
                      <a:r>
                        <a:rPr lang="fr-FR" sz="1000" dirty="0" err="1"/>
                        <a:t>LightGBM</a:t>
                      </a:r>
                      <a:r>
                        <a:rPr lang="fr-FR" sz="1000" dirty="0"/>
                        <a:t> peut construire.</a:t>
                      </a:r>
                      <a:endParaRPr lang="fr-FR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74519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kern="1200" dirty="0" err="1">
                          <a:solidFill>
                            <a:schemeClr val="dk1"/>
                          </a:solidFill>
                        </a:rPr>
                        <a:t>num_leaves</a:t>
                      </a:r>
                      <a:r>
                        <a:rPr lang="fr-FR" sz="1000" kern="1200" dirty="0">
                          <a:solidFill>
                            <a:schemeClr val="dk1"/>
                          </a:solidFill>
                        </a:rPr>
                        <a:t> = 127</a:t>
                      </a:r>
                      <a:endParaRPr lang="fr-FR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kern="1200" dirty="0">
                          <a:solidFill>
                            <a:schemeClr val="dk1"/>
                          </a:solidFill>
                        </a:rPr>
                        <a:t>Complexité des arbres</a:t>
                      </a:r>
                      <a:endParaRPr lang="fr-FR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dirty="0"/>
                        <a:t>Nombre maximum de feuilles par arbre. Contrôle la capacité du modèle à capturer des patterns complexes.</a:t>
                      </a:r>
                      <a:endParaRPr lang="fr-FR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79265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kern="1200" dirty="0" err="1">
                          <a:solidFill>
                            <a:schemeClr val="dk1"/>
                          </a:solidFill>
                        </a:rPr>
                        <a:t>learning_rate</a:t>
                      </a:r>
                      <a:r>
                        <a:rPr lang="fr-FR" sz="1000" kern="1200" dirty="0">
                          <a:solidFill>
                            <a:schemeClr val="dk1"/>
                          </a:solidFill>
                        </a:rPr>
                        <a:t> = 0.01</a:t>
                      </a:r>
                      <a:endParaRPr lang="fr-FR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kern="1200" dirty="0">
                          <a:solidFill>
                            <a:schemeClr val="dk1"/>
                          </a:solidFill>
                        </a:rPr>
                        <a:t>Vitesse d’apprentissage</a:t>
                      </a:r>
                      <a:endParaRPr lang="fr-FR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dirty="0"/>
                        <a:t>Taille des pas de gradient. Plus c’est petit, plus l’apprentissage est stable.</a:t>
                      </a:r>
                      <a:endParaRPr lang="fr-FR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7529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min_data_in_leaf</a:t>
                      </a:r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=150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dirty="0"/>
                        <a:t>Régularisation</a:t>
                      </a:r>
                      <a:endParaRPr lang="fr-FR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dirty="0"/>
                        <a:t>Nombre minimum d’échantillons dans une feuille. Empêche les </a:t>
                      </a:r>
                      <a:r>
                        <a:rPr lang="fr-FR" sz="1000" dirty="0" err="1"/>
                        <a:t>splits</a:t>
                      </a:r>
                      <a:r>
                        <a:rPr lang="fr-FR" sz="1000" dirty="0"/>
                        <a:t> sur très peu de données.</a:t>
                      </a:r>
                      <a:endParaRPr lang="fr-FR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7929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feature_fraction</a:t>
                      </a:r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=0,7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dirty="0"/>
                        <a:t>Sous‑échantillonnage des </a:t>
                      </a:r>
                      <a:r>
                        <a:rPr lang="fr-FR" sz="1000" dirty="0" err="1"/>
                        <a:t>features</a:t>
                      </a:r>
                      <a:endParaRPr lang="fr-FR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dirty="0"/>
                        <a:t>À chaque arbre, </a:t>
                      </a:r>
                      <a:r>
                        <a:rPr lang="fr-FR" sz="1000" dirty="0" err="1"/>
                        <a:t>LightGBM</a:t>
                      </a:r>
                      <a:r>
                        <a:rPr lang="fr-FR" sz="1000" dirty="0"/>
                        <a:t> n’utilise que 70 % des colonnes.</a:t>
                      </a:r>
                      <a:endParaRPr lang="fr-FR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3333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bagging_fraction</a:t>
                      </a:r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=0,7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dirty="0"/>
                        <a:t>Sous‑échantillonnage des lignes</a:t>
                      </a:r>
                      <a:endParaRPr lang="fr-FR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dirty="0"/>
                        <a:t>À chaque arbre, </a:t>
                      </a:r>
                      <a:r>
                        <a:rPr lang="fr-FR" sz="1000" dirty="0" err="1"/>
                        <a:t>LightGBM</a:t>
                      </a:r>
                      <a:r>
                        <a:rPr lang="fr-FR" sz="1000" dirty="0"/>
                        <a:t> n’utilise que 70 % des lignes.</a:t>
                      </a:r>
                      <a:endParaRPr lang="fr-FR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254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bagging_freq</a:t>
                      </a:r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dirty="0"/>
                        <a:t>Fréquence du bagging</a:t>
                      </a:r>
                      <a:endParaRPr lang="fr-FR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dirty="0"/>
                        <a:t>Active le bagging à chaque itération.</a:t>
                      </a:r>
                      <a:endParaRPr lang="fr-FR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7616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scale_pos_weight</a:t>
                      </a:r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dirty="0"/>
                        <a:t>Gestion du déséquilibre</a:t>
                      </a:r>
                      <a:endParaRPr lang="fr-FR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dirty="0"/>
                        <a:t>Pondère la classe positive (fraude). Valeur ≈ ratio négatifs / positifs.</a:t>
                      </a:r>
                      <a:endParaRPr lang="fr-FR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90100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random_state</a:t>
                      </a:r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dirty="0"/>
                        <a:t>Reproductibilité</a:t>
                      </a:r>
                      <a:endParaRPr lang="fr-FR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dirty="0"/>
                        <a:t>Fixe la graine aléatoire pour rendre les résultats identiques d’un run à l’autre.</a:t>
                      </a:r>
                      <a:endParaRPr lang="fr-FR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4650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Verbose</a:t>
                      </a:r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dirty="0"/>
                        <a:t>Log</a:t>
                      </a:r>
                      <a:endParaRPr lang="fr-FR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dirty="0"/>
                        <a:t>Désactive les logs </a:t>
                      </a:r>
                      <a:r>
                        <a:rPr lang="fr-FR" sz="1000" dirty="0" err="1"/>
                        <a:t>LightGBM</a:t>
                      </a:r>
                      <a:r>
                        <a:rPr lang="fr-FR" sz="1000" dirty="0"/>
                        <a:t> inutiles.</a:t>
                      </a:r>
                      <a:endParaRPr lang="fr-FR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3168739"/>
                  </a:ext>
                </a:extLst>
              </a:tr>
            </a:tbl>
          </a:graphicData>
        </a:graphic>
      </p:graphicFrame>
      <p:sp>
        <p:nvSpPr>
          <p:cNvPr id="15" name="Flèche : droite 14">
            <a:extLst>
              <a:ext uri="{FF2B5EF4-FFF2-40B4-BE49-F238E27FC236}">
                <a16:creationId xmlns:a16="http://schemas.microsoft.com/office/drawing/2014/main" id="{706B3BB0-E00C-D3AB-8948-6A4372A82A34}"/>
              </a:ext>
            </a:extLst>
          </p:cNvPr>
          <p:cNvSpPr/>
          <p:nvPr/>
        </p:nvSpPr>
        <p:spPr>
          <a:xfrm>
            <a:off x="4552335" y="5365347"/>
            <a:ext cx="965389" cy="523221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2772CED9-F958-B49B-4C11-EE22FC5DE0EF}"/>
              </a:ext>
            </a:extLst>
          </p:cNvPr>
          <p:cNvCxnSpPr>
            <a:cxnSpLocks/>
            <a:stCxn id="6" idx="0"/>
            <a:endCxn id="8" idx="4"/>
          </p:cNvCxnSpPr>
          <p:nvPr/>
        </p:nvCxnSpPr>
        <p:spPr>
          <a:xfrm flipV="1">
            <a:off x="1884638" y="2894829"/>
            <a:ext cx="223992" cy="3662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Ellipse 32">
            <a:extLst>
              <a:ext uri="{FF2B5EF4-FFF2-40B4-BE49-F238E27FC236}">
                <a16:creationId xmlns:a16="http://schemas.microsoft.com/office/drawing/2014/main" id="{5E15A400-E30C-A14C-57A8-2BB4498DE5C7}"/>
              </a:ext>
            </a:extLst>
          </p:cNvPr>
          <p:cNvSpPr/>
          <p:nvPr/>
        </p:nvSpPr>
        <p:spPr>
          <a:xfrm>
            <a:off x="3351998" y="3256879"/>
            <a:ext cx="241095" cy="294968"/>
          </a:xfrm>
          <a:prstGeom prst="ellipse">
            <a:avLst/>
          </a:prstGeom>
          <a:solidFill>
            <a:srgbClr val="26262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6AB6728F-BD8A-9920-2817-AF0B99DB0DCF}"/>
              </a:ext>
            </a:extLst>
          </p:cNvPr>
          <p:cNvSpPr/>
          <p:nvPr/>
        </p:nvSpPr>
        <p:spPr>
          <a:xfrm>
            <a:off x="3773461" y="3256879"/>
            <a:ext cx="241095" cy="294968"/>
          </a:xfrm>
          <a:prstGeom prst="ellipse">
            <a:avLst/>
          </a:prstGeom>
          <a:solidFill>
            <a:srgbClr val="F2F2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560762D5-0B88-3C60-BD32-8FDC80640787}"/>
              </a:ext>
            </a:extLst>
          </p:cNvPr>
          <p:cNvSpPr/>
          <p:nvPr/>
        </p:nvSpPr>
        <p:spPr>
          <a:xfrm>
            <a:off x="3575990" y="2595660"/>
            <a:ext cx="241095" cy="294968"/>
          </a:xfrm>
          <a:prstGeom prst="ellipse">
            <a:avLst/>
          </a:prstGeom>
          <a:solidFill>
            <a:srgbClr val="26262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2BAE505C-F826-CF42-9EAF-FFE3AA5356BF}"/>
              </a:ext>
            </a:extLst>
          </p:cNvPr>
          <p:cNvSpPr/>
          <p:nvPr/>
        </p:nvSpPr>
        <p:spPr>
          <a:xfrm>
            <a:off x="3068283" y="3950153"/>
            <a:ext cx="241095" cy="294968"/>
          </a:xfrm>
          <a:prstGeom prst="ellipse">
            <a:avLst/>
          </a:prstGeom>
          <a:solidFill>
            <a:srgbClr val="26262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C0DFE70C-A5A3-FE2E-463A-64017C06D979}"/>
              </a:ext>
            </a:extLst>
          </p:cNvPr>
          <p:cNvSpPr/>
          <p:nvPr/>
        </p:nvSpPr>
        <p:spPr>
          <a:xfrm>
            <a:off x="3486843" y="3974447"/>
            <a:ext cx="241095" cy="294968"/>
          </a:xfrm>
          <a:prstGeom prst="ellipse">
            <a:avLst/>
          </a:prstGeom>
          <a:solidFill>
            <a:srgbClr val="26262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9" name="Connecteur droit 38">
            <a:extLst>
              <a:ext uri="{FF2B5EF4-FFF2-40B4-BE49-F238E27FC236}">
                <a16:creationId xmlns:a16="http://schemas.microsoft.com/office/drawing/2014/main" id="{8B4BD290-3CB7-3C6D-B189-427CD7022F40}"/>
              </a:ext>
            </a:extLst>
          </p:cNvPr>
          <p:cNvCxnSpPr>
            <a:cxnSpLocks/>
            <a:stCxn id="34" idx="0"/>
            <a:endCxn id="35" idx="4"/>
          </p:cNvCxnSpPr>
          <p:nvPr/>
        </p:nvCxnSpPr>
        <p:spPr>
          <a:xfrm flipH="1" flipV="1">
            <a:off x="3696538" y="2890628"/>
            <a:ext cx="197471" cy="3662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droit 39">
            <a:extLst>
              <a:ext uri="{FF2B5EF4-FFF2-40B4-BE49-F238E27FC236}">
                <a16:creationId xmlns:a16="http://schemas.microsoft.com/office/drawing/2014/main" id="{AD893917-FD4C-97C2-C214-CCC9AA17D04C}"/>
              </a:ext>
            </a:extLst>
          </p:cNvPr>
          <p:cNvCxnSpPr>
            <a:cxnSpLocks/>
            <a:stCxn id="37" idx="0"/>
            <a:endCxn id="33" idx="4"/>
          </p:cNvCxnSpPr>
          <p:nvPr/>
        </p:nvCxnSpPr>
        <p:spPr>
          <a:xfrm flipV="1">
            <a:off x="3188831" y="3551847"/>
            <a:ext cx="283715" cy="3983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40">
            <a:extLst>
              <a:ext uri="{FF2B5EF4-FFF2-40B4-BE49-F238E27FC236}">
                <a16:creationId xmlns:a16="http://schemas.microsoft.com/office/drawing/2014/main" id="{7B5BB9A2-5A24-1C11-07EC-95DC5A895232}"/>
              </a:ext>
            </a:extLst>
          </p:cNvPr>
          <p:cNvCxnSpPr>
            <a:cxnSpLocks/>
            <a:stCxn id="38" idx="0"/>
            <a:endCxn id="33" idx="4"/>
          </p:cNvCxnSpPr>
          <p:nvPr/>
        </p:nvCxnSpPr>
        <p:spPr>
          <a:xfrm flipH="1" flipV="1">
            <a:off x="3472546" y="3551847"/>
            <a:ext cx="134845" cy="4226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41">
            <a:extLst>
              <a:ext uri="{FF2B5EF4-FFF2-40B4-BE49-F238E27FC236}">
                <a16:creationId xmlns:a16="http://schemas.microsoft.com/office/drawing/2014/main" id="{581A66E1-B329-23A2-645A-3137CD235253}"/>
              </a:ext>
            </a:extLst>
          </p:cNvPr>
          <p:cNvCxnSpPr>
            <a:cxnSpLocks/>
            <a:stCxn id="33" idx="0"/>
            <a:endCxn id="35" idx="4"/>
          </p:cNvCxnSpPr>
          <p:nvPr/>
        </p:nvCxnSpPr>
        <p:spPr>
          <a:xfrm flipV="1">
            <a:off x="3472546" y="2890628"/>
            <a:ext cx="223992" cy="3662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Ellipse 43">
            <a:extLst>
              <a:ext uri="{FF2B5EF4-FFF2-40B4-BE49-F238E27FC236}">
                <a16:creationId xmlns:a16="http://schemas.microsoft.com/office/drawing/2014/main" id="{4BD5CC7A-05C2-92E1-BE00-D8A3302217F8}"/>
              </a:ext>
            </a:extLst>
          </p:cNvPr>
          <p:cNvSpPr/>
          <p:nvPr/>
        </p:nvSpPr>
        <p:spPr>
          <a:xfrm>
            <a:off x="3306022" y="4506230"/>
            <a:ext cx="241095" cy="294968"/>
          </a:xfrm>
          <a:prstGeom prst="ellipse">
            <a:avLst/>
          </a:prstGeom>
          <a:solidFill>
            <a:srgbClr val="26262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736C82F0-E4B3-CDF6-8E07-9A7AAAA2A3AB}"/>
              </a:ext>
            </a:extLst>
          </p:cNvPr>
          <p:cNvSpPr/>
          <p:nvPr/>
        </p:nvSpPr>
        <p:spPr>
          <a:xfrm>
            <a:off x="3674725" y="4516701"/>
            <a:ext cx="241095" cy="294968"/>
          </a:xfrm>
          <a:prstGeom prst="ellipse">
            <a:avLst/>
          </a:prstGeom>
          <a:solidFill>
            <a:srgbClr val="26262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6" name="Connecteur droit 45">
            <a:extLst>
              <a:ext uri="{FF2B5EF4-FFF2-40B4-BE49-F238E27FC236}">
                <a16:creationId xmlns:a16="http://schemas.microsoft.com/office/drawing/2014/main" id="{29276273-4489-C0CD-16AE-F390C8515078}"/>
              </a:ext>
            </a:extLst>
          </p:cNvPr>
          <p:cNvCxnSpPr>
            <a:cxnSpLocks/>
            <a:endCxn id="38" idx="4"/>
          </p:cNvCxnSpPr>
          <p:nvPr/>
        </p:nvCxnSpPr>
        <p:spPr>
          <a:xfrm flipH="1" flipV="1">
            <a:off x="3607391" y="4269415"/>
            <a:ext cx="134844" cy="2835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47">
            <a:extLst>
              <a:ext uri="{FF2B5EF4-FFF2-40B4-BE49-F238E27FC236}">
                <a16:creationId xmlns:a16="http://schemas.microsoft.com/office/drawing/2014/main" id="{E47EF448-BE8B-4EEA-3174-900AAACAE122}"/>
              </a:ext>
            </a:extLst>
          </p:cNvPr>
          <p:cNvCxnSpPr>
            <a:cxnSpLocks/>
            <a:stCxn id="44" idx="0"/>
            <a:endCxn id="38" idx="4"/>
          </p:cNvCxnSpPr>
          <p:nvPr/>
        </p:nvCxnSpPr>
        <p:spPr>
          <a:xfrm flipV="1">
            <a:off x="3426570" y="4269415"/>
            <a:ext cx="180821" cy="2368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Flèche : droite 52">
            <a:extLst>
              <a:ext uri="{FF2B5EF4-FFF2-40B4-BE49-F238E27FC236}">
                <a16:creationId xmlns:a16="http://schemas.microsoft.com/office/drawing/2014/main" id="{711CD83F-CFA9-55E2-F3C5-2A8CF902CFBD}"/>
              </a:ext>
            </a:extLst>
          </p:cNvPr>
          <p:cNvSpPr/>
          <p:nvPr/>
        </p:nvSpPr>
        <p:spPr>
          <a:xfrm>
            <a:off x="1117036" y="3281516"/>
            <a:ext cx="511250" cy="29496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4" name="Flèche : droite 53">
            <a:extLst>
              <a:ext uri="{FF2B5EF4-FFF2-40B4-BE49-F238E27FC236}">
                <a16:creationId xmlns:a16="http://schemas.microsoft.com/office/drawing/2014/main" id="{870C728F-FDE5-7E76-2A54-270BCEE8F6E2}"/>
              </a:ext>
            </a:extLst>
          </p:cNvPr>
          <p:cNvSpPr/>
          <p:nvPr/>
        </p:nvSpPr>
        <p:spPr>
          <a:xfrm>
            <a:off x="2632621" y="3289157"/>
            <a:ext cx="511250" cy="29496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7" name="Flèche : droite 56">
            <a:extLst>
              <a:ext uri="{FF2B5EF4-FFF2-40B4-BE49-F238E27FC236}">
                <a16:creationId xmlns:a16="http://schemas.microsoft.com/office/drawing/2014/main" id="{F1CD4A91-E6E0-81F2-E37A-D753E7A6B559}"/>
              </a:ext>
            </a:extLst>
          </p:cNvPr>
          <p:cNvSpPr/>
          <p:nvPr/>
        </p:nvSpPr>
        <p:spPr>
          <a:xfrm>
            <a:off x="4121848" y="3273828"/>
            <a:ext cx="511250" cy="29496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04282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DF93B2-1296-A17F-5481-2B5617C1E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	Calcul du PR-AUC et contrôle de stabilité</a:t>
            </a:r>
          </a:p>
        </p:txBody>
      </p:sp>
      <p:pic>
        <p:nvPicPr>
          <p:cNvPr id="6" name="Image 5" descr="Une image contenant texte, ligne, diagramme, Tracé&#10;&#10;Le contenu généré par l’IA peut être incorrect.">
            <a:extLst>
              <a:ext uri="{FF2B5EF4-FFF2-40B4-BE49-F238E27FC236}">
                <a16:creationId xmlns:a16="http://schemas.microsoft.com/office/drawing/2014/main" id="{4FBCA1AD-8D35-B98C-07BB-204A5423CD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508" y="2165062"/>
            <a:ext cx="5827492" cy="4354954"/>
          </a:xfrm>
          <a:prstGeom prst="rect">
            <a:avLst/>
          </a:prstGeom>
        </p:spPr>
      </p:pic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48ABDD8A-B117-7F19-7655-84D7A28D1E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6082137"/>
              </p:ext>
            </p:extLst>
          </p:nvPr>
        </p:nvGraphicFramePr>
        <p:xfrm>
          <a:off x="6388100" y="2937919"/>
          <a:ext cx="5535392" cy="2225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767696">
                  <a:extLst>
                    <a:ext uri="{9D8B030D-6E8A-4147-A177-3AD203B41FA5}">
                      <a16:colId xmlns:a16="http://schemas.microsoft.com/office/drawing/2014/main" val="3168467461"/>
                    </a:ext>
                  </a:extLst>
                </a:gridCol>
                <a:gridCol w="2767696">
                  <a:extLst>
                    <a:ext uri="{9D8B030D-6E8A-4147-A177-3AD203B41FA5}">
                      <a16:colId xmlns:a16="http://schemas.microsoft.com/office/drawing/2014/main" val="1894802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Itération </a:t>
                      </a:r>
                      <a:r>
                        <a:rPr lang="fr-FR" dirty="0" err="1"/>
                        <a:t>Fold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Résultat PR-AUC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92911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err="1"/>
                        <a:t>Fold</a:t>
                      </a:r>
                      <a:r>
                        <a:rPr lang="fr-FR" dirty="0"/>
                        <a:t>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PR-AUC </a:t>
                      </a:r>
                      <a:r>
                        <a:rPr lang="fr-F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fold</a:t>
                      </a:r>
                      <a:r>
                        <a:rPr lang="fr-F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1: 0.1690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34340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err="1"/>
                        <a:t>Fold</a:t>
                      </a:r>
                      <a:r>
                        <a:rPr lang="fr-FR" dirty="0"/>
                        <a:t>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PR-AUC </a:t>
                      </a:r>
                      <a:r>
                        <a:rPr lang="fr-F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fold</a:t>
                      </a:r>
                      <a:r>
                        <a:rPr lang="fr-F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2: 0.1347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2343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Fold</a:t>
                      </a:r>
                      <a:r>
                        <a:rPr lang="fr-F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PR-AUC </a:t>
                      </a:r>
                      <a:r>
                        <a:rPr lang="fr-F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fold</a:t>
                      </a:r>
                      <a:r>
                        <a:rPr lang="fr-F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3: 0.1550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8112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Fold</a:t>
                      </a:r>
                      <a:r>
                        <a:rPr lang="fr-F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PR-AUC </a:t>
                      </a:r>
                      <a:r>
                        <a:rPr lang="fr-F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fold</a:t>
                      </a:r>
                      <a:r>
                        <a:rPr lang="fr-F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4: 0.1683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4144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Fold</a:t>
                      </a:r>
                      <a:r>
                        <a:rPr lang="fr-F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PR-AUC </a:t>
                      </a:r>
                      <a:r>
                        <a:rPr lang="fr-F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fold</a:t>
                      </a:r>
                      <a:r>
                        <a:rPr lang="fr-F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5: 0.1349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8269043"/>
                  </a:ext>
                </a:extLst>
              </a:tr>
            </a:tbl>
          </a:graphicData>
        </a:graphic>
      </p:graphicFrame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AA6E6633-8DFA-791A-04F4-6857A10A3871}"/>
              </a:ext>
            </a:extLst>
          </p:cNvPr>
          <p:cNvSpPr/>
          <p:nvPr/>
        </p:nvSpPr>
        <p:spPr>
          <a:xfrm>
            <a:off x="6527800" y="5384801"/>
            <a:ext cx="5395692" cy="850900"/>
          </a:xfrm>
          <a:prstGeom prst="roundRect">
            <a:avLst/>
          </a:prstGeom>
          <a:solidFill>
            <a:srgbClr val="26262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1"/>
            <a:r>
              <a:rPr lang="fr-FR" dirty="0"/>
              <a:t>Moyenne : 0.152</a:t>
            </a:r>
          </a:p>
          <a:p>
            <a:pPr latinLnBrk="1"/>
            <a:r>
              <a:rPr lang="fr-FR" dirty="0"/>
              <a:t>Écart-type : 0.0152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03566867-EC13-626F-51AF-37B2CC372BFB}"/>
              </a:ext>
            </a:extLst>
          </p:cNvPr>
          <p:cNvSpPr/>
          <p:nvPr/>
        </p:nvSpPr>
        <p:spPr>
          <a:xfrm>
            <a:off x="6388100" y="2273300"/>
            <a:ext cx="5535392" cy="534648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1"/>
            <a:r>
              <a:rPr lang="fr-FR" dirty="0"/>
              <a:t>Contrôle de la stabilité du modèle sur 5 itérations </a:t>
            </a:r>
          </a:p>
        </p:txBody>
      </p:sp>
      <p:sp>
        <p:nvSpPr>
          <p:cNvPr id="17" name="Forme libre : forme 16">
            <a:extLst>
              <a:ext uri="{FF2B5EF4-FFF2-40B4-BE49-F238E27FC236}">
                <a16:creationId xmlns:a16="http://schemas.microsoft.com/office/drawing/2014/main" id="{42155D7A-E4D2-575A-763E-99C43762CBC4}"/>
              </a:ext>
            </a:extLst>
          </p:cNvPr>
          <p:cNvSpPr/>
          <p:nvPr/>
        </p:nvSpPr>
        <p:spPr>
          <a:xfrm>
            <a:off x="9155796" y="5571333"/>
            <a:ext cx="596918" cy="477836"/>
          </a:xfrm>
          <a:custGeom>
            <a:avLst/>
            <a:gdLst>
              <a:gd name="csX0" fmla="*/ 399689 w 1492281"/>
              <a:gd name="csY0" fmla="*/ 25556 h 1435100"/>
              <a:gd name="csX1" fmla="*/ 495117 w 1492281"/>
              <a:gd name="csY1" fmla="*/ 641444 h 1435100"/>
              <a:gd name="csX2" fmla="*/ 141692 w 1492281"/>
              <a:gd name="csY2" fmla="*/ 571189 h 1435100"/>
              <a:gd name="csX3" fmla="*/ 54619 w 1492281"/>
              <a:gd name="csY3" fmla="*/ 181888 h 1435100"/>
              <a:gd name="csX4" fmla="*/ 399689 w 1492281"/>
              <a:gd name="csY4" fmla="*/ 25556 h 1435100"/>
              <a:gd name="csX5" fmla="*/ 412768 w 1492281"/>
              <a:gd name="csY5" fmla="*/ 0 h 1435100"/>
              <a:gd name="csX6" fmla="*/ 1111268 w 1492281"/>
              <a:gd name="csY6" fmla="*/ 0 h 1435100"/>
              <a:gd name="csX7" fmla="*/ 1027492 w 1492281"/>
              <a:gd name="csY7" fmla="*/ 624514 h 1435100"/>
              <a:gd name="csX8" fmla="*/ 1113296 w 1492281"/>
              <a:gd name="csY8" fmla="*/ 25618 h 1435100"/>
              <a:gd name="csX9" fmla="*/ 1442825 w 1492281"/>
              <a:gd name="csY9" fmla="*/ 185586 h 1435100"/>
              <a:gd name="csX10" fmla="*/ 1368851 w 1492281"/>
              <a:gd name="csY10" fmla="*/ 562791 h 1435100"/>
              <a:gd name="csX11" fmla="*/ 1118133 w 1492281"/>
              <a:gd name="csY11" fmla="*/ 647320 h 1435100"/>
              <a:gd name="csX12" fmla="*/ 1025117 w 1492281"/>
              <a:gd name="csY12" fmla="*/ 642222 h 1435100"/>
              <a:gd name="csX13" fmla="*/ 971568 w 1492281"/>
              <a:gd name="csY13" fmla="*/ 1041400 h 1435100"/>
              <a:gd name="csX14" fmla="*/ 825518 w 1492281"/>
              <a:gd name="csY14" fmla="*/ 1041400 h 1435100"/>
              <a:gd name="csX15" fmla="*/ 825518 w 1492281"/>
              <a:gd name="csY15" fmla="*/ 1219200 h 1435100"/>
              <a:gd name="csX16" fmla="*/ 1003318 w 1492281"/>
              <a:gd name="csY16" fmla="*/ 1219200 h 1435100"/>
              <a:gd name="csX17" fmla="*/ 1111268 w 1492281"/>
              <a:gd name="csY17" fmla="*/ 1327150 h 1435100"/>
              <a:gd name="csX18" fmla="*/ 1003318 w 1492281"/>
              <a:gd name="csY18" fmla="*/ 1435100 h 1435100"/>
              <a:gd name="csX19" fmla="*/ 520718 w 1492281"/>
              <a:gd name="csY19" fmla="*/ 1435100 h 1435100"/>
              <a:gd name="csX20" fmla="*/ 412768 w 1492281"/>
              <a:gd name="csY20" fmla="*/ 1327150 h 1435100"/>
              <a:gd name="csX21" fmla="*/ 520718 w 1492281"/>
              <a:gd name="csY21" fmla="*/ 1219200 h 1435100"/>
              <a:gd name="csX22" fmla="*/ 704868 w 1492281"/>
              <a:gd name="csY22" fmla="*/ 1219200 h 1435100"/>
              <a:gd name="csX23" fmla="*/ 704868 w 1492281"/>
              <a:gd name="csY23" fmla="*/ 1041400 h 1435100"/>
              <a:gd name="csX24" fmla="*/ 552468 w 1492281"/>
              <a:gd name="csY24" fmla="*/ 1041400 h 14351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1492281" h="1435100">
                <a:moveTo>
                  <a:pt x="399689" y="25556"/>
                </a:moveTo>
                <a:lnTo>
                  <a:pt x="495117" y="641444"/>
                </a:lnTo>
                <a:cubicBezTo>
                  <a:pt x="369225" y="660767"/>
                  <a:pt x="238575" y="634796"/>
                  <a:pt x="141692" y="571189"/>
                </a:cubicBezTo>
                <a:cubicBezTo>
                  <a:pt x="-6807" y="473695"/>
                  <a:pt x="-43263" y="310698"/>
                  <a:pt x="54619" y="181888"/>
                </a:cubicBezTo>
                <a:cubicBezTo>
                  <a:pt x="125846" y="88155"/>
                  <a:pt x="256466" y="28979"/>
                  <a:pt x="399689" y="25556"/>
                </a:cubicBezTo>
                <a:close/>
                <a:moveTo>
                  <a:pt x="412768" y="0"/>
                </a:moveTo>
                <a:lnTo>
                  <a:pt x="1111268" y="0"/>
                </a:lnTo>
                <a:lnTo>
                  <a:pt x="1027492" y="624514"/>
                </a:lnTo>
                <a:lnTo>
                  <a:pt x="1113296" y="25618"/>
                </a:lnTo>
                <a:cubicBezTo>
                  <a:pt x="1250991" y="29692"/>
                  <a:pt x="1375971" y="90363"/>
                  <a:pt x="1442825" y="185586"/>
                </a:cubicBezTo>
                <a:cubicBezTo>
                  <a:pt x="1530110" y="309910"/>
                  <a:pt x="1499660" y="465181"/>
                  <a:pt x="1368851" y="562791"/>
                </a:cubicBezTo>
                <a:cubicBezTo>
                  <a:pt x="1299952" y="614204"/>
                  <a:pt x="1210776" y="643674"/>
                  <a:pt x="1118133" y="647320"/>
                </a:cubicBezTo>
                <a:lnTo>
                  <a:pt x="1025117" y="642222"/>
                </a:lnTo>
                <a:lnTo>
                  <a:pt x="971568" y="1041400"/>
                </a:lnTo>
                <a:lnTo>
                  <a:pt x="825518" y="1041400"/>
                </a:lnTo>
                <a:lnTo>
                  <a:pt x="825518" y="1219200"/>
                </a:lnTo>
                <a:lnTo>
                  <a:pt x="1003318" y="1219200"/>
                </a:lnTo>
                <a:cubicBezTo>
                  <a:pt x="1062937" y="1219200"/>
                  <a:pt x="1111268" y="1267531"/>
                  <a:pt x="1111268" y="1327150"/>
                </a:cubicBezTo>
                <a:cubicBezTo>
                  <a:pt x="1111268" y="1386769"/>
                  <a:pt x="1062937" y="1435100"/>
                  <a:pt x="1003318" y="1435100"/>
                </a:cubicBezTo>
                <a:lnTo>
                  <a:pt x="520718" y="1435100"/>
                </a:lnTo>
                <a:cubicBezTo>
                  <a:pt x="461099" y="1435100"/>
                  <a:pt x="412768" y="1386769"/>
                  <a:pt x="412768" y="1327150"/>
                </a:cubicBezTo>
                <a:cubicBezTo>
                  <a:pt x="412768" y="1267531"/>
                  <a:pt x="461099" y="1219200"/>
                  <a:pt x="520718" y="1219200"/>
                </a:cubicBezTo>
                <a:lnTo>
                  <a:pt x="704868" y="1219200"/>
                </a:lnTo>
                <a:lnTo>
                  <a:pt x="704868" y="1041400"/>
                </a:lnTo>
                <a:lnTo>
                  <a:pt x="552468" y="1041400"/>
                </a:lnTo>
                <a:close/>
              </a:path>
            </a:pathLst>
          </a:cu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728105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4082</TotalTime>
  <Words>953</Words>
  <Application>Microsoft Office PowerPoint</Application>
  <PresentationFormat>Grand écran</PresentationFormat>
  <Paragraphs>231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7" baseType="lpstr">
      <vt:lpstr>Aptos</vt:lpstr>
      <vt:lpstr>Aptos Display</vt:lpstr>
      <vt:lpstr>Arial</vt:lpstr>
      <vt:lpstr>Arial Rounded MT Bold</vt:lpstr>
      <vt:lpstr>Calibri</vt:lpstr>
      <vt:lpstr>Roboto</vt:lpstr>
      <vt:lpstr>Wingdings</vt:lpstr>
      <vt:lpstr>Thème Office</vt:lpstr>
      <vt:lpstr>Fraud Data Analyst</vt:lpstr>
      <vt:lpstr> Contexte</vt:lpstr>
      <vt:lpstr>Données d’entrées du challenge :</vt:lpstr>
      <vt:lpstr>Analyse du jeu d’entrainement</vt:lpstr>
      <vt:lpstr> Mise en place de features focus « Panier » :</vt:lpstr>
      <vt:lpstr> Néanmoins il existe des catégories à risque :</vt:lpstr>
      <vt:lpstr>Nettoyage des données et mise en place des jeux de test</vt:lpstr>
      <vt:lpstr> Modèle d’apprentissage supervisé : LightGBM</vt:lpstr>
      <vt:lpstr> Calcul du PR-AUC et contrôle de stabilité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Romain RAMAT</dc:creator>
  <cp:lastModifiedBy>Romain RAMAT</cp:lastModifiedBy>
  <cp:revision>16</cp:revision>
  <dcterms:created xsi:type="dcterms:W3CDTF">2026-01-31T15:21:44Z</dcterms:created>
  <dcterms:modified xsi:type="dcterms:W3CDTF">2026-02-08T00:08:22Z</dcterms:modified>
</cp:coreProperties>
</file>