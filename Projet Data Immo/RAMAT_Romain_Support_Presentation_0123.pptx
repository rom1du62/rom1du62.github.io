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1"/>
  </p:sldMasterIdLst>
  <p:notesMasterIdLst>
    <p:notesMasterId r:id="rId14"/>
  </p:notesMasterIdLst>
  <p:sldIdLst>
    <p:sldId id="256" r:id="rId2"/>
    <p:sldId id="261" r:id="rId3"/>
    <p:sldId id="259" r:id="rId4"/>
    <p:sldId id="257" r:id="rId5"/>
    <p:sldId id="258" r:id="rId6"/>
    <p:sldId id="267" r:id="rId7"/>
    <p:sldId id="260" r:id="rId8"/>
    <p:sldId id="265" r:id="rId9"/>
    <p:sldId id="266" r:id="rId10"/>
    <p:sldId id="263" r:id="rId11"/>
    <p:sldId id="264" r:id="rId12"/>
    <p:sldId id="262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50"/>
    <p:restoredTop sz="94692"/>
  </p:normalViewPr>
  <p:slideViewPr>
    <p:cSldViewPr snapToGrid="0">
      <p:cViewPr>
        <p:scale>
          <a:sx n="134" d="100"/>
          <a:sy n="134" d="100"/>
        </p:scale>
        <p:origin x="496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63AD17-3D19-4293-B669-5E63F2D0C211}" type="doc">
      <dgm:prSet loTypeId="urn:microsoft.com/office/officeart/2005/8/layout/vProcess5" loCatId="process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04D8BE9E-3552-412C-93C8-EBE44A7C5104}">
      <dgm:prSet/>
      <dgm:spPr/>
      <dgm:t>
        <a:bodyPr/>
        <a:lstStyle/>
        <a:p>
          <a:r>
            <a:rPr lang="fr-FR" dirty="0"/>
            <a:t>SELECT COUNT(*) FROM Bien </a:t>
          </a:r>
          <a:r>
            <a:rPr lang="fr-FR" dirty="0">
              <a:sym typeface="Wingdings" panose="05000000000000000000" pitchFamily="2" charset="2"/>
            </a:rPr>
            <a:t></a:t>
          </a:r>
          <a:r>
            <a:rPr lang="fr-FR" dirty="0"/>
            <a:t> 34169</a:t>
          </a:r>
          <a:endParaRPr lang="en-US" dirty="0"/>
        </a:p>
      </dgm:t>
    </dgm:pt>
    <dgm:pt modelId="{65A82500-5C42-4639-A1A7-6148865CB793}" type="parTrans" cxnId="{B4940064-8765-40C8-AE43-DE0A75CC0745}">
      <dgm:prSet/>
      <dgm:spPr/>
      <dgm:t>
        <a:bodyPr/>
        <a:lstStyle/>
        <a:p>
          <a:endParaRPr lang="en-US"/>
        </a:p>
      </dgm:t>
    </dgm:pt>
    <dgm:pt modelId="{579BB010-3D24-4BFC-A17F-452C3A830881}" type="sibTrans" cxnId="{B4940064-8765-40C8-AE43-DE0A75CC0745}">
      <dgm:prSet/>
      <dgm:spPr/>
      <dgm:t>
        <a:bodyPr/>
        <a:lstStyle/>
        <a:p>
          <a:endParaRPr lang="en-US"/>
        </a:p>
      </dgm:t>
    </dgm:pt>
    <dgm:pt modelId="{0E7AB114-01A2-4251-9009-C4C9AFB077CF}">
      <dgm:prSet/>
      <dgm:spPr/>
      <dgm:t>
        <a:bodyPr/>
        <a:lstStyle/>
        <a:p>
          <a:r>
            <a:rPr lang="fr-FR" dirty="0"/>
            <a:t>SELECT COUNT(*) FROM Vente </a:t>
          </a:r>
          <a:r>
            <a:rPr lang="fr-FR" dirty="0">
              <a:sym typeface="Wingdings" panose="05000000000000000000" pitchFamily="2" charset="2"/>
            </a:rPr>
            <a:t></a:t>
          </a:r>
          <a:r>
            <a:rPr lang="fr-FR" dirty="0"/>
            <a:t> 34169</a:t>
          </a:r>
          <a:endParaRPr lang="en-US" dirty="0"/>
        </a:p>
      </dgm:t>
    </dgm:pt>
    <dgm:pt modelId="{9BE6BE34-FACB-41B8-A93F-774955A7ADF3}" type="parTrans" cxnId="{879091BF-EA84-4EF9-A369-E77016F1580D}">
      <dgm:prSet/>
      <dgm:spPr/>
      <dgm:t>
        <a:bodyPr/>
        <a:lstStyle/>
        <a:p>
          <a:endParaRPr lang="en-US"/>
        </a:p>
      </dgm:t>
    </dgm:pt>
    <dgm:pt modelId="{3D7296E9-548B-4D1E-AAAD-E78B5E2A9906}" type="sibTrans" cxnId="{879091BF-EA84-4EF9-A369-E77016F1580D}">
      <dgm:prSet/>
      <dgm:spPr/>
      <dgm:t>
        <a:bodyPr/>
        <a:lstStyle/>
        <a:p>
          <a:endParaRPr lang="en-US"/>
        </a:p>
      </dgm:t>
    </dgm:pt>
    <dgm:pt modelId="{B8A710B0-0716-41CD-8312-33D61D3AF595}">
      <dgm:prSet/>
      <dgm:spPr/>
      <dgm:t>
        <a:bodyPr/>
        <a:lstStyle/>
        <a:p>
          <a:r>
            <a:rPr lang="fr-FR" dirty="0"/>
            <a:t>SELECT COUNT(*) FROM Commune </a:t>
          </a:r>
          <a:r>
            <a:rPr lang="fr-FR" dirty="0">
              <a:sym typeface="Wingdings" panose="05000000000000000000" pitchFamily="2" charset="2"/>
            </a:rPr>
            <a:t></a:t>
          </a:r>
          <a:r>
            <a:rPr lang="fr-FR" dirty="0"/>
            <a:t> 34991</a:t>
          </a:r>
          <a:endParaRPr lang="en-US" dirty="0"/>
        </a:p>
      </dgm:t>
    </dgm:pt>
    <dgm:pt modelId="{A543F34F-6107-420E-A93C-989EC976B896}" type="parTrans" cxnId="{6E2999FB-D6B8-426D-A4AD-4269A3B43932}">
      <dgm:prSet/>
      <dgm:spPr/>
      <dgm:t>
        <a:bodyPr/>
        <a:lstStyle/>
        <a:p>
          <a:endParaRPr lang="en-US"/>
        </a:p>
      </dgm:t>
    </dgm:pt>
    <dgm:pt modelId="{ADE2573C-752E-4F45-80EB-714A596F06CC}" type="sibTrans" cxnId="{6E2999FB-D6B8-426D-A4AD-4269A3B43932}">
      <dgm:prSet/>
      <dgm:spPr/>
      <dgm:t>
        <a:bodyPr/>
        <a:lstStyle/>
        <a:p>
          <a:endParaRPr lang="en-US"/>
        </a:p>
      </dgm:t>
    </dgm:pt>
    <dgm:pt modelId="{6DD12FD2-ECDF-4AC5-A116-0E75F8A162DB}">
      <dgm:prSet/>
      <dgm:spPr/>
      <dgm:t>
        <a:bodyPr/>
        <a:lstStyle/>
        <a:p>
          <a:r>
            <a:rPr lang="fr-FR" dirty="0"/>
            <a:t>SELECT COUNT(*) FROM </a:t>
          </a:r>
          <a:r>
            <a:rPr lang="fr-FR" dirty="0" err="1"/>
            <a:t>Region</a:t>
          </a:r>
          <a:r>
            <a:rPr lang="fr-FR" dirty="0"/>
            <a:t> </a:t>
          </a:r>
          <a:r>
            <a:rPr lang="fr-FR" dirty="0">
              <a:sym typeface="Wingdings" panose="05000000000000000000" pitchFamily="2" charset="2"/>
            </a:rPr>
            <a:t></a:t>
          </a:r>
          <a:r>
            <a:rPr lang="fr-FR" dirty="0"/>
            <a:t> 19</a:t>
          </a:r>
          <a:endParaRPr lang="en-US" dirty="0"/>
        </a:p>
      </dgm:t>
    </dgm:pt>
    <dgm:pt modelId="{FF3F928F-5D63-4507-B70D-D1A6E994098A}" type="parTrans" cxnId="{F038FB0B-385C-4C67-BDEC-052E2943E9BD}">
      <dgm:prSet/>
      <dgm:spPr/>
      <dgm:t>
        <a:bodyPr/>
        <a:lstStyle/>
        <a:p>
          <a:endParaRPr lang="en-US"/>
        </a:p>
      </dgm:t>
    </dgm:pt>
    <dgm:pt modelId="{6FB64C06-FCA1-4AC4-930E-38952F609DC1}" type="sibTrans" cxnId="{F038FB0B-385C-4C67-BDEC-052E2943E9BD}">
      <dgm:prSet/>
      <dgm:spPr/>
      <dgm:t>
        <a:bodyPr/>
        <a:lstStyle/>
        <a:p>
          <a:endParaRPr lang="en-US"/>
        </a:p>
      </dgm:t>
    </dgm:pt>
    <dgm:pt modelId="{296D90C8-821B-684E-9DE9-A6F59C35B021}" type="pres">
      <dgm:prSet presAssocID="{2863AD17-3D19-4293-B669-5E63F2D0C211}" presName="outerComposite" presStyleCnt="0">
        <dgm:presLayoutVars>
          <dgm:chMax val="5"/>
          <dgm:dir/>
          <dgm:resizeHandles val="exact"/>
        </dgm:presLayoutVars>
      </dgm:prSet>
      <dgm:spPr/>
    </dgm:pt>
    <dgm:pt modelId="{AF9DFA22-173C-AC4E-BC44-D4707FD5A84E}" type="pres">
      <dgm:prSet presAssocID="{2863AD17-3D19-4293-B669-5E63F2D0C211}" presName="dummyMaxCanvas" presStyleCnt="0">
        <dgm:presLayoutVars/>
      </dgm:prSet>
      <dgm:spPr/>
    </dgm:pt>
    <dgm:pt modelId="{D43C1081-44BC-FD42-A927-B442560083F0}" type="pres">
      <dgm:prSet presAssocID="{2863AD17-3D19-4293-B669-5E63F2D0C211}" presName="FourNodes_1" presStyleLbl="node1" presStyleIdx="0" presStyleCnt="4">
        <dgm:presLayoutVars>
          <dgm:bulletEnabled val="1"/>
        </dgm:presLayoutVars>
      </dgm:prSet>
      <dgm:spPr/>
    </dgm:pt>
    <dgm:pt modelId="{0B97F199-419E-FB41-A6F5-74F392F6C4BF}" type="pres">
      <dgm:prSet presAssocID="{2863AD17-3D19-4293-B669-5E63F2D0C211}" presName="FourNodes_2" presStyleLbl="node1" presStyleIdx="1" presStyleCnt="4">
        <dgm:presLayoutVars>
          <dgm:bulletEnabled val="1"/>
        </dgm:presLayoutVars>
      </dgm:prSet>
      <dgm:spPr/>
    </dgm:pt>
    <dgm:pt modelId="{881508EF-F5F0-1A47-B7EE-4669F3CDE954}" type="pres">
      <dgm:prSet presAssocID="{2863AD17-3D19-4293-B669-5E63F2D0C211}" presName="FourNodes_3" presStyleLbl="node1" presStyleIdx="2" presStyleCnt="4">
        <dgm:presLayoutVars>
          <dgm:bulletEnabled val="1"/>
        </dgm:presLayoutVars>
      </dgm:prSet>
      <dgm:spPr/>
    </dgm:pt>
    <dgm:pt modelId="{92A640FF-0B8C-1B4F-BDDE-13A6C13E1E47}" type="pres">
      <dgm:prSet presAssocID="{2863AD17-3D19-4293-B669-5E63F2D0C211}" presName="FourNodes_4" presStyleLbl="node1" presStyleIdx="3" presStyleCnt="4">
        <dgm:presLayoutVars>
          <dgm:bulletEnabled val="1"/>
        </dgm:presLayoutVars>
      </dgm:prSet>
      <dgm:spPr/>
    </dgm:pt>
    <dgm:pt modelId="{19311D29-357F-EA45-A356-AA7141899ED3}" type="pres">
      <dgm:prSet presAssocID="{2863AD17-3D19-4293-B669-5E63F2D0C211}" presName="FourConn_1-2" presStyleLbl="fgAccFollowNode1" presStyleIdx="0" presStyleCnt="3">
        <dgm:presLayoutVars>
          <dgm:bulletEnabled val="1"/>
        </dgm:presLayoutVars>
      </dgm:prSet>
      <dgm:spPr/>
    </dgm:pt>
    <dgm:pt modelId="{C5C9FB91-889E-2E44-B794-EB2874430F2F}" type="pres">
      <dgm:prSet presAssocID="{2863AD17-3D19-4293-B669-5E63F2D0C211}" presName="FourConn_2-3" presStyleLbl="fgAccFollowNode1" presStyleIdx="1" presStyleCnt="3">
        <dgm:presLayoutVars>
          <dgm:bulletEnabled val="1"/>
        </dgm:presLayoutVars>
      </dgm:prSet>
      <dgm:spPr/>
    </dgm:pt>
    <dgm:pt modelId="{EDDD6C2D-F9CA-834C-93E1-08347CDC2606}" type="pres">
      <dgm:prSet presAssocID="{2863AD17-3D19-4293-B669-5E63F2D0C211}" presName="FourConn_3-4" presStyleLbl="fgAccFollowNode1" presStyleIdx="2" presStyleCnt="3">
        <dgm:presLayoutVars>
          <dgm:bulletEnabled val="1"/>
        </dgm:presLayoutVars>
      </dgm:prSet>
      <dgm:spPr/>
    </dgm:pt>
    <dgm:pt modelId="{1674B7C3-2A52-CE44-B340-BD230E3D3FAD}" type="pres">
      <dgm:prSet presAssocID="{2863AD17-3D19-4293-B669-5E63F2D0C211}" presName="FourNodes_1_text" presStyleLbl="node1" presStyleIdx="3" presStyleCnt="4">
        <dgm:presLayoutVars>
          <dgm:bulletEnabled val="1"/>
        </dgm:presLayoutVars>
      </dgm:prSet>
      <dgm:spPr/>
    </dgm:pt>
    <dgm:pt modelId="{13559810-0EBB-8841-B332-CB05A7BCBD4E}" type="pres">
      <dgm:prSet presAssocID="{2863AD17-3D19-4293-B669-5E63F2D0C211}" presName="FourNodes_2_text" presStyleLbl="node1" presStyleIdx="3" presStyleCnt="4">
        <dgm:presLayoutVars>
          <dgm:bulletEnabled val="1"/>
        </dgm:presLayoutVars>
      </dgm:prSet>
      <dgm:spPr/>
    </dgm:pt>
    <dgm:pt modelId="{E436BC2E-E57D-3245-946E-61EBEF3239D7}" type="pres">
      <dgm:prSet presAssocID="{2863AD17-3D19-4293-B669-5E63F2D0C211}" presName="FourNodes_3_text" presStyleLbl="node1" presStyleIdx="3" presStyleCnt="4">
        <dgm:presLayoutVars>
          <dgm:bulletEnabled val="1"/>
        </dgm:presLayoutVars>
      </dgm:prSet>
      <dgm:spPr/>
    </dgm:pt>
    <dgm:pt modelId="{07AF9F9C-2212-4040-8559-94282C6E8BD4}" type="pres">
      <dgm:prSet presAssocID="{2863AD17-3D19-4293-B669-5E63F2D0C211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F038FB0B-385C-4C67-BDEC-052E2943E9BD}" srcId="{2863AD17-3D19-4293-B669-5E63F2D0C211}" destId="{6DD12FD2-ECDF-4AC5-A116-0E75F8A162DB}" srcOrd="3" destOrd="0" parTransId="{FF3F928F-5D63-4507-B70D-D1A6E994098A}" sibTransId="{6FB64C06-FCA1-4AC4-930E-38952F609DC1}"/>
    <dgm:cxn modelId="{72C4CA15-8EBE-0F41-8C41-FA267604A664}" type="presOf" srcId="{B8A710B0-0716-41CD-8312-33D61D3AF595}" destId="{E436BC2E-E57D-3245-946E-61EBEF3239D7}" srcOrd="1" destOrd="0" presId="urn:microsoft.com/office/officeart/2005/8/layout/vProcess5"/>
    <dgm:cxn modelId="{811A1318-8DAC-0845-82A7-EE8E9AEE1356}" type="presOf" srcId="{ADE2573C-752E-4F45-80EB-714A596F06CC}" destId="{EDDD6C2D-F9CA-834C-93E1-08347CDC2606}" srcOrd="0" destOrd="0" presId="urn:microsoft.com/office/officeart/2005/8/layout/vProcess5"/>
    <dgm:cxn modelId="{3D0BEE54-C714-2840-9116-8593398283B1}" type="presOf" srcId="{3D7296E9-548B-4D1E-AAAD-E78B5E2A9906}" destId="{C5C9FB91-889E-2E44-B794-EB2874430F2F}" srcOrd="0" destOrd="0" presId="urn:microsoft.com/office/officeart/2005/8/layout/vProcess5"/>
    <dgm:cxn modelId="{B4940064-8765-40C8-AE43-DE0A75CC0745}" srcId="{2863AD17-3D19-4293-B669-5E63F2D0C211}" destId="{04D8BE9E-3552-412C-93C8-EBE44A7C5104}" srcOrd="0" destOrd="0" parTransId="{65A82500-5C42-4639-A1A7-6148865CB793}" sibTransId="{579BB010-3D24-4BFC-A17F-452C3A830881}"/>
    <dgm:cxn modelId="{32A5327C-D3AC-B841-A3C4-E757B3C7F49D}" type="presOf" srcId="{2863AD17-3D19-4293-B669-5E63F2D0C211}" destId="{296D90C8-821B-684E-9DE9-A6F59C35B021}" srcOrd="0" destOrd="0" presId="urn:microsoft.com/office/officeart/2005/8/layout/vProcess5"/>
    <dgm:cxn modelId="{D3052197-8E92-254C-913C-07E6E602D671}" type="presOf" srcId="{579BB010-3D24-4BFC-A17F-452C3A830881}" destId="{19311D29-357F-EA45-A356-AA7141899ED3}" srcOrd="0" destOrd="0" presId="urn:microsoft.com/office/officeart/2005/8/layout/vProcess5"/>
    <dgm:cxn modelId="{6C4DD9B1-8A4D-C540-B474-D50DBF318AEC}" type="presOf" srcId="{6DD12FD2-ECDF-4AC5-A116-0E75F8A162DB}" destId="{92A640FF-0B8C-1B4F-BDDE-13A6C13E1E47}" srcOrd="0" destOrd="0" presId="urn:microsoft.com/office/officeart/2005/8/layout/vProcess5"/>
    <dgm:cxn modelId="{CBC83ABF-DEDB-7F45-9D7B-FF7B14371B34}" type="presOf" srcId="{04D8BE9E-3552-412C-93C8-EBE44A7C5104}" destId="{1674B7C3-2A52-CE44-B340-BD230E3D3FAD}" srcOrd="1" destOrd="0" presId="urn:microsoft.com/office/officeart/2005/8/layout/vProcess5"/>
    <dgm:cxn modelId="{879091BF-EA84-4EF9-A369-E77016F1580D}" srcId="{2863AD17-3D19-4293-B669-5E63F2D0C211}" destId="{0E7AB114-01A2-4251-9009-C4C9AFB077CF}" srcOrd="1" destOrd="0" parTransId="{9BE6BE34-FACB-41B8-A93F-774955A7ADF3}" sibTransId="{3D7296E9-548B-4D1E-AAAD-E78B5E2A9906}"/>
    <dgm:cxn modelId="{4BD646D1-F346-614F-B701-58AA2338B73B}" type="presOf" srcId="{6DD12FD2-ECDF-4AC5-A116-0E75F8A162DB}" destId="{07AF9F9C-2212-4040-8559-94282C6E8BD4}" srcOrd="1" destOrd="0" presId="urn:microsoft.com/office/officeart/2005/8/layout/vProcess5"/>
    <dgm:cxn modelId="{458E62D1-D238-4F41-ADA7-7F3C65789100}" type="presOf" srcId="{0E7AB114-01A2-4251-9009-C4C9AFB077CF}" destId="{13559810-0EBB-8841-B332-CB05A7BCBD4E}" srcOrd="1" destOrd="0" presId="urn:microsoft.com/office/officeart/2005/8/layout/vProcess5"/>
    <dgm:cxn modelId="{2F7C2EF3-8909-1F4A-A92D-11BB7D78446A}" type="presOf" srcId="{B8A710B0-0716-41CD-8312-33D61D3AF595}" destId="{881508EF-F5F0-1A47-B7EE-4669F3CDE954}" srcOrd="0" destOrd="0" presId="urn:microsoft.com/office/officeart/2005/8/layout/vProcess5"/>
    <dgm:cxn modelId="{693198F8-E356-C34E-903D-ECDA7CEA75B7}" type="presOf" srcId="{0E7AB114-01A2-4251-9009-C4C9AFB077CF}" destId="{0B97F199-419E-FB41-A6F5-74F392F6C4BF}" srcOrd="0" destOrd="0" presId="urn:microsoft.com/office/officeart/2005/8/layout/vProcess5"/>
    <dgm:cxn modelId="{8D7FDFF8-4EA5-8246-A1C4-B9AB467A08FA}" type="presOf" srcId="{04D8BE9E-3552-412C-93C8-EBE44A7C5104}" destId="{D43C1081-44BC-FD42-A927-B442560083F0}" srcOrd="0" destOrd="0" presId="urn:microsoft.com/office/officeart/2005/8/layout/vProcess5"/>
    <dgm:cxn modelId="{6E2999FB-D6B8-426D-A4AD-4269A3B43932}" srcId="{2863AD17-3D19-4293-B669-5E63F2D0C211}" destId="{B8A710B0-0716-41CD-8312-33D61D3AF595}" srcOrd="2" destOrd="0" parTransId="{A543F34F-6107-420E-A93C-989EC976B896}" sibTransId="{ADE2573C-752E-4F45-80EB-714A596F06CC}"/>
    <dgm:cxn modelId="{D8D38439-E627-E64A-B41E-33FEF07846D6}" type="presParOf" srcId="{296D90C8-821B-684E-9DE9-A6F59C35B021}" destId="{AF9DFA22-173C-AC4E-BC44-D4707FD5A84E}" srcOrd="0" destOrd="0" presId="urn:microsoft.com/office/officeart/2005/8/layout/vProcess5"/>
    <dgm:cxn modelId="{CD7CC497-2E1E-DB41-97B0-29041E675F8E}" type="presParOf" srcId="{296D90C8-821B-684E-9DE9-A6F59C35B021}" destId="{D43C1081-44BC-FD42-A927-B442560083F0}" srcOrd="1" destOrd="0" presId="urn:microsoft.com/office/officeart/2005/8/layout/vProcess5"/>
    <dgm:cxn modelId="{D9494656-A25C-424B-A67E-2BC0F1F58263}" type="presParOf" srcId="{296D90C8-821B-684E-9DE9-A6F59C35B021}" destId="{0B97F199-419E-FB41-A6F5-74F392F6C4BF}" srcOrd="2" destOrd="0" presId="urn:microsoft.com/office/officeart/2005/8/layout/vProcess5"/>
    <dgm:cxn modelId="{218A65A1-6D69-A542-9B76-FEDBDC1AAF82}" type="presParOf" srcId="{296D90C8-821B-684E-9DE9-A6F59C35B021}" destId="{881508EF-F5F0-1A47-B7EE-4669F3CDE954}" srcOrd="3" destOrd="0" presId="urn:microsoft.com/office/officeart/2005/8/layout/vProcess5"/>
    <dgm:cxn modelId="{9D00B9DE-D36F-594D-AC1D-213817D85C27}" type="presParOf" srcId="{296D90C8-821B-684E-9DE9-A6F59C35B021}" destId="{92A640FF-0B8C-1B4F-BDDE-13A6C13E1E47}" srcOrd="4" destOrd="0" presId="urn:microsoft.com/office/officeart/2005/8/layout/vProcess5"/>
    <dgm:cxn modelId="{76E8A476-2AF4-994B-97E6-2288599FA7C2}" type="presParOf" srcId="{296D90C8-821B-684E-9DE9-A6F59C35B021}" destId="{19311D29-357F-EA45-A356-AA7141899ED3}" srcOrd="5" destOrd="0" presId="urn:microsoft.com/office/officeart/2005/8/layout/vProcess5"/>
    <dgm:cxn modelId="{EA82706A-2C30-844F-BA69-BCCD760480EE}" type="presParOf" srcId="{296D90C8-821B-684E-9DE9-A6F59C35B021}" destId="{C5C9FB91-889E-2E44-B794-EB2874430F2F}" srcOrd="6" destOrd="0" presId="urn:microsoft.com/office/officeart/2005/8/layout/vProcess5"/>
    <dgm:cxn modelId="{CF9FAD95-3C70-084F-A074-C02C35C7BE3A}" type="presParOf" srcId="{296D90C8-821B-684E-9DE9-A6F59C35B021}" destId="{EDDD6C2D-F9CA-834C-93E1-08347CDC2606}" srcOrd="7" destOrd="0" presId="urn:microsoft.com/office/officeart/2005/8/layout/vProcess5"/>
    <dgm:cxn modelId="{68BAD40D-3493-5B41-8BD5-9133D45C830F}" type="presParOf" srcId="{296D90C8-821B-684E-9DE9-A6F59C35B021}" destId="{1674B7C3-2A52-CE44-B340-BD230E3D3FAD}" srcOrd="8" destOrd="0" presId="urn:microsoft.com/office/officeart/2005/8/layout/vProcess5"/>
    <dgm:cxn modelId="{568EED76-ECDC-A747-BFAD-FD43710C9B3B}" type="presParOf" srcId="{296D90C8-821B-684E-9DE9-A6F59C35B021}" destId="{13559810-0EBB-8841-B332-CB05A7BCBD4E}" srcOrd="9" destOrd="0" presId="urn:microsoft.com/office/officeart/2005/8/layout/vProcess5"/>
    <dgm:cxn modelId="{D3A35A22-2684-724F-B45A-DC7C11C6A2EF}" type="presParOf" srcId="{296D90C8-821B-684E-9DE9-A6F59C35B021}" destId="{E436BC2E-E57D-3245-946E-61EBEF3239D7}" srcOrd="10" destOrd="0" presId="urn:microsoft.com/office/officeart/2005/8/layout/vProcess5"/>
    <dgm:cxn modelId="{587017A9-5E2C-C244-847C-CA28E6F5FF3D}" type="presParOf" srcId="{296D90C8-821B-684E-9DE9-A6F59C35B021}" destId="{07AF9F9C-2212-4040-8559-94282C6E8BD4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3C1081-44BC-FD42-A927-B442560083F0}">
      <dsp:nvSpPr>
        <dsp:cNvPr id="0" name=""/>
        <dsp:cNvSpPr/>
      </dsp:nvSpPr>
      <dsp:spPr>
        <a:xfrm>
          <a:off x="0" y="0"/>
          <a:ext cx="5031572" cy="113232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900" kern="1200" dirty="0"/>
            <a:t>SELECT COUNT(*) FROM Bien </a:t>
          </a:r>
          <a:r>
            <a:rPr lang="fr-FR" sz="2900" kern="1200" dirty="0">
              <a:sym typeface="Wingdings" panose="05000000000000000000" pitchFamily="2" charset="2"/>
            </a:rPr>
            <a:t></a:t>
          </a:r>
          <a:r>
            <a:rPr lang="fr-FR" sz="2900" kern="1200" dirty="0"/>
            <a:t> 34169</a:t>
          </a:r>
          <a:endParaRPr lang="en-US" sz="2900" kern="1200" dirty="0"/>
        </a:p>
      </dsp:txBody>
      <dsp:txXfrm>
        <a:off x="33165" y="33165"/>
        <a:ext cx="3714026" cy="1065992"/>
      </dsp:txXfrm>
    </dsp:sp>
    <dsp:sp modelId="{0B97F199-419E-FB41-A6F5-74F392F6C4BF}">
      <dsp:nvSpPr>
        <dsp:cNvPr id="0" name=""/>
        <dsp:cNvSpPr/>
      </dsp:nvSpPr>
      <dsp:spPr>
        <a:xfrm>
          <a:off x="421394" y="1338199"/>
          <a:ext cx="5031572" cy="113232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900" kern="1200" dirty="0"/>
            <a:t>SELECT COUNT(*) FROM Vente </a:t>
          </a:r>
          <a:r>
            <a:rPr lang="fr-FR" sz="2900" kern="1200" dirty="0">
              <a:sym typeface="Wingdings" panose="05000000000000000000" pitchFamily="2" charset="2"/>
            </a:rPr>
            <a:t></a:t>
          </a:r>
          <a:r>
            <a:rPr lang="fr-FR" sz="2900" kern="1200" dirty="0"/>
            <a:t> 34169</a:t>
          </a:r>
          <a:endParaRPr lang="en-US" sz="2900" kern="1200" dirty="0"/>
        </a:p>
      </dsp:txBody>
      <dsp:txXfrm>
        <a:off x="454559" y="1371364"/>
        <a:ext cx="3807838" cy="1065992"/>
      </dsp:txXfrm>
    </dsp:sp>
    <dsp:sp modelId="{881508EF-F5F0-1A47-B7EE-4669F3CDE954}">
      <dsp:nvSpPr>
        <dsp:cNvPr id="0" name=""/>
        <dsp:cNvSpPr/>
      </dsp:nvSpPr>
      <dsp:spPr>
        <a:xfrm>
          <a:off x="836498" y="2676399"/>
          <a:ext cx="5031572" cy="113232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900" kern="1200" dirty="0"/>
            <a:t>SELECT COUNT(*) FROM Commune </a:t>
          </a:r>
          <a:r>
            <a:rPr lang="fr-FR" sz="2900" kern="1200" dirty="0">
              <a:sym typeface="Wingdings" panose="05000000000000000000" pitchFamily="2" charset="2"/>
            </a:rPr>
            <a:t></a:t>
          </a:r>
          <a:r>
            <a:rPr lang="fr-FR" sz="2900" kern="1200" dirty="0"/>
            <a:t> 34991</a:t>
          </a:r>
          <a:endParaRPr lang="en-US" sz="2900" kern="1200" dirty="0"/>
        </a:p>
      </dsp:txBody>
      <dsp:txXfrm>
        <a:off x="869663" y="2709564"/>
        <a:ext cx="3814128" cy="1065992"/>
      </dsp:txXfrm>
    </dsp:sp>
    <dsp:sp modelId="{92A640FF-0B8C-1B4F-BDDE-13A6C13E1E47}">
      <dsp:nvSpPr>
        <dsp:cNvPr id="0" name=""/>
        <dsp:cNvSpPr/>
      </dsp:nvSpPr>
      <dsp:spPr>
        <a:xfrm>
          <a:off x="1257893" y="4014599"/>
          <a:ext cx="5031572" cy="113232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900" kern="1200" dirty="0"/>
            <a:t>SELECT COUNT(*) FROM </a:t>
          </a:r>
          <a:r>
            <a:rPr lang="fr-FR" sz="2900" kern="1200" dirty="0" err="1"/>
            <a:t>Region</a:t>
          </a:r>
          <a:r>
            <a:rPr lang="fr-FR" sz="2900" kern="1200" dirty="0"/>
            <a:t> </a:t>
          </a:r>
          <a:r>
            <a:rPr lang="fr-FR" sz="2900" kern="1200" dirty="0">
              <a:sym typeface="Wingdings" panose="05000000000000000000" pitchFamily="2" charset="2"/>
            </a:rPr>
            <a:t></a:t>
          </a:r>
          <a:r>
            <a:rPr lang="fr-FR" sz="2900" kern="1200" dirty="0"/>
            <a:t> 19</a:t>
          </a:r>
          <a:endParaRPr lang="en-US" sz="2900" kern="1200" dirty="0"/>
        </a:p>
      </dsp:txBody>
      <dsp:txXfrm>
        <a:off x="1291058" y="4047764"/>
        <a:ext cx="3807838" cy="1065992"/>
      </dsp:txXfrm>
    </dsp:sp>
    <dsp:sp modelId="{19311D29-357F-EA45-A356-AA7141899ED3}">
      <dsp:nvSpPr>
        <dsp:cNvPr id="0" name=""/>
        <dsp:cNvSpPr/>
      </dsp:nvSpPr>
      <dsp:spPr>
        <a:xfrm>
          <a:off x="4295562" y="867256"/>
          <a:ext cx="736009" cy="736009"/>
        </a:xfrm>
        <a:prstGeom prst="downArrow">
          <a:avLst>
            <a:gd name="adj1" fmla="val 55000"/>
            <a:gd name="adj2" fmla="val 45000"/>
          </a:avLst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4461164" y="867256"/>
        <a:ext cx="404805" cy="553847"/>
      </dsp:txXfrm>
    </dsp:sp>
    <dsp:sp modelId="{C5C9FB91-889E-2E44-B794-EB2874430F2F}">
      <dsp:nvSpPr>
        <dsp:cNvPr id="0" name=""/>
        <dsp:cNvSpPr/>
      </dsp:nvSpPr>
      <dsp:spPr>
        <a:xfrm>
          <a:off x="4716957" y="2205456"/>
          <a:ext cx="736009" cy="736009"/>
        </a:xfrm>
        <a:prstGeom prst="downArrow">
          <a:avLst>
            <a:gd name="adj1" fmla="val 55000"/>
            <a:gd name="adj2" fmla="val 45000"/>
          </a:avLst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4882559" y="2205456"/>
        <a:ext cx="404805" cy="553847"/>
      </dsp:txXfrm>
    </dsp:sp>
    <dsp:sp modelId="{EDDD6C2D-F9CA-834C-93E1-08347CDC2606}">
      <dsp:nvSpPr>
        <dsp:cNvPr id="0" name=""/>
        <dsp:cNvSpPr/>
      </dsp:nvSpPr>
      <dsp:spPr>
        <a:xfrm>
          <a:off x="5132061" y="3543655"/>
          <a:ext cx="736009" cy="736009"/>
        </a:xfrm>
        <a:prstGeom prst="downArrow">
          <a:avLst>
            <a:gd name="adj1" fmla="val 55000"/>
            <a:gd name="adj2" fmla="val 45000"/>
          </a:avLst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5297663" y="3543655"/>
        <a:ext cx="404805" cy="5538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A00A07-78AA-9E43-97A7-BC66A045949F}" type="datetimeFigureOut">
              <a:rPr lang="fr-FR" smtClean="0"/>
              <a:t>23/01/2025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F20E08-A7F7-3849-B5BB-1518D8D410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0230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F20E08-A7F7-3849-B5BB-1518D8D41051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1561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>
            <a:normAutofit/>
          </a:bodyPr>
          <a:lstStyle>
            <a:lvl1pPr algn="ctr">
              <a:defRPr sz="66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253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1/23/25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613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564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067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i="0" u="none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1/23/25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00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162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1/23/25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046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720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659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641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601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11EAACC7-3B3F-47D1-959A-EF58926E955E}" type="datetimeFigureOut">
              <a:rPr lang="en-US" smtClean="0"/>
              <a:t>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312CC964-A50B-4C29-B4E4-2C30BB34CCF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333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 cap="all" baseline="0">
          <a:solidFill>
            <a:schemeClr val="tx2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A221245A-B93D-45A8-B0FA-EC2AEE26EA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66C93D-5186-8A49-0ED0-BE2B855DFC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20" y="24724"/>
            <a:ext cx="12191979" cy="6857989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A60A95D1-194E-4E4E-8C67-30F91F8E76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90"/>
            <a:ext cx="8521995" cy="6858000"/>
          </a:xfrm>
          <a:prstGeom prst="rect">
            <a:avLst/>
          </a:prstGeom>
          <a:gradFill>
            <a:gsLst>
              <a:gs pos="58000">
                <a:srgbClr val="000000">
                  <a:alpha val="30000"/>
                </a:srgbClr>
              </a:gs>
              <a:gs pos="33000">
                <a:srgbClr val="000000">
                  <a:alpha val="20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000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D6E9D26-4B0F-1FB5-A106-F2178475F9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4900" y="871538"/>
            <a:ext cx="6515100" cy="3202921"/>
          </a:xfrm>
        </p:spPr>
        <p:txBody>
          <a:bodyPr>
            <a:normAutofit/>
          </a:bodyPr>
          <a:lstStyle/>
          <a:p>
            <a:pPr algn="l"/>
            <a:r>
              <a:rPr lang="fr-FR" b="1" i="0">
                <a:solidFill>
                  <a:srgbClr val="FFFFFF"/>
                </a:solidFill>
              </a:rPr>
              <a:t>Projet DATA Immo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B03B9C2-2900-66F2-A1A8-0320D8FDC1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4900" y="4464424"/>
            <a:ext cx="5208493" cy="1057834"/>
          </a:xfrm>
        </p:spPr>
        <p:txBody>
          <a:bodyPr>
            <a:normAutofit/>
          </a:bodyPr>
          <a:lstStyle/>
          <a:p>
            <a:pPr algn="l">
              <a:lnSpc>
                <a:spcPct val="110000"/>
              </a:lnSpc>
            </a:pPr>
            <a:r>
              <a:rPr lang="fr-FR" sz="140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Romain RAMAT </a:t>
            </a:r>
          </a:p>
          <a:p>
            <a:pPr algn="l">
              <a:lnSpc>
                <a:spcPct val="110000"/>
              </a:lnSpc>
            </a:pPr>
            <a:r>
              <a:rPr lang="fr-FR" sz="140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Janvier 2024</a:t>
            </a:r>
          </a:p>
          <a:p>
            <a:pPr algn="l">
              <a:lnSpc>
                <a:spcPct val="110000"/>
              </a:lnSpc>
            </a:pPr>
            <a:r>
              <a:rPr lang="fr-FR" sz="140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LAPLACE IMMO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4C0A835-9AC9-4D0F-A529-BE4789E12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9339206" y="3065930"/>
            <a:ext cx="2852793" cy="379776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CF67ECC-797A-4CA0-87E3-3604664986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0172700" y="0"/>
            <a:ext cx="1358310" cy="68580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1098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4E116138-3B89-BD7D-41BC-14CB8D3FCA8A}"/>
              </a:ext>
            </a:extLst>
          </p:cNvPr>
          <p:cNvGrpSpPr/>
          <p:nvPr/>
        </p:nvGrpSpPr>
        <p:grpSpPr>
          <a:xfrm>
            <a:off x="7541935" y="2405330"/>
            <a:ext cx="3306275" cy="3817648"/>
            <a:chOff x="4946716" y="2353408"/>
            <a:chExt cx="3306275" cy="3817648"/>
          </a:xfrm>
        </p:grpSpPr>
        <p:pic>
          <p:nvPicPr>
            <p:cNvPr id="5" name="Image 4">
              <a:extLst>
                <a:ext uri="{FF2B5EF4-FFF2-40B4-BE49-F238E27FC236}">
                  <a16:creationId xmlns:a16="http://schemas.microsoft.com/office/drawing/2014/main" id="{6E15EA73-D3D8-AED0-E775-440074EF41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46716" y="2353408"/>
              <a:ext cx="3306275" cy="368057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BB85967-6C6E-2F1F-A15E-7259F5FFE8F0}"/>
                </a:ext>
              </a:extLst>
            </p:cNvPr>
            <p:cNvSpPr/>
            <p:nvPr/>
          </p:nvSpPr>
          <p:spPr>
            <a:xfrm>
              <a:off x="6022427" y="5792684"/>
              <a:ext cx="1891862" cy="3783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0F94AB1D-D478-64A0-A3D9-B120B89CE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Contexte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8484A8-455C-798C-5ADC-469B8F514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420" y="1694979"/>
            <a:ext cx="9906000" cy="4024424"/>
          </a:xfrm>
        </p:spPr>
        <p:txBody>
          <a:bodyPr/>
          <a:lstStyle/>
          <a:p>
            <a:r>
              <a:rPr lang="fr-FR" dirty="0"/>
              <a:t>Mise à disposition d’une base de données permettant d’identifier l’évolution du marché de l’immobilier en prévision des prix de vente des biens immobiliers.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BC1BFE0-CBD4-A932-B7E1-2B7FE94655C6}"/>
              </a:ext>
            </a:extLst>
          </p:cNvPr>
          <p:cNvSpPr txBox="1"/>
          <p:nvPr/>
        </p:nvSpPr>
        <p:spPr>
          <a:xfrm>
            <a:off x="522267" y="3819730"/>
            <a:ext cx="762961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itchFamily="2" charset="2"/>
              <a:buChar char="q"/>
            </a:pPr>
            <a:r>
              <a:rPr lang="fr-FR" sz="1600" b="0" i="0" u="none" strike="noStrike" dirty="0">
                <a:solidFill>
                  <a:srgbClr val="271A38"/>
                </a:solidFill>
                <a:effectLst/>
                <a:latin typeface="Inter"/>
              </a:rPr>
              <a:t>Des données extraites du site open data des </a:t>
            </a:r>
            <a:r>
              <a:rPr lang="fr-FR" sz="1600" b="1" i="0" u="none" strike="noStrike" dirty="0">
                <a:solidFill>
                  <a:srgbClr val="271A38"/>
                </a:solidFill>
                <a:effectLst/>
                <a:latin typeface="Inter"/>
              </a:rPr>
              <a:t>Demandes de valeurs foncières (DVF) </a:t>
            </a:r>
          </a:p>
          <a:p>
            <a:pPr marL="285750" indent="-285750" algn="l">
              <a:buFont typeface="Wingdings" pitchFamily="2" charset="2"/>
              <a:buChar char="q"/>
            </a:pPr>
            <a:endParaRPr lang="fr-FR" sz="1600" b="1" i="0" u="none" strike="noStrike" dirty="0">
              <a:solidFill>
                <a:srgbClr val="271A38"/>
              </a:solidFill>
              <a:effectLst/>
              <a:latin typeface="Inter"/>
            </a:endParaRPr>
          </a:p>
          <a:p>
            <a:pPr marL="285750" indent="-285750" algn="l">
              <a:buFont typeface="Wingdings" pitchFamily="2" charset="2"/>
              <a:buChar char="q"/>
            </a:pPr>
            <a:r>
              <a:rPr lang="fr-FR" sz="1600" b="1" i="0" u="none" strike="noStrike" dirty="0">
                <a:solidFill>
                  <a:srgbClr val="271A38"/>
                </a:solidFill>
                <a:effectLst/>
                <a:latin typeface="Inter"/>
              </a:rPr>
              <a:t>Des données de l’INSEE </a:t>
            </a:r>
            <a:r>
              <a:rPr lang="fr-FR" sz="1600" b="0" i="0" u="none" strike="noStrike" dirty="0">
                <a:solidFill>
                  <a:srgbClr val="271A38"/>
                </a:solidFill>
                <a:effectLst/>
                <a:latin typeface="Inter"/>
              </a:rPr>
              <a:t>avec les résultats des recensements de la population </a:t>
            </a:r>
          </a:p>
          <a:p>
            <a:pPr marL="285750" indent="-285750" algn="l">
              <a:buFont typeface="Wingdings" pitchFamily="2" charset="2"/>
              <a:buChar char="q"/>
            </a:pPr>
            <a:endParaRPr lang="fr-FR" sz="1600" b="1" i="0" u="none" strike="noStrike" dirty="0">
              <a:solidFill>
                <a:srgbClr val="271A38"/>
              </a:solidFill>
              <a:effectLst/>
              <a:latin typeface="Inter"/>
            </a:endParaRPr>
          </a:p>
          <a:p>
            <a:pPr marL="285750" indent="-285750" algn="l">
              <a:buFont typeface="Wingdings" pitchFamily="2" charset="2"/>
              <a:buChar char="q"/>
            </a:pPr>
            <a:r>
              <a:rPr lang="fr-FR" sz="1600" b="1" i="0" u="none" strike="noStrike" dirty="0">
                <a:solidFill>
                  <a:srgbClr val="271A38"/>
                </a:solidFill>
                <a:effectLst/>
                <a:latin typeface="Inter"/>
              </a:rPr>
              <a:t>Des données de </a:t>
            </a:r>
            <a:r>
              <a:rPr lang="fr-FR" sz="1600" b="1" i="0" u="none" strike="noStrike" dirty="0" err="1">
                <a:solidFill>
                  <a:srgbClr val="271A38"/>
                </a:solidFill>
                <a:effectLst/>
                <a:latin typeface="Inter"/>
              </a:rPr>
              <a:t>data.gouv</a:t>
            </a:r>
            <a:r>
              <a:rPr lang="fr-FR" sz="1600" b="1" i="0" u="none" strike="noStrike" dirty="0">
                <a:solidFill>
                  <a:srgbClr val="271A38"/>
                </a:solidFill>
                <a:effectLst/>
                <a:latin typeface="Inter"/>
              </a:rPr>
              <a:t> sur les régions</a:t>
            </a:r>
            <a:r>
              <a:rPr lang="fr-FR" sz="1600" b="0" i="0" u="none" strike="noStrike" dirty="0">
                <a:solidFill>
                  <a:srgbClr val="271A38"/>
                </a:solidFill>
                <a:effectLst/>
                <a:latin typeface="Inter"/>
              </a:rPr>
              <a:t>, avec le référentiel géographique français, communes, unités urbaines, aires urbaines, départements, académies, régions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2E0B267-CCB0-081D-92E1-62034CF25D08}"/>
              </a:ext>
            </a:extLst>
          </p:cNvPr>
          <p:cNvSpPr txBox="1"/>
          <p:nvPr/>
        </p:nvSpPr>
        <p:spPr>
          <a:xfrm>
            <a:off x="894009" y="3429000"/>
            <a:ext cx="13011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600" b="0" i="0" u="sng" strike="noStrike" dirty="0">
                <a:solidFill>
                  <a:srgbClr val="271A38"/>
                </a:solidFill>
                <a:effectLst/>
                <a:latin typeface="Inter"/>
              </a:rPr>
              <a:t>SOURCES :</a:t>
            </a:r>
            <a:r>
              <a:rPr lang="fr-FR" sz="1600" b="0" i="0" u="none" strike="noStrike" dirty="0">
                <a:solidFill>
                  <a:srgbClr val="271A38"/>
                </a:solidFill>
                <a:effectLst/>
                <a:latin typeface="Inter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92141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0ED81D-9050-7B49-38A2-F241EB12C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Dictionnaire des données  sans données personnelles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D5844327-E19D-C946-BE83-5ED3B75FE666}"/>
              </a:ext>
            </a:extLst>
          </p:cNvPr>
          <p:cNvSpPr/>
          <p:nvPr/>
        </p:nvSpPr>
        <p:spPr>
          <a:xfrm>
            <a:off x="1373594" y="5037445"/>
            <a:ext cx="9812961" cy="877330"/>
          </a:xfrm>
          <a:custGeom>
            <a:avLst/>
            <a:gdLst>
              <a:gd name="connsiteX0" fmla="*/ 0 w 9812961"/>
              <a:gd name="connsiteY0" fmla="*/ 146225 h 877330"/>
              <a:gd name="connsiteX1" fmla="*/ 146225 w 9812961"/>
              <a:gd name="connsiteY1" fmla="*/ 0 h 877330"/>
              <a:gd name="connsiteX2" fmla="*/ 9666736 w 9812961"/>
              <a:gd name="connsiteY2" fmla="*/ 0 h 877330"/>
              <a:gd name="connsiteX3" fmla="*/ 9812961 w 9812961"/>
              <a:gd name="connsiteY3" fmla="*/ 146225 h 877330"/>
              <a:gd name="connsiteX4" fmla="*/ 9812961 w 9812961"/>
              <a:gd name="connsiteY4" fmla="*/ 731105 h 877330"/>
              <a:gd name="connsiteX5" fmla="*/ 9666736 w 9812961"/>
              <a:gd name="connsiteY5" fmla="*/ 877330 h 877330"/>
              <a:gd name="connsiteX6" fmla="*/ 146225 w 9812961"/>
              <a:gd name="connsiteY6" fmla="*/ 877330 h 877330"/>
              <a:gd name="connsiteX7" fmla="*/ 0 w 9812961"/>
              <a:gd name="connsiteY7" fmla="*/ 731105 h 877330"/>
              <a:gd name="connsiteX8" fmla="*/ 0 w 9812961"/>
              <a:gd name="connsiteY8" fmla="*/ 146225 h 877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812961" h="877330" fill="none" extrusionOk="0">
                <a:moveTo>
                  <a:pt x="0" y="146225"/>
                </a:moveTo>
                <a:cubicBezTo>
                  <a:pt x="-5121" y="64639"/>
                  <a:pt x="70209" y="3878"/>
                  <a:pt x="146225" y="0"/>
                </a:cubicBezTo>
                <a:cubicBezTo>
                  <a:pt x="4083766" y="130954"/>
                  <a:pt x="7727025" y="43574"/>
                  <a:pt x="9666736" y="0"/>
                </a:cubicBezTo>
                <a:cubicBezTo>
                  <a:pt x="9754082" y="10148"/>
                  <a:pt x="9819661" y="73674"/>
                  <a:pt x="9812961" y="146225"/>
                </a:cubicBezTo>
                <a:cubicBezTo>
                  <a:pt x="9775112" y="225253"/>
                  <a:pt x="9849628" y="601610"/>
                  <a:pt x="9812961" y="731105"/>
                </a:cubicBezTo>
                <a:cubicBezTo>
                  <a:pt x="9809901" y="812366"/>
                  <a:pt x="9735894" y="869327"/>
                  <a:pt x="9666736" y="877330"/>
                </a:cubicBezTo>
                <a:cubicBezTo>
                  <a:pt x="5290174" y="1032527"/>
                  <a:pt x="3138509" y="1040350"/>
                  <a:pt x="146225" y="877330"/>
                </a:cubicBezTo>
                <a:cubicBezTo>
                  <a:pt x="65885" y="871680"/>
                  <a:pt x="-11180" y="818391"/>
                  <a:pt x="0" y="731105"/>
                </a:cubicBezTo>
                <a:cubicBezTo>
                  <a:pt x="19706" y="484061"/>
                  <a:pt x="-19408" y="376452"/>
                  <a:pt x="0" y="146225"/>
                </a:cubicBezTo>
                <a:close/>
              </a:path>
              <a:path w="9812961" h="877330" stroke="0" extrusionOk="0">
                <a:moveTo>
                  <a:pt x="0" y="146225"/>
                </a:moveTo>
                <a:cubicBezTo>
                  <a:pt x="-1250" y="64696"/>
                  <a:pt x="62929" y="952"/>
                  <a:pt x="146225" y="0"/>
                </a:cubicBezTo>
                <a:cubicBezTo>
                  <a:pt x="2228003" y="132882"/>
                  <a:pt x="6877488" y="-84951"/>
                  <a:pt x="9666736" y="0"/>
                </a:cubicBezTo>
                <a:cubicBezTo>
                  <a:pt x="9735994" y="11231"/>
                  <a:pt x="9812241" y="69448"/>
                  <a:pt x="9812961" y="146225"/>
                </a:cubicBezTo>
                <a:cubicBezTo>
                  <a:pt x="9808906" y="352106"/>
                  <a:pt x="9793839" y="638374"/>
                  <a:pt x="9812961" y="731105"/>
                </a:cubicBezTo>
                <a:cubicBezTo>
                  <a:pt x="9821447" y="812870"/>
                  <a:pt x="9754127" y="863680"/>
                  <a:pt x="9666736" y="877330"/>
                </a:cubicBezTo>
                <a:cubicBezTo>
                  <a:pt x="7944859" y="964969"/>
                  <a:pt x="3543738" y="804651"/>
                  <a:pt x="146225" y="877330"/>
                </a:cubicBezTo>
                <a:cubicBezTo>
                  <a:pt x="64723" y="870239"/>
                  <a:pt x="-1475" y="813913"/>
                  <a:pt x="0" y="731105"/>
                </a:cubicBezTo>
                <a:cubicBezTo>
                  <a:pt x="32060" y="635011"/>
                  <a:pt x="5910" y="342807"/>
                  <a:pt x="0" y="146225"/>
                </a:cubicBezTo>
                <a:close/>
              </a:path>
            </a:pathLst>
          </a:custGeom>
          <a:solidFill>
            <a:schemeClr val="bg1"/>
          </a:solidFill>
          <a:ln w="22225"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Pas d’utilisation des données personnelles permettant d’identifier une personne physique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D8AA2D2-51A6-E8B2-4787-055D467A7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80" y="1919893"/>
            <a:ext cx="11871839" cy="2772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403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5C9207-0B05-CAD3-AC05-9E8D44CEC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i="0" dirty="0"/>
              <a:t>Etablissement d’un Modèle conceptuel des données</a:t>
            </a:r>
          </a:p>
        </p:txBody>
      </p:sp>
      <p:pic>
        <p:nvPicPr>
          <p:cNvPr id="4" name="Image 3" descr="Une image contenant symbole, vert, Graphique, logo&#10;&#10;Le contenu généré par l’IA peut être incorrect.">
            <a:extLst>
              <a:ext uri="{FF2B5EF4-FFF2-40B4-BE49-F238E27FC236}">
                <a16:creationId xmlns:a16="http://schemas.microsoft.com/office/drawing/2014/main" id="{3328FC7E-A652-59CA-BB9B-0AAB7EC79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1629" y="1322173"/>
            <a:ext cx="443854" cy="418614"/>
          </a:xfrm>
          <a:prstGeom prst="rect">
            <a:avLst/>
          </a:prstGeom>
        </p:spPr>
      </p:pic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E88CD408-554C-F4E8-FAB2-BCFB9B53A8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8317213"/>
              </p:ext>
            </p:extLst>
          </p:nvPr>
        </p:nvGraphicFramePr>
        <p:xfrm>
          <a:off x="8605005" y="2828378"/>
          <a:ext cx="2969333" cy="19812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528423">
                  <a:extLst>
                    <a:ext uri="{9D8B030D-6E8A-4147-A177-3AD203B41FA5}">
                      <a16:colId xmlns:a16="http://schemas.microsoft.com/office/drawing/2014/main" val="2622944502"/>
                    </a:ext>
                  </a:extLst>
                </a:gridCol>
                <a:gridCol w="2440910">
                  <a:extLst>
                    <a:ext uri="{9D8B030D-6E8A-4147-A177-3AD203B41FA5}">
                      <a16:colId xmlns:a16="http://schemas.microsoft.com/office/drawing/2014/main" val="41460977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b="1" dirty="0"/>
                        <a:t>1NF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b="0" dirty="0"/>
                        <a:t>Chaque table a des colonnes atomiques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852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b="1" dirty="0"/>
                        <a:t>2NF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Les colonnes non-clé dépendent entièrement de la clé primaire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9577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b="1" dirty="0"/>
                        <a:t>3NF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Aucune dépendance transitive entre colonnes non-clé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8253729"/>
                  </a:ext>
                </a:extLst>
              </a:tr>
            </a:tbl>
          </a:graphicData>
        </a:graphic>
      </p:graphicFrame>
      <p:sp>
        <p:nvSpPr>
          <p:cNvPr id="7" name="ZoneTexte 6">
            <a:extLst>
              <a:ext uri="{FF2B5EF4-FFF2-40B4-BE49-F238E27FC236}">
                <a16:creationId xmlns:a16="http://schemas.microsoft.com/office/drawing/2014/main" id="{57A85AAF-7B76-0F92-74AE-5028918FA8AC}"/>
              </a:ext>
            </a:extLst>
          </p:cNvPr>
          <p:cNvSpPr txBox="1"/>
          <p:nvPr/>
        </p:nvSpPr>
        <p:spPr>
          <a:xfrm>
            <a:off x="9096499" y="2326966"/>
            <a:ext cx="2337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0" u="sng" dirty="0"/>
              <a:t>FORMES NORMALES :</a:t>
            </a:r>
            <a:endParaRPr lang="fr-FR" u="sng" dirty="0"/>
          </a:p>
        </p:txBody>
      </p:sp>
      <p:pic>
        <p:nvPicPr>
          <p:cNvPr id="8" name="Image 7" descr="Une image contenant texte, capture d’écran, Police, diagramme&#10;&#10;Le contenu généré par l’IA peut être incorrect.">
            <a:extLst>
              <a:ext uri="{FF2B5EF4-FFF2-40B4-BE49-F238E27FC236}">
                <a16:creationId xmlns:a16="http://schemas.microsoft.com/office/drawing/2014/main" id="{EBE482EA-8684-803D-7E89-7EACF381C9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662" y="1881686"/>
            <a:ext cx="5607775" cy="3874584"/>
          </a:xfrm>
          <a:prstGeom prst="rect">
            <a:avLst/>
          </a:prstGeom>
        </p:spPr>
      </p:pic>
      <p:pic>
        <p:nvPicPr>
          <p:cNvPr id="10" name="Image 9" descr="Une image contenant texte, capture d’écran, Police, logiciel&#10;&#10;Le contenu généré par l’IA peut être incorrect.">
            <a:extLst>
              <a:ext uri="{FF2B5EF4-FFF2-40B4-BE49-F238E27FC236}">
                <a16:creationId xmlns:a16="http://schemas.microsoft.com/office/drawing/2014/main" id="{7903AC4D-DEF2-8A2C-A216-27A08BF5DF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1714" y="2041515"/>
            <a:ext cx="2233769" cy="282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807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E4D8B9-2CDB-FCB4-FC32-CAF4D0F24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Préparation et importation des données DANS SQLITE Studio</a:t>
            </a: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C0D5FA09-4897-6EB5-AFE0-45246C0CDA1C}"/>
              </a:ext>
            </a:extLst>
          </p:cNvPr>
          <p:cNvGrpSpPr/>
          <p:nvPr/>
        </p:nvGrpSpPr>
        <p:grpSpPr>
          <a:xfrm>
            <a:off x="1474692" y="2083419"/>
            <a:ext cx="1061757" cy="1409207"/>
            <a:chOff x="1021043" y="2015632"/>
            <a:chExt cx="1061757" cy="1409207"/>
          </a:xfrm>
        </p:grpSpPr>
        <p:pic>
          <p:nvPicPr>
            <p:cNvPr id="3" name="Image 2">
              <a:extLst>
                <a:ext uri="{FF2B5EF4-FFF2-40B4-BE49-F238E27FC236}">
                  <a16:creationId xmlns:a16="http://schemas.microsoft.com/office/drawing/2014/main" id="{70099A00-C493-9C0F-DC7B-681FC7853E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21043" y="2015632"/>
              <a:ext cx="939800" cy="939800"/>
            </a:xfrm>
            <a:prstGeom prst="rect">
              <a:avLst/>
            </a:prstGeom>
          </p:spPr>
        </p:pic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8B073A16-0B16-4F1F-0205-A939F894CE0C}"/>
                </a:ext>
              </a:extLst>
            </p:cNvPr>
            <p:cNvSpPr txBox="1"/>
            <p:nvPr/>
          </p:nvSpPr>
          <p:spPr>
            <a:xfrm>
              <a:off x="1143000" y="3055507"/>
              <a:ext cx="939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 err="1"/>
                <a:t>Bien.csv</a:t>
              </a:r>
              <a:endParaRPr lang="fr-FR" dirty="0"/>
            </a:p>
          </p:txBody>
        </p:sp>
      </p:grp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C405AD15-A577-20FF-EE8C-A44B6348313D}"/>
              </a:ext>
            </a:extLst>
          </p:cNvPr>
          <p:cNvGrpSpPr/>
          <p:nvPr/>
        </p:nvGrpSpPr>
        <p:grpSpPr>
          <a:xfrm>
            <a:off x="3123875" y="2475807"/>
            <a:ext cx="1256164" cy="1309132"/>
            <a:chOff x="4108279" y="2176796"/>
            <a:chExt cx="1256164" cy="1309132"/>
          </a:xfrm>
        </p:grpSpPr>
        <p:pic>
          <p:nvPicPr>
            <p:cNvPr id="5" name="Image 4">
              <a:extLst>
                <a:ext uri="{FF2B5EF4-FFF2-40B4-BE49-F238E27FC236}">
                  <a16:creationId xmlns:a16="http://schemas.microsoft.com/office/drawing/2014/main" id="{8D41CFD0-5D67-D754-285B-14AC73495C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08279" y="2176796"/>
              <a:ext cx="939800" cy="939800"/>
            </a:xfrm>
            <a:prstGeom prst="rect">
              <a:avLst/>
            </a:prstGeom>
          </p:spPr>
        </p:pic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F59ACF04-BB2D-D79E-67BB-6330FB0F6C2A}"/>
                </a:ext>
              </a:extLst>
            </p:cNvPr>
            <p:cNvSpPr txBox="1"/>
            <p:nvPr/>
          </p:nvSpPr>
          <p:spPr>
            <a:xfrm>
              <a:off x="4108279" y="3116596"/>
              <a:ext cx="12561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 err="1"/>
                <a:t>Vente.csv</a:t>
              </a:r>
              <a:endParaRPr lang="fr-FR" dirty="0"/>
            </a:p>
          </p:txBody>
        </p:sp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74440C2F-AD4D-E9EE-A7A7-5DB035284E85}"/>
              </a:ext>
            </a:extLst>
          </p:cNvPr>
          <p:cNvGrpSpPr/>
          <p:nvPr/>
        </p:nvGrpSpPr>
        <p:grpSpPr>
          <a:xfrm>
            <a:off x="1474692" y="3797188"/>
            <a:ext cx="1518566" cy="1298311"/>
            <a:chOff x="2513803" y="4156444"/>
            <a:chExt cx="1518566" cy="1298311"/>
          </a:xfrm>
        </p:grpSpPr>
        <p:pic>
          <p:nvPicPr>
            <p:cNvPr id="4" name="Image 3">
              <a:extLst>
                <a:ext uri="{FF2B5EF4-FFF2-40B4-BE49-F238E27FC236}">
                  <a16:creationId xmlns:a16="http://schemas.microsoft.com/office/drawing/2014/main" id="{86F98D54-367F-E3F1-5B1C-CEA07D0C26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13803" y="4156444"/>
              <a:ext cx="939800" cy="939800"/>
            </a:xfrm>
            <a:prstGeom prst="rect">
              <a:avLst/>
            </a:prstGeom>
          </p:spPr>
        </p:pic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59AB1AF3-6707-01DB-079E-B1FB25FED644}"/>
                </a:ext>
              </a:extLst>
            </p:cNvPr>
            <p:cNvSpPr txBox="1"/>
            <p:nvPr/>
          </p:nvSpPr>
          <p:spPr>
            <a:xfrm>
              <a:off x="2513803" y="5085423"/>
              <a:ext cx="15185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 err="1"/>
                <a:t>Commune.csv</a:t>
              </a:r>
              <a:endParaRPr lang="fr-FR" dirty="0"/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307D2426-FDCD-37F1-1A53-54770496A6B8}"/>
              </a:ext>
            </a:extLst>
          </p:cNvPr>
          <p:cNvGrpSpPr/>
          <p:nvPr/>
        </p:nvGrpSpPr>
        <p:grpSpPr>
          <a:xfrm>
            <a:off x="3338225" y="4250856"/>
            <a:ext cx="1258592" cy="1319953"/>
            <a:chOff x="5237211" y="4330289"/>
            <a:chExt cx="1258592" cy="1319953"/>
          </a:xfrm>
        </p:grpSpPr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597E5863-7151-F776-9294-0616B40144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37211" y="4330289"/>
              <a:ext cx="939800" cy="939800"/>
            </a:xfrm>
            <a:prstGeom prst="rect">
              <a:avLst/>
            </a:prstGeom>
          </p:spPr>
        </p:pic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AFA84561-CE00-9265-BDED-16001A4CB238}"/>
                </a:ext>
              </a:extLst>
            </p:cNvPr>
            <p:cNvSpPr txBox="1"/>
            <p:nvPr/>
          </p:nvSpPr>
          <p:spPr>
            <a:xfrm>
              <a:off x="5364443" y="5280910"/>
              <a:ext cx="11313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 err="1"/>
                <a:t>Region.csv</a:t>
              </a:r>
              <a:endParaRPr lang="fr-FR" dirty="0"/>
            </a:p>
          </p:txBody>
        </p:sp>
      </p:grpSp>
      <p:pic>
        <p:nvPicPr>
          <p:cNvPr id="17" name="Image 16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AC9602BE-FD13-255A-3EF3-AD5567C0B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360" y="1812962"/>
            <a:ext cx="3019000" cy="4369969"/>
          </a:xfrm>
          <a:prstGeom prst="rect">
            <a:avLst/>
          </a:prstGeom>
        </p:spPr>
      </p:pic>
      <p:sp>
        <p:nvSpPr>
          <p:cNvPr id="19" name="Flèche vers la droite 18">
            <a:extLst>
              <a:ext uri="{FF2B5EF4-FFF2-40B4-BE49-F238E27FC236}">
                <a16:creationId xmlns:a16="http://schemas.microsoft.com/office/drawing/2014/main" id="{47830DFF-BE05-D8C5-7D55-A11214CA724B}"/>
              </a:ext>
            </a:extLst>
          </p:cNvPr>
          <p:cNvSpPr/>
          <p:nvPr/>
        </p:nvSpPr>
        <p:spPr>
          <a:xfrm>
            <a:off x="5201758" y="2977960"/>
            <a:ext cx="1256165" cy="1638455"/>
          </a:xfrm>
          <a:prstGeom prst="rightArrow">
            <a:avLst/>
          </a:prstGeom>
          <a:solidFill>
            <a:schemeClr val="tx2">
              <a:lumMod val="10000"/>
              <a:lumOff val="90000"/>
            </a:schemeClr>
          </a:solidFill>
          <a:ln w="4127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6" name="Image 15" descr="Une image contenant cylindre, conception&#10;&#10;Le contenu généré par l’IA peut être incorrect.">
            <a:extLst>
              <a:ext uri="{FF2B5EF4-FFF2-40B4-BE49-F238E27FC236}">
                <a16:creationId xmlns:a16="http://schemas.microsoft.com/office/drawing/2014/main" id="{144F92E0-4EE1-46EF-FB45-668409B1C5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3768" y="1256465"/>
            <a:ext cx="336117" cy="38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684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0B35A4-DF36-506F-4E98-6FC2CC880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6CA7A60-8DF8-4B78-BFE3-B372B90AB9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3">
            <a:extLst>
              <a:ext uri="{FF2B5EF4-FFF2-40B4-BE49-F238E27FC236}">
                <a16:creationId xmlns:a16="http://schemas.microsoft.com/office/drawing/2014/main" id="{FF4BD241-F172-410B-B0DE-9D7344B35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1" y="0"/>
            <a:ext cx="4850735" cy="6857998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2320626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320626 w 6125882"/>
              <a:gd name="connsiteY4" fmla="*/ 0 h 6857998"/>
              <a:gd name="connsiteX0" fmla="*/ 2034528 w 5839784"/>
              <a:gd name="connsiteY0" fmla="*/ 0 h 6857998"/>
              <a:gd name="connsiteX1" fmla="*/ 5839784 w 5839784"/>
              <a:gd name="connsiteY1" fmla="*/ 0 h 6857998"/>
              <a:gd name="connsiteX2" fmla="*/ 5839784 w 5839784"/>
              <a:gd name="connsiteY2" fmla="*/ 6857998 h 6857998"/>
              <a:gd name="connsiteX3" fmla="*/ 0 w 5839784"/>
              <a:gd name="connsiteY3" fmla="*/ 6856093 h 6857998"/>
              <a:gd name="connsiteX4" fmla="*/ 2034528 w 5839784"/>
              <a:gd name="connsiteY4" fmla="*/ 0 h 6857998"/>
              <a:gd name="connsiteX0" fmla="*/ 2482758 w 5839784"/>
              <a:gd name="connsiteY0" fmla="*/ 10951 h 6857998"/>
              <a:gd name="connsiteX1" fmla="*/ 5839784 w 5839784"/>
              <a:gd name="connsiteY1" fmla="*/ 0 h 6857998"/>
              <a:gd name="connsiteX2" fmla="*/ 5839784 w 5839784"/>
              <a:gd name="connsiteY2" fmla="*/ 6857998 h 6857998"/>
              <a:gd name="connsiteX3" fmla="*/ 0 w 5839784"/>
              <a:gd name="connsiteY3" fmla="*/ 6856093 h 6857998"/>
              <a:gd name="connsiteX4" fmla="*/ 2482758 w 5839784"/>
              <a:gd name="connsiteY4" fmla="*/ 10951 h 6857998"/>
              <a:gd name="connsiteX0" fmla="*/ 2495565 w 5839784"/>
              <a:gd name="connsiteY0" fmla="*/ 0 h 6857998"/>
              <a:gd name="connsiteX1" fmla="*/ 5839784 w 5839784"/>
              <a:gd name="connsiteY1" fmla="*/ 0 h 6857998"/>
              <a:gd name="connsiteX2" fmla="*/ 5839784 w 5839784"/>
              <a:gd name="connsiteY2" fmla="*/ 6857998 h 6857998"/>
              <a:gd name="connsiteX3" fmla="*/ 0 w 5839784"/>
              <a:gd name="connsiteY3" fmla="*/ 6856093 h 6857998"/>
              <a:gd name="connsiteX4" fmla="*/ 2495565 w 5839784"/>
              <a:gd name="connsiteY4" fmla="*/ 0 h 6857998"/>
              <a:gd name="connsiteX0" fmla="*/ 2328480 w 5672699"/>
              <a:gd name="connsiteY0" fmla="*/ 0 h 6857998"/>
              <a:gd name="connsiteX1" fmla="*/ 5672699 w 5672699"/>
              <a:gd name="connsiteY1" fmla="*/ 0 h 6857998"/>
              <a:gd name="connsiteX2" fmla="*/ 5672699 w 5672699"/>
              <a:gd name="connsiteY2" fmla="*/ 6857998 h 6857998"/>
              <a:gd name="connsiteX3" fmla="*/ 0 w 5672699"/>
              <a:gd name="connsiteY3" fmla="*/ 6856093 h 6857998"/>
              <a:gd name="connsiteX4" fmla="*/ 2328480 w 5672699"/>
              <a:gd name="connsiteY4" fmla="*/ 0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2699" h="6857998">
                <a:moveTo>
                  <a:pt x="2328480" y="0"/>
                </a:moveTo>
                <a:lnTo>
                  <a:pt x="5672699" y="0"/>
                </a:lnTo>
                <a:lnTo>
                  <a:pt x="5672699" y="6857998"/>
                </a:lnTo>
                <a:lnTo>
                  <a:pt x="0" y="6856093"/>
                </a:lnTo>
                <a:lnTo>
                  <a:pt x="232848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DE24F07-6736-8016-9C44-C1CA431B3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005" y="657225"/>
            <a:ext cx="3230515" cy="3569822"/>
          </a:xfrm>
        </p:spPr>
        <p:txBody>
          <a:bodyPr anchor="t">
            <a:normAutofit/>
          </a:bodyPr>
          <a:lstStyle/>
          <a:p>
            <a:r>
              <a:rPr lang="fr-FR" sz="4100"/>
              <a:t>Vérification DES données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1CEFB97-33B1-4F90-A6B8-EAA26EEA1E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793" y="4305300"/>
            <a:ext cx="4515220" cy="25527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Espace réservé du contenu 2">
            <a:extLst>
              <a:ext uri="{FF2B5EF4-FFF2-40B4-BE49-F238E27FC236}">
                <a16:creationId xmlns:a16="http://schemas.microsoft.com/office/drawing/2014/main" id="{DEBE7C09-AA6D-D0B4-FDAF-EEC6765CDA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7972041"/>
              </p:ext>
            </p:extLst>
          </p:nvPr>
        </p:nvGraphicFramePr>
        <p:xfrm>
          <a:off x="5146923" y="832268"/>
          <a:ext cx="6289466" cy="51469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06522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DF9531-66F8-0474-ACB6-CE439403A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Vérification DES données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84B30C-449A-2E72-F27E-9488A5222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1520" y="1687582"/>
            <a:ext cx="9906000" cy="40244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dirty="0"/>
              <a:t>SELECT * FROM Bien</a:t>
            </a:r>
          </a:p>
          <a:p>
            <a:pPr marL="0" indent="0">
              <a:buNone/>
            </a:pPr>
            <a:r>
              <a:rPr lang="fr-FR" sz="2000" dirty="0"/>
              <a:t>JOIN Vente ON </a:t>
            </a:r>
            <a:r>
              <a:rPr lang="fr-FR" sz="2000" dirty="0" err="1"/>
              <a:t>Bien.idBien</a:t>
            </a:r>
            <a:r>
              <a:rPr lang="fr-FR" sz="2000" dirty="0"/>
              <a:t> = </a:t>
            </a:r>
            <a:r>
              <a:rPr lang="fr-FR" sz="2000" dirty="0" err="1"/>
              <a:t>Vente.idBien</a:t>
            </a:r>
            <a:endParaRPr lang="fr-FR" sz="2000" dirty="0"/>
          </a:p>
          <a:p>
            <a:pPr marL="0" indent="0">
              <a:buNone/>
            </a:pPr>
            <a:r>
              <a:rPr lang="fr-FR" sz="2000" dirty="0"/>
              <a:t>JOIN Commune ON </a:t>
            </a:r>
            <a:r>
              <a:rPr lang="fr-FR" sz="2000" dirty="0" err="1"/>
              <a:t>Bien.idCodeDepCodeCom</a:t>
            </a:r>
            <a:r>
              <a:rPr lang="fr-FR" sz="2000" dirty="0"/>
              <a:t> = </a:t>
            </a:r>
            <a:r>
              <a:rPr lang="fr-FR" sz="2000" dirty="0" err="1"/>
              <a:t>Commune.idCodeDepCodeCom</a:t>
            </a:r>
            <a:endParaRPr lang="fr-FR" sz="2000" dirty="0"/>
          </a:p>
          <a:p>
            <a:pPr marL="0" indent="0">
              <a:buNone/>
            </a:pPr>
            <a:r>
              <a:rPr lang="fr-FR" sz="2000" dirty="0"/>
              <a:t>JOIN </a:t>
            </a:r>
            <a:r>
              <a:rPr lang="fr-FR" sz="2000" dirty="0" err="1"/>
              <a:t>Region</a:t>
            </a:r>
            <a:r>
              <a:rPr lang="fr-FR" sz="2000" dirty="0"/>
              <a:t> ON </a:t>
            </a:r>
            <a:r>
              <a:rPr lang="fr-FR" sz="2000" dirty="0" err="1"/>
              <a:t>Commune.CodeReg</a:t>
            </a:r>
            <a:r>
              <a:rPr lang="fr-FR" sz="2000" dirty="0"/>
              <a:t> = </a:t>
            </a:r>
            <a:r>
              <a:rPr lang="fr-FR" sz="2000" dirty="0" err="1"/>
              <a:t>Region.CodeReg</a:t>
            </a:r>
            <a:endParaRPr lang="fr-FR" sz="2000" dirty="0"/>
          </a:p>
          <a:p>
            <a:pPr marL="0" indent="0">
              <a:buNone/>
            </a:pPr>
            <a:r>
              <a:rPr lang="fr-FR" sz="2000" dirty="0"/>
              <a:t>LIMIT 10</a:t>
            </a:r>
          </a:p>
        </p:txBody>
      </p:sp>
      <p:pic>
        <p:nvPicPr>
          <p:cNvPr id="5" name="Image 4" descr="Une image contenant texte, Polic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29E013D2-7EA4-9208-9146-F13F3F7E0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87" y="3991110"/>
            <a:ext cx="10976825" cy="17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421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E8572-C12C-1E86-2B5A-719733971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C3AE2C-2867-2135-B063-9451D1667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 des requêtes 1/4</a:t>
            </a: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D97F3015-F1FD-1647-AF7C-A1B54B544D4F}"/>
              </a:ext>
            </a:extLst>
          </p:cNvPr>
          <p:cNvSpPr txBox="1">
            <a:spLocks/>
          </p:cNvSpPr>
          <p:nvPr/>
        </p:nvSpPr>
        <p:spPr>
          <a:xfrm>
            <a:off x="599182" y="1857471"/>
            <a:ext cx="5838688" cy="4377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1600" u="sng" dirty="0"/>
              <a:t>Nombre d’appartements vendus 1 </a:t>
            </a:r>
            <a:r>
              <a:rPr lang="fr-FR" sz="1600" u="sng" dirty="0" err="1"/>
              <a:t>Semeste</a:t>
            </a:r>
            <a:r>
              <a:rPr lang="fr-FR" sz="1600" u="sng" dirty="0"/>
              <a:t> 2020: </a:t>
            </a: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1FB9492A-D765-2E4A-8D33-811A2D4EEB79}"/>
              </a:ext>
            </a:extLst>
          </p:cNvPr>
          <p:cNvSpPr txBox="1">
            <a:spLocks/>
          </p:cNvSpPr>
          <p:nvPr/>
        </p:nvSpPr>
        <p:spPr>
          <a:xfrm>
            <a:off x="5935362" y="1915557"/>
            <a:ext cx="5696464" cy="5614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fr-FR"/>
            </a:defPPr>
            <a:lvl1pPr indent="0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None/>
              <a:defRPr sz="1600" u="sng">
                <a:solidFill>
                  <a:schemeClr val="tx2"/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1143000" indent="-228600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3pPr>
            <a:lvl4pPr marL="1600200" indent="-228600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4pPr>
            <a:lvl5pPr marL="2057400" indent="-228600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fr-FR" dirty="0"/>
              <a:t>Nombre de ventes d’appartements par région pour le 1er Semestre 2020. </a:t>
            </a:r>
          </a:p>
        </p:txBody>
      </p:sp>
      <p:pic>
        <p:nvPicPr>
          <p:cNvPr id="3" name="Image 2" descr="Une image contenant texte, Police, capture d’écran, ligne&#10;&#10;Description générée automatiquement">
            <a:extLst>
              <a:ext uri="{FF2B5EF4-FFF2-40B4-BE49-F238E27FC236}">
                <a16:creationId xmlns:a16="http://schemas.microsoft.com/office/drawing/2014/main" id="{C1BF2835-2BC2-74ED-DADD-4AF1820EF1F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713" y="2353363"/>
            <a:ext cx="3040765" cy="476307"/>
          </a:xfrm>
          <a:prstGeom prst="rect">
            <a:avLst/>
          </a:prstGeom>
        </p:spPr>
      </p:pic>
      <p:pic>
        <p:nvPicPr>
          <p:cNvPr id="10" name="Image 9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2372376E-AD2A-ED86-7AC2-C34907C444E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8996" y="2353338"/>
            <a:ext cx="2794813" cy="3526006"/>
          </a:xfrm>
          <a:prstGeom prst="rect">
            <a:avLst/>
          </a:prstGeom>
        </p:spPr>
      </p:pic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3C9659C0-18C9-2E4B-EF60-8A79C88A15D1}"/>
              </a:ext>
            </a:extLst>
          </p:cNvPr>
          <p:cNvSpPr txBox="1">
            <a:spLocks/>
          </p:cNvSpPr>
          <p:nvPr/>
        </p:nvSpPr>
        <p:spPr>
          <a:xfrm>
            <a:off x="599182" y="2961284"/>
            <a:ext cx="4816337" cy="4377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fr-FR"/>
            </a:defPPr>
            <a:lvl1pPr indent="0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None/>
              <a:defRPr sz="1600" u="sng">
                <a:solidFill>
                  <a:schemeClr val="tx2"/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1143000" indent="-228600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3pPr>
            <a:lvl4pPr marL="1600200" indent="-228600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4pPr>
            <a:lvl5pPr marL="2057400" indent="-228600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fr-FR" dirty="0"/>
              <a:t>Prix moyen du mètre carré d’une maison en Île-de-France :</a:t>
            </a:r>
          </a:p>
        </p:txBody>
      </p:sp>
      <p:pic>
        <p:nvPicPr>
          <p:cNvPr id="12" name="Image 11" descr="Une image contenant texte, Police, nombre, logiciel&#10;&#10;Description générée automatiquement">
            <a:extLst>
              <a:ext uri="{FF2B5EF4-FFF2-40B4-BE49-F238E27FC236}">
                <a16:creationId xmlns:a16="http://schemas.microsoft.com/office/drawing/2014/main" id="{315EE3E7-8496-D8DE-2438-C80BB2FDB00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713" y="3457176"/>
            <a:ext cx="3366373" cy="692008"/>
          </a:xfrm>
          <a:prstGeom prst="rect">
            <a:avLst/>
          </a:prstGeom>
        </p:spPr>
      </p:pic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51526F2A-F1B8-1BED-610B-8C6DC8BD5CB2}"/>
              </a:ext>
            </a:extLst>
          </p:cNvPr>
          <p:cNvSpPr txBox="1">
            <a:spLocks/>
          </p:cNvSpPr>
          <p:nvPr/>
        </p:nvSpPr>
        <p:spPr>
          <a:xfrm>
            <a:off x="599182" y="4199568"/>
            <a:ext cx="5622325" cy="6462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fr-FR"/>
            </a:defPPr>
            <a:lvl1pPr indent="0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None/>
              <a:defRPr sz="1600" u="sng">
                <a:solidFill>
                  <a:schemeClr val="tx2"/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1143000" indent="-228600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3pPr>
            <a:lvl4pPr marL="1600200" indent="-228600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4pPr>
            <a:lvl5pPr marL="2057400" indent="-228600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fr-FR" dirty="0"/>
              <a:t>Liste des 10 Appartements les plus chers avec la région et le nombre de mètre carrés :</a:t>
            </a:r>
          </a:p>
        </p:txBody>
      </p:sp>
      <p:pic>
        <p:nvPicPr>
          <p:cNvPr id="14" name="Image 13" descr="Une image contenant texte, Police, capture d’écran, nombre&#10;&#10;Description générée automatiquement">
            <a:extLst>
              <a:ext uri="{FF2B5EF4-FFF2-40B4-BE49-F238E27FC236}">
                <a16:creationId xmlns:a16="http://schemas.microsoft.com/office/drawing/2014/main" id="{3BA7A079-DF0A-B54C-917C-059E6E2497C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713" y="4896217"/>
            <a:ext cx="3663899" cy="1828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874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421DA-CC69-855C-A185-5B2BEC085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F5A40A-83B5-6598-25C1-7B84A40A2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 des requêtes 2/4</a:t>
            </a: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454D7CC8-DB2F-7E3C-8CBB-99210FA0B5E8}"/>
              </a:ext>
            </a:extLst>
          </p:cNvPr>
          <p:cNvSpPr txBox="1">
            <a:spLocks/>
          </p:cNvSpPr>
          <p:nvPr/>
        </p:nvSpPr>
        <p:spPr>
          <a:xfrm>
            <a:off x="599181" y="2991219"/>
            <a:ext cx="5838688" cy="4377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fr-FR"/>
            </a:defPPr>
            <a:lvl1pPr indent="0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None/>
              <a:defRPr sz="1600" u="sng">
                <a:solidFill>
                  <a:schemeClr val="tx2"/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1143000" indent="-228600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3pPr>
            <a:lvl4pPr marL="1600200" indent="-228600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4pPr>
            <a:lvl5pPr marL="2057400" indent="-228600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fr-FR" dirty="0"/>
              <a:t>Proportion de vente d’appartements par le nombre de pièces </a:t>
            </a: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F25702FE-68E7-2466-E528-5A8C4760556F}"/>
              </a:ext>
            </a:extLst>
          </p:cNvPr>
          <p:cNvSpPr txBox="1">
            <a:spLocks/>
          </p:cNvSpPr>
          <p:nvPr/>
        </p:nvSpPr>
        <p:spPr>
          <a:xfrm>
            <a:off x="6598508" y="2159095"/>
            <a:ext cx="5194480" cy="43778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defPPr>
              <a:defRPr lang="fr-FR"/>
            </a:defPPr>
            <a:lvl1pPr indent="0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None/>
              <a:defRPr sz="1600" u="sng">
                <a:solidFill>
                  <a:schemeClr val="tx2"/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1143000" indent="-228600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3pPr>
            <a:lvl4pPr marL="1600200" indent="-228600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4pPr>
            <a:lvl5pPr marL="2057400" indent="-228600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fr-FR" dirty="0"/>
              <a:t>Liste des 10 départements où le prix du mètre carré est le plus élevé </a:t>
            </a:r>
          </a:p>
        </p:txBody>
      </p:sp>
      <p:pic>
        <p:nvPicPr>
          <p:cNvPr id="3" name="Image 2" descr="Une image contenant texte, nombr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0897203A-2AE2-1567-0094-ABE5845AB2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80" y="3429000"/>
            <a:ext cx="2754870" cy="2693484"/>
          </a:xfrm>
          <a:prstGeom prst="rect">
            <a:avLst/>
          </a:prstGeom>
        </p:spPr>
      </p:pic>
      <p:pic>
        <p:nvPicPr>
          <p:cNvPr id="10" name="Image 9" descr="Une image contenant texte, Police, capture d’écran, nombre&#10;&#10;Description générée automatiquement">
            <a:extLst>
              <a:ext uri="{FF2B5EF4-FFF2-40B4-BE49-F238E27FC236}">
                <a16:creationId xmlns:a16="http://schemas.microsoft.com/office/drawing/2014/main" id="{59C6B83A-A82A-EDFD-23FD-0E633A8F7C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1622" y="2619919"/>
            <a:ext cx="3029255" cy="2545205"/>
          </a:xfrm>
          <a:prstGeom prst="rect">
            <a:avLst/>
          </a:prstGeom>
        </p:spPr>
      </p:pic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8B09F22E-EE59-6F44-12EB-5DE6EEC2EE1C}"/>
              </a:ext>
            </a:extLst>
          </p:cNvPr>
          <p:cNvSpPr txBox="1">
            <a:spLocks/>
          </p:cNvSpPr>
          <p:nvPr/>
        </p:nvSpPr>
        <p:spPr>
          <a:xfrm>
            <a:off x="549754" y="2089176"/>
            <a:ext cx="5838688" cy="43778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defPPr>
              <a:defRPr lang="fr-FR"/>
            </a:defPPr>
            <a:lvl1pPr indent="0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None/>
              <a:defRPr sz="1600" u="sng">
                <a:solidFill>
                  <a:schemeClr val="tx2"/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1143000" indent="-228600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3pPr>
            <a:lvl4pPr marL="1600200" indent="-228600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4pPr>
            <a:lvl5pPr marL="2057400" indent="-228600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fr-FR" dirty="0"/>
              <a:t>Taux d’évolution du nombre de vente entre le 1er et le second trimestre 2020 </a:t>
            </a:r>
          </a:p>
        </p:txBody>
      </p:sp>
      <p:pic>
        <p:nvPicPr>
          <p:cNvPr id="11" name="Image 10" descr="Une image contenant texte, Police, blanc, capture d’écran&#10;&#10;Le contenu généré par l’IA peut être incorrect.">
            <a:extLst>
              <a:ext uri="{FF2B5EF4-FFF2-40B4-BE49-F238E27FC236}">
                <a16:creationId xmlns:a16="http://schemas.microsoft.com/office/drawing/2014/main" id="{1A2EDD1E-20BA-2150-8B62-5B6AE1A2A7B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817" y="2401029"/>
            <a:ext cx="2898492" cy="437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8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BC3931-A7E5-9DF9-8892-D3C687633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 des requêtes 3/4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37DB83B-4604-84D3-367D-817CCD63DEE4}"/>
              </a:ext>
            </a:extLst>
          </p:cNvPr>
          <p:cNvSpPr txBox="1">
            <a:spLocks/>
          </p:cNvSpPr>
          <p:nvPr/>
        </p:nvSpPr>
        <p:spPr>
          <a:xfrm>
            <a:off x="621006" y="1915557"/>
            <a:ext cx="5838688" cy="43778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defPPr>
              <a:defRPr lang="fr-FR"/>
            </a:defPPr>
            <a:lvl1pPr indent="0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None/>
              <a:defRPr sz="1600" u="sng">
                <a:solidFill>
                  <a:schemeClr val="tx2"/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1143000" indent="-228600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3pPr>
            <a:lvl4pPr marL="1600200" indent="-228600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4pPr>
            <a:lvl5pPr marL="2057400" indent="-228600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fr-FR" dirty="0"/>
              <a:t>Le classement des régions par rapport aux prix au mètre carré un appartement de 2 pièces et un appartement de 3 pièces. </a:t>
            </a:r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68C105CD-1AE3-6878-E0AB-F7E77018CA1B}"/>
              </a:ext>
            </a:extLst>
          </p:cNvPr>
          <p:cNvSpPr txBox="1">
            <a:spLocks/>
          </p:cNvSpPr>
          <p:nvPr/>
        </p:nvSpPr>
        <p:spPr>
          <a:xfrm>
            <a:off x="6353312" y="1900232"/>
            <a:ext cx="5838688" cy="4377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fr-FR"/>
            </a:defPPr>
            <a:lvl1pPr indent="0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None/>
              <a:defRPr sz="1600" u="sng">
                <a:solidFill>
                  <a:schemeClr val="tx2"/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1143000" indent="-228600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3pPr>
            <a:lvl4pPr marL="1600200" indent="-228600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4pPr>
            <a:lvl5pPr marL="2057400" indent="-228600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fr-FR" dirty="0"/>
              <a:t>Liste des communes ayant eu au moins 50 Ventes au 1er trimestre </a:t>
            </a:r>
          </a:p>
        </p:txBody>
      </p:sp>
      <p:pic>
        <p:nvPicPr>
          <p:cNvPr id="5" name="Image 4" descr="Une image contenant texte, capture d’écran, menu, Police&#10;&#10;Le contenu généré par l’IA peut être incorrect.">
            <a:extLst>
              <a:ext uri="{FF2B5EF4-FFF2-40B4-BE49-F238E27FC236}">
                <a16:creationId xmlns:a16="http://schemas.microsoft.com/office/drawing/2014/main" id="{F6129116-4D45-BE23-F904-3EE2907BCB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9" y="2454041"/>
            <a:ext cx="3057053" cy="2009541"/>
          </a:xfrm>
          <a:prstGeom prst="rect">
            <a:avLst/>
          </a:prstGeom>
        </p:spPr>
      </p:pic>
      <p:pic>
        <p:nvPicPr>
          <p:cNvPr id="6" name="Image 5" descr="Une image contenant texte, capture d’écran, nombre, Police&#10;&#10;Description générée automatiquement">
            <a:extLst>
              <a:ext uri="{FF2B5EF4-FFF2-40B4-BE49-F238E27FC236}">
                <a16:creationId xmlns:a16="http://schemas.microsoft.com/office/drawing/2014/main" id="{7D873A94-3267-0B61-07B8-A4A80DDB75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3506" y="2368634"/>
            <a:ext cx="3252537" cy="3955965"/>
          </a:xfrm>
          <a:prstGeom prst="rect">
            <a:avLst/>
          </a:prstGeom>
        </p:spPr>
      </p:pic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9F04B6E2-4FAC-D447-986A-49F899F0FA42}"/>
              </a:ext>
            </a:extLst>
          </p:cNvPr>
          <p:cNvSpPr txBox="1">
            <a:spLocks/>
          </p:cNvSpPr>
          <p:nvPr/>
        </p:nvSpPr>
        <p:spPr>
          <a:xfrm>
            <a:off x="621006" y="4706588"/>
            <a:ext cx="5838688" cy="43778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defPPr>
              <a:defRPr lang="fr-FR"/>
            </a:defPPr>
            <a:lvl1pPr indent="0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None/>
              <a:defRPr sz="1600" u="sng">
                <a:solidFill>
                  <a:schemeClr val="tx2"/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1143000" indent="-228600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3pPr>
            <a:lvl4pPr marL="1600200" indent="-228600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4pPr>
            <a:lvl5pPr marL="2057400" indent="-228600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fr-FR" sz="1500" dirty="0"/>
              <a:t>Différence en pourcentage du prix au mètre carré entre un appartement 2 pièces et un appartement 3 pièces</a:t>
            </a:r>
            <a:endParaRPr lang="fr-FR" dirty="0"/>
          </a:p>
        </p:txBody>
      </p:sp>
      <p:pic>
        <p:nvPicPr>
          <p:cNvPr id="8" name="Image 7" descr="Une image contenant texte, Police, blanc, capture d’écran&#10;&#10;Le contenu généré par l’IA peut être incorrect.">
            <a:extLst>
              <a:ext uri="{FF2B5EF4-FFF2-40B4-BE49-F238E27FC236}">
                <a16:creationId xmlns:a16="http://schemas.microsoft.com/office/drawing/2014/main" id="{53C257D7-338F-EA43-2CC3-296E7A64D43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9" y="5197406"/>
            <a:ext cx="2192757" cy="437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246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98D932-6FED-205B-9721-1D09A7BF1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 des requêtes 4/4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5D673CC-227E-069A-1136-A62EF2FA9DAE}"/>
              </a:ext>
            </a:extLst>
          </p:cNvPr>
          <p:cNvSpPr txBox="1">
            <a:spLocks/>
          </p:cNvSpPr>
          <p:nvPr/>
        </p:nvSpPr>
        <p:spPr>
          <a:xfrm>
            <a:off x="621006" y="1915557"/>
            <a:ext cx="5213997" cy="43778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defPPr>
              <a:defRPr lang="fr-FR"/>
            </a:defPPr>
            <a:lvl1pPr indent="0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None/>
              <a:defRPr sz="1600" u="sng">
                <a:solidFill>
                  <a:schemeClr val="tx2"/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1143000" indent="-228600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3pPr>
            <a:lvl4pPr marL="1600200" indent="-228600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4pPr>
            <a:lvl5pPr marL="2057400" indent="-228600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fr-FR" dirty="0"/>
              <a:t>Les moyennes de valeurs foncières pour le top3 des communes des départements 6, 13, 33, 59 et 69 </a:t>
            </a:r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BAD0E690-AC49-86D5-5640-060EB8C5518C}"/>
              </a:ext>
            </a:extLst>
          </p:cNvPr>
          <p:cNvSpPr txBox="1">
            <a:spLocks/>
          </p:cNvSpPr>
          <p:nvPr/>
        </p:nvSpPr>
        <p:spPr>
          <a:xfrm>
            <a:off x="6024265" y="1915556"/>
            <a:ext cx="5838688" cy="43778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defPPr>
              <a:defRPr lang="fr-FR"/>
            </a:defPPr>
            <a:lvl1pPr indent="0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None/>
              <a:defRPr sz="1600" u="sng">
                <a:solidFill>
                  <a:schemeClr val="tx2"/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1143000" indent="-228600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3pPr>
            <a:lvl4pPr marL="1600200" indent="-228600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4pPr>
            <a:lvl5pPr marL="2057400" indent="-228600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fr-FR" dirty="0"/>
              <a:t>Les 20 Communes avec le plus de transactions pour 1000 habitants pour les communes qui dépassent les 10 000 habitants </a:t>
            </a:r>
          </a:p>
        </p:txBody>
      </p:sp>
      <p:pic>
        <p:nvPicPr>
          <p:cNvPr id="5" name="Image 4" descr="Une image contenant texte, menu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FF786896-68E1-E332-45BB-7A27F9B3C6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548" y="2612847"/>
            <a:ext cx="3753701" cy="2245291"/>
          </a:xfrm>
          <a:prstGeom prst="rect">
            <a:avLst/>
          </a:prstGeom>
        </p:spPr>
      </p:pic>
      <p:pic>
        <p:nvPicPr>
          <p:cNvPr id="6" name="Image 5" descr="Une image contenant texte, menu, capture d’écran, nombre&#10;&#10;Le contenu généré par l’IA peut être incorrect.">
            <a:extLst>
              <a:ext uri="{FF2B5EF4-FFF2-40B4-BE49-F238E27FC236}">
                <a16:creationId xmlns:a16="http://schemas.microsoft.com/office/drawing/2014/main" id="{B54DAC34-E6C1-2A9B-B55C-A9C8CAE1588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429525"/>
            <a:ext cx="2541802" cy="261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6789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B8092E2-D77A-4CE6-BB2D-6269784456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2CD835-4B0F-45D6-9B85-B049A1005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3"/>
            <a:ext cx="12192000" cy="20089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00686DF-CC21-FB07-E1F2-2ACCD89B2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553" y="511309"/>
            <a:ext cx="9577116" cy="1221957"/>
          </a:xfrm>
        </p:spPr>
        <p:txBody>
          <a:bodyPr anchor="ctr">
            <a:normAutofit/>
          </a:bodyPr>
          <a:lstStyle/>
          <a:p>
            <a:r>
              <a:rPr lang="fr-FR" dirty="0"/>
              <a:t>Les points d’attention 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971A1EC-5980-40B2-973F-0D3D6630D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0049A56-C4C2-4C0F-9F4F-D0E34391D9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78117" y="0"/>
            <a:ext cx="340591" cy="20095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D02BE56-7EB5-4E62-B6E2-1C49E470A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1299548"/>
            <a:ext cx="1769035" cy="69557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EAC3A0-6484-4F83-36E2-36D7BF1B8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85" y="2520209"/>
            <a:ext cx="5479065" cy="388441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fr-FR" dirty="0"/>
              <a:t>Remplacer les « , » par des « . » dans les tables, sinon les nombres n’étaient pas correctement classés malgré le « </a:t>
            </a:r>
            <a:r>
              <a:rPr lang="fr-FR" dirty="0" err="1"/>
              <a:t>Float</a:t>
            </a:r>
            <a:r>
              <a:rPr lang="fr-FR" dirty="0"/>
              <a:t> »</a:t>
            </a:r>
          </a:p>
          <a:p>
            <a:pPr>
              <a:lnSpc>
                <a:spcPct val="90000"/>
              </a:lnSpc>
            </a:pPr>
            <a:r>
              <a:rPr lang="fr-FR" dirty="0"/>
              <a:t>Importation en Latin1 pour la gestion des accents</a:t>
            </a:r>
          </a:p>
          <a:p>
            <a:pPr>
              <a:lnSpc>
                <a:spcPct val="90000"/>
              </a:lnSpc>
            </a:pPr>
            <a:r>
              <a:rPr lang="fr-FR" dirty="0"/>
              <a:t>Usage des différentes jointures </a:t>
            </a:r>
          </a:p>
          <a:p>
            <a:pPr>
              <a:lnSpc>
                <a:spcPct val="90000"/>
              </a:lnSpc>
            </a:pPr>
            <a:r>
              <a:rPr lang="fr-FR" dirty="0"/>
              <a:t>Découverte de fonctions avancées : </a:t>
            </a:r>
          </a:p>
          <a:p>
            <a:pPr lvl="1">
              <a:lnSpc>
                <a:spcPct val="90000"/>
              </a:lnSpc>
            </a:pPr>
            <a:r>
              <a:rPr lang="fr-FR" dirty="0"/>
              <a:t>WITH</a:t>
            </a:r>
          </a:p>
          <a:p>
            <a:pPr lvl="1">
              <a:lnSpc>
                <a:spcPct val="90000"/>
              </a:lnSpc>
            </a:pPr>
            <a:r>
              <a:rPr lang="fr-FR" dirty="0"/>
              <a:t>COALESCE</a:t>
            </a:r>
          </a:p>
          <a:p>
            <a:pPr lvl="1">
              <a:lnSpc>
                <a:spcPct val="90000"/>
              </a:lnSpc>
            </a:pPr>
            <a:r>
              <a:rPr lang="fr-FR" dirty="0"/>
              <a:t>RANK () OVER() PARTITION BY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4595B06-EDA5-4E45-BED4-7891E7E0C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1150" y="1171094"/>
            <a:ext cx="4860850" cy="82402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79C9A5D-F572-476A-99A9-700077150B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8968704" y="0"/>
            <a:ext cx="2147217" cy="199511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9592DA5-68A4-46A6-90EA-F0304FF8E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94353" y="-14436"/>
            <a:ext cx="239059" cy="20095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 6" descr="Une image contenant texte, capture d’écran, Police, conception&#10;&#10;Le contenu généré par l’IA peut être incorrect.">
            <a:extLst>
              <a:ext uri="{FF2B5EF4-FFF2-40B4-BE49-F238E27FC236}">
                <a16:creationId xmlns:a16="http://schemas.microsoft.com/office/drawing/2014/main" id="{96349C34-F2F4-1C39-B6C9-09B836DE8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6957" y="3165558"/>
            <a:ext cx="5847396" cy="2760545"/>
          </a:xfrm>
          <a:prstGeom prst="rect">
            <a:avLst/>
          </a:prstGeom>
        </p:spPr>
      </p:pic>
      <p:sp>
        <p:nvSpPr>
          <p:cNvPr id="8" name="Étoile à 5 branches 7">
            <a:extLst>
              <a:ext uri="{FF2B5EF4-FFF2-40B4-BE49-F238E27FC236}">
                <a16:creationId xmlns:a16="http://schemas.microsoft.com/office/drawing/2014/main" id="{3D01D5EA-9FA2-B840-7C99-18C8E4B82840}"/>
              </a:ext>
            </a:extLst>
          </p:cNvPr>
          <p:cNvSpPr/>
          <p:nvPr/>
        </p:nvSpPr>
        <p:spPr>
          <a:xfrm>
            <a:off x="10652490" y="2950025"/>
            <a:ext cx="270299" cy="273133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Étoile à 5 branches 8">
            <a:extLst>
              <a:ext uri="{FF2B5EF4-FFF2-40B4-BE49-F238E27FC236}">
                <a16:creationId xmlns:a16="http://schemas.microsoft.com/office/drawing/2014/main" id="{FDA24FEA-AA7F-BC8F-80AF-D10D5833D19F}"/>
              </a:ext>
            </a:extLst>
          </p:cNvPr>
          <p:cNvSpPr/>
          <p:nvPr/>
        </p:nvSpPr>
        <p:spPr>
          <a:xfrm>
            <a:off x="9146480" y="2955179"/>
            <a:ext cx="270299" cy="273133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Étoile à 5 branches 10">
            <a:extLst>
              <a:ext uri="{FF2B5EF4-FFF2-40B4-BE49-F238E27FC236}">
                <a16:creationId xmlns:a16="http://schemas.microsoft.com/office/drawing/2014/main" id="{700C9DF5-E895-6A06-66DE-F5B46264CEF2}"/>
              </a:ext>
            </a:extLst>
          </p:cNvPr>
          <p:cNvSpPr/>
          <p:nvPr/>
        </p:nvSpPr>
        <p:spPr>
          <a:xfrm>
            <a:off x="9122729" y="4273340"/>
            <a:ext cx="270299" cy="273133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3240520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AnalogousFromLightSeedRightStep">
      <a:dk1>
        <a:srgbClr val="000000"/>
      </a:dk1>
      <a:lt1>
        <a:srgbClr val="FFFFFF"/>
      </a:lt1>
      <a:dk2>
        <a:srgbClr val="243141"/>
      </a:dk2>
      <a:lt2>
        <a:srgbClr val="E2E3E8"/>
      </a:lt2>
      <a:accent1>
        <a:srgbClr val="AAA180"/>
      </a:accent1>
      <a:accent2>
        <a:srgbClr val="9CA671"/>
      </a:accent2>
      <a:accent3>
        <a:srgbClr val="8FA880"/>
      </a:accent3>
      <a:accent4>
        <a:srgbClr val="76AD78"/>
      </a:accent4>
      <a:accent5>
        <a:srgbClr val="81AB94"/>
      </a:accent5>
      <a:accent6>
        <a:srgbClr val="74AAA2"/>
      </a:accent6>
      <a:hlink>
        <a:srgbClr val="6978AE"/>
      </a:hlink>
      <a:folHlink>
        <a:srgbClr val="7F7F7F"/>
      </a:folHlink>
    </a:clrScheme>
    <a:fontScheme name="Walbaum Light Univers Light">
      <a:majorFont>
        <a:latin typeface="Walbaum Display Light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1841</TotalTime>
  <Words>479</Words>
  <Application>Microsoft Macintosh PowerPoint</Application>
  <PresentationFormat>Grand écran</PresentationFormat>
  <Paragraphs>63</Paragraphs>
  <Slides>12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20" baseType="lpstr">
      <vt:lpstr>Aptos</vt:lpstr>
      <vt:lpstr>Arial</vt:lpstr>
      <vt:lpstr>Calibri</vt:lpstr>
      <vt:lpstr>Inter</vt:lpstr>
      <vt:lpstr>Univers Condensed Light</vt:lpstr>
      <vt:lpstr>Walbaum Display Light</vt:lpstr>
      <vt:lpstr>Wingdings</vt:lpstr>
      <vt:lpstr>AngleLinesVTI</vt:lpstr>
      <vt:lpstr>Projet DATA Immo</vt:lpstr>
      <vt:lpstr>Contexte</vt:lpstr>
      <vt:lpstr>Dictionnaire des données  sans données personnelles</vt:lpstr>
      <vt:lpstr>Etablissement d’un Modèle conceptuel des données</vt:lpstr>
      <vt:lpstr>Préparation et importation des données DANS SQLITE Studio</vt:lpstr>
      <vt:lpstr>Vérification DES données</vt:lpstr>
      <vt:lpstr>Vérification DES données</vt:lpstr>
      <vt:lpstr>résultats des requêtes 1/4</vt:lpstr>
      <vt:lpstr>résultats des requêtes 2/4</vt:lpstr>
      <vt:lpstr>résultats des requêtes 3/4</vt:lpstr>
      <vt:lpstr>résultats des requêtes 4/4</vt:lpstr>
      <vt:lpstr>Les points d’attention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Romain RAMAT</dc:creator>
  <cp:lastModifiedBy>Romain RAMAT</cp:lastModifiedBy>
  <cp:revision>13</cp:revision>
  <dcterms:created xsi:type="dcterms:W3CDTF">2025-01-04T12:59:58Z</dcterms:created>
  <dcterms:modified xsi:type="dcterms:W3CDTF">2025-01-23T21:44:13Z</dcterms:modified>
</cp:coreProperties>
</file>