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58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04902-FB81-4688-9E71-12A2B68FBF0C}" v="30" dt="2025-06-10T22:02:40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00EB5-04A8-48EA-962E-C29B5FFA2F43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B4654-0EF7-416B-9BF0-3C4F42D024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156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89B0-F33D-492F-8753-C37DF3710AC2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6" y="152400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43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E4FDD-5C01-4399-B6B3-F0C13C5A2786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2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407" y="519262"/>
            <a:ext cx="8534401" cy="688675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DF94E6F5-CD05-E0AE-4B2D-137704002DB6}"/>
              </a:ext>
            </a:extLst>
          </p:cNvPr>
          <p:cNvSpPr/>
          <p:nvPr userDrawn="1"/>
        </p:nvSpPr>
        <p:spPr>
          <a:xfrm rot="8104090">
            <a:off x="9660649" y="5281108"/>
            <a:ext cx="3744796" cy="1851734"/>
          </a:xfrm>
          <a:prstGeom prst="triangle">
            <a:avLst>
              <a:gd name="adj" fmla="val 49711"/>
            </a:avLst>
          </a:prstGeom>
          <a:gradFill flip="none" rotWithShape="1">
            <a:gsLst>
              <a:gs pos="0">
                <a:schemeClr val="tx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tx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tx2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9F3390C-3046-EA5A-200C-9FCCD5CC0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6407" y="1748366"/>
            <a:ext cx="8534401" cy="4169834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E13581F-20B7-1897-6FDF-4D76620A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1924" y="6073775"/>
            <a:ext cx="1142245" cy="66992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093EAFD0-2369-4964-9903-1F7A11BD22A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0116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E2DDA-7CDB-44D7-B6A9-382C7663F552}" type="datetime1">
              <a:rPr lang="fr-FR" smtClean="0"/>
              <a:t>10/11/2025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646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F65C1-0460-4D0D-9F86-1BBAF339B276}" type="datetime1">
              <a:rPr lang="fr-FR" smtClean="0"/>
              <a:t>10/11/2025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04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FEF8D-AF92-4A10-9349-E7550D81328F}" type="datetime1">
              <a:rPr lang="fr-FR" smtClean="0"/>
              <a:t>10/11/2025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63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8524A-C7F1-42A3-A8F7-496DED3E98D9}" type="datetime1">
              <a:rPr lang="fr-FR" smtClean="0"/>
              <a:t>10/11/2025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010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76935-2178-4282-9A5E-A31F4A6F9F1E}" type="datetime1">
              <a:rPr lang="fr-FR" smtClean="0"/>
              <a:t>10/11/2025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52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0A38F-FCC3-43B0-815D-226EF051AF1E}" type="datetime1">
              <a:rPr lang="fr-FR" smtClean="0"/>
              <a:t>10/11/2025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901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6E8B4-879C-4058-AAC8-048648AB5453}" type="datetime1">
              <a:rPr lang="fr-FR" smtClean="0"/>
              <a:t>10/11/2025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49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D9FAA-EF09-41AA-B2B8-FF27BB22ABBF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9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965-AE60-403A-906A-D6E58B3D2A10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1535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80CF3-56EA-4E96-A465-3D416E1F738F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621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E6A7-8456-461E-9D25-E99DD8BC8D61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9831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BF42-5FE6-482B-9C47-EA7BF7DCD730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003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47A78-905A-436C-97F1-601D85EF965C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493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32FEA-0294-4D68-86F6-705E1DF46DC6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66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0276B08-2AC7-4B55-B3F5-D0D1FDD8F89D}" type="datetime1">
              <a:rPr lang="fr-FR" smtClean="0"/>
              <a:t>10/11/2025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93EAFD0-2369-4964-9903-1F7A11BD22A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2528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067A139-86EB-480F-AE6B-AF8092F21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AB5AF5F-D30C-DF10-C1F1-AFE963167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628617"/>
            <a:ext cx="5408613" cy="3028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100" dirty="0"/>
              <a:t>Dashboard Etude de l’Insalubrité de L’eau a travers le monde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5A5DA73-539C-223C-069D-AA239FAEB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3843868"/>
            <a:ext cx="4264026" cy="1564744"/>
          </a:xfrm>
        </p:spPr>
        <p:txBody>
          <a:bodyPr>
            <a:normAutofit/>
          </a:bodyPr>
          <a:lstStyle/>
          <a:p>
            <a:r>
              <a:rPr lang="fr-FR" dirty="0"/>
              <a:t>Romain RAMAT 14/06/2025</a:t>
            </a:r>
          </a:p>
          <a:p>
            <a:r>
              <a:rPr lang="fr-FR" dirty="0"/>
              <a:t>« </a:t>
            </a:r>
            <a:r>
              <a:rPr lang="fr-FR" dirty="0" err="1"/>
              <a:t>Drinking</a:t>
            </a:r>
            <a:r>
              <a:rPr lang="fr-FR" dirty="0"/>
              <a:t> Water For All »</a:t>
            </a:r>
          </a:p>
        </p:txBody>
      </p:sp>
      <p:sp>
        <p:nvSpPr>
          <p:cNvPr id="26" name="Snip Diagonal Corner Rectangle 6">
            <a:extLst>
              <a:ext uri="{FF2B5EF4-FFF2-40B4-BE49-F238E27FC236}">
                <a16:creationId xmlns:a16="http://schemas.microsoft.com/office/drawing/2014/main" id="{4E252378-AA68-427C-BF69-E4434E447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0" y="620722"/>
            <a:ext cx="5136155" cy="5286838"/>
          </a:xfrm>
          <a:prstGeom prst="snip2DiagRect">
            <a:avLst>
              <a:gd name="adj1" fmla="val 9954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365A5-8EF5-1AD2-E1F7-9CBF18C804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1" r="19336" b="-1"/>
          <a:stretch>
            <a:fillRect/>
          </a:stretch>
        </p:blipFill>
        <p:spPr>
          <a:xfrm>
            <a:off x="797205" y="786117"/>
            <a:ext cx="4809744" cy="4956048"/>
          </a:xfrm>
          <a:custGeom>
            <a:avLst/>
            <a:gdLst/>
            <a:ahLst/>
            <a:cxnLst/>
            <a:rect l="l" t="t" r="r" b="b"/>
            <a:pathLst>
              <a:path w="4809744" h="4956048">
                <a:moveTo>
                  <a:pt x="478762" y="0"/>
                </a:moveTo>
                <a:lnTo>
                  <a:pt x="4809744" y="0"/>
                </a:lnTo>
                <a:lnTo>
                  <a:pt x="4809744" y="4477286"/>
                </a:lnTo>
                <a:lnTo>
                  <a:pt x="4330982" y="4956048"/>
                </a:lnTo>
                <a:lnTo>
                  <a:pt x="0" y="4956048"/>
                </a:lnTo>
                <a:lnTo>
                  <a:pt x="0" y="478762"/>
                </a:lnTo>
                <a:close/>
              </a:path>
            </a:pathLst>
          </a:cu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65E8C853-59EA-4FCB-BB4E-1B0AEEA40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8D8A51-1FB2-4FA0-A860-D57179B52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5C2F33D-5361-48D8-899D-50A713699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608EC6-04A0-4D53-B4C8-57F06AF14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C42FEC-C8F1-465B-900B-C7F552326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4CDCA4C-0922-4330-AF15-394E8C6DD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65B0CE-EECD-4367-3385-F29B4234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489" y="6085360"/>
            <a:ext cx="1142245" cy="669925"/>
          </a:xfrm>
        </p:spPr>
        <p:txBody>
          <a:bodyPr/>
          <a:lstStyle/>
          <a:p>
            <a:fld id="{093EAFD0-2369-4964-9903-1F7A11BD22A1}" type="slidenum">
              <a:rPr lang="fr-FR" sz="2400" smtClean="0">
                <a:solidFill>
                  <a:schemeClr val="tx1"/>
                </a:solidFill>
              </a:rPr>
              <a:t>1</a:t>
            </a:fld>
            <a:endParaRPr lang="fr-F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8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441E03-E1EF-9B93-90E1-EDC7BD70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dirty="0">
                <a:solidFill>
                  <a:schemeClr val="tx2"/>
                </a:solidFill>
              </a:rPr>
              <a:t>Contexte et 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E4EFC3-8CF8-376A-CA48-3516E95B47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2400" y="1621631"/>
            <a:ext cx="8534400" cy="361473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Mise en place d’un </a:t>
            </a:r>
            <a:r>
              <a:rPr lang="fr-FR" dirty="0" err="1">
                <a:solidFill>
                  <a:schemeClr val="tx1"/>
                </a:solidFill>
              </a:rPr>
              <a:t>Dashbord</a:t>
            </a:r>
            <a:r>
              <a:rPr lang="fr-FR" dirty="0">
                <a:solidFill>
                  <a:schemeClr val="tx1"/>
                </a:solidFill>
              </a:rPr>
              <a:t> sur les 3 domaines d’expertise 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</a:rPr>
              <a:t>Création de services d’accès à l’eau potable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</a:rPr>
              <a:t>Modernisation de services d’accès à l’eau déjà existants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</a:rPr>
              <a:t>Consulting auprès d’administrations/gouvernements à propos des politiques d’accès à l’eau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Objectif est d’identifier des pays candidats qui rencontrent des difficultés d’accès à l’eau potable, mais permettant des interventions dans des conditions sécurisés et sur des zones ciblées.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F01575D-07E9-EAC9-25BB-8C1BE3B32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842" y="235973"/>
            <a:ext cx="1642185" cy="1040323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6176BE-82E5-00C4-6F47-A36A5E79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7928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8BA61-B5BE-BC81-67B3-C0BA8795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dirty="0">
                <a:solidFill>
                  <a:schemeClr val="tx2"/>
                </a:solidFill>
              </a:rPr>
              <a:t>Données sources</a:t>
            </a:r>
          </a:p>
        </p:txBody>
      </p:sp>
      <p:sp>
        <p:nvSpPr>
          <p:cNvPr id="27" name="Espace réservé du numéro de diapositive 26">
            <a:extLst>
              <a:ext uri="{FF2B5EF4-FFF2-40B4-BE49-F238E27FC236}">
                <a16:creationId xmlns:a16="http://schemas.microsoft.com/office/drawing/2014/main" id="{0F8D27F1-2ED4-D380-8BD4-B5708D1F9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t>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EC5A465-07C9-EB7D-20F5-0341ADD00AF8}"/>
              </a:ext>
            </a:extLst>
          </p:cNvPr>
          <p:cNvSpPr txBox="1"/>
          <p:nvPr/>
        </p:nvSpPr>
        <p:spPr>
          <a:xfrm>
            <a:off x="684212" y="1904444"/>
            <a:ext cx="202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Population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D984AAD-5B75-E004-FF3E-66EF99785E5B}"/>
              </a:ext>
            </a:extLst>
          </p:cNvPr>
          <p:cNvSpPr txBox="1"/>
          <p:nvPr/>
        </p:nvSpPr>
        <p:spPr>
          <a:xfrm>
            <a:off x="2433440" y="2162573"/>
            <a:ext cx="222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Stabilité Politique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B8FA58-606C-3C7C-34FD-F2FC56B3B0AC}"/>
              </a:ext>
            </a:extLst>
          </p:cNvPr>
          <p:cNvSpPr txBox="1"/>
          <p:nvPr/>
        </p:nvSpPr>
        <p:spPr>
          <a:xfrm>
            <a:off x="4782736" y="2409736"/>
            <a:ext cx="222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Accès à Eau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DA1870E-3CE4-99AB-BED4-2355A951A3A3}"/>
              </a:ext>
            </a:extLst>
          </p:cNvPr>
          <p:cNvSpPr txBox="1"/>
          <p:nvPr/>
        </p:nvSpPr>
        <p:spPr>
          <a:xfrm>
            <a:off x="7332238" y="2613907"/>
            <a:ext cx="124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Mortalité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C9F5281-8F1F-DD0D-6BE7-B339F9F00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899" y="434060"/>
            <a:ext cx="458783" cy="479732"/>
          </a:xfrm>
          <a:prstGeom prst="rect">
            <a:avLst/>
          </a:prstGeom>
        </p:spPr>
      </p:pic>
      <p:sp>
        <p:nvSpPr>
          <p:cNvPr id="15" name="Accolade fermante 14">
            <a:extLst>
              <a:ext uri="{FF2B5EF4-FFF2-40B4-BE49-F238E27FC236}">
                <a16:creationId xmlns:a16="http://schemas.microsoft.com/office/drawing/2014/main" id="{3820AA32-09A6-CBBF-8884-FEEDDEA0DE0A}"/>
              </a:ext>
            </a:extLst>
          </p:cNvPr>
          <p:cNvSpPr/>
          <p:nvPr/>
        </p:nvSpPr>
        <p:spPr>
          <a:xfrm rot="5400000">
            <a:off x="5454367" y="36874"/>
            <a:ext cx="410753" cy="8736655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C2CE39E-870B-F7A1-5563-4FD02971BAA6}"/>
              </a:ext>
            </a:extLst>
          </p:cNvPr>
          <p:cNvSpPr txBox="1"/>
          <p:nvPr/>
        </p:nvSpPr>
        <p:spPr>
          <a:xfrm>
            <a:off x="3582106" y="4746519"/>
            <a:ext cx="456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Clé commune : Le Pays concerné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1BC1337-565C-0E79-BE44-7D9A62C96E5D}"/>
              </a:ext>
            </a:extLst>
          </p:cNvPr>
          <p:cNvSpPr txBox="1"/>
          <p:nvPr/>
        </p:nvSpPr>
        <p:spPr>
          <a:xfrm>
            <a:off x="9309523" y="2852060"/>
            <a:ext cx="143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Continent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83722A1-B6BC-1964-ECD3-F039E5E97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72" y="2463504"/>
            <a:ext cx="869957" cy="817232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C25E545-F3D8-6E93-C91A-B0A0899A3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523" y="2694970"/>
            <a:ext cx="786533" cy="643528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32F0F91-585C-C083-6A30-194884AAF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291" y="2789012"/>
            <a:ext cx="786532" cy="77443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9FDFB0D-A44F-C7FA-62CE-60E3975A0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441" y="2995070"/>
            <a:ext cx="875402" cy="68685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A378C98-1BBF-3642-1ADC-F4977FB945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0370" y="3223299"/>
            <a:ext cx="875402" cy="71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94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978FAE0-94DB-8F83-79C2-23F1EE5B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07" y="519262"/>
            <a:ext cx="10629093" cy="688675"/>
          </a:xfrm>
        </p:spPr>
        <p:txBody>
          <a:bodyPr>
            <a:normAutofit fontScale="90000"/>
          </a:bodyPr>
          <a:lstStyle/>
          <a:p>
            <a:r>
              <a:rPr lang="fr-FR" dirty="0"/>
              <a:t>Quelques ajustements mineurs des données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628D5D2-725A-A5C9-3AE8-7DE6696FA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Mise en entête des premières lignes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Correction des noms de quelques pays (Iran, Bolivie, Venezuela)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Clarification des titres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Mise à jour des valeurs au format « virgule 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Ajustement de la chine et ses voisins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25AD1D2-0A5C-2A77-3616-AA853892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1132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535C0-5854-6805-18A0-CA783667E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indicateurs clés via </a:t>
            </a:r>
            <a:r>
              <a:rPr lang="fr-FR" dirty="0" err="1"/>
              <a:t>blue</a:t>
            </a:r>
            <a:r>
              <a:rPr lang="fr-FR" dirty="0"/>
              <a:t> </a:t>
            </a:r>
            <a:r>
              <a:rPr lang="fr-FR" dirty="0" err="1"/>
              <a:t>print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739D26-9C5B-23D5-21D2-1C8271194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6407" y="1344083"/>
            <a:ext cx="8534401" cy="242781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Répartition par taux de mortalité au Global, par continent, par Pays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Evaluation du nombre de décès au Global, par Contient, par Pays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Nombre de pays concernés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Répartition des taux d’accès à des points d’eau potable sécurisé  / basic, évolution entre 2000 et 2017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Répartition Hommes / Femmes / Urbain / Rural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DEC993D-6629-95C6-9052-8735DE37D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968" y="3771900"/>
            <a:ext cx="2012797" cy="28277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A8280D6-4232-9EED-0A77-5033E0AD0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24" y="3760286"/>
            <a:ext cx="2012797" cy="2839408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7F69784-A731-B5F5-6154-86502A2A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9" name="Étoile : 7 branches 8">
            <a:extLst>
              <a:ext uri="{FF2B5EF4-FFF2-40B4-BE49-F238E27FC236}">
                <a16:creationId xmlns:a16="http://schemas.microsoft.com/office/drawing/2014/main" id="{551E9FD0-53E1-4650-A0C7-A2E6C0CDE4A7}"/>
              </a:ext>
            </a:extLst>
          </p:cNvPr>
          <p:cNvSpPr/>
          <p:nvPr/>
        </p:nvSpPr>
        <p:spPr>
          <a:xfrm>
            <a:off x="4955063" y="4229100"/>
            <a:ext cx="1052037" cy="1081617"/>
          </a:xfrm>
          <a:prstGeom prst="star7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Blue </a:t>
            </a:r>
            <a:r>
              <a:rPr lang="fr-FR" sz="1400" dirty="0" err="1"/>
              <a:t>Print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80816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DB941-7CA3-744B-FA85-F5163F1AB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000" dirty="0">
                <a:solidFill>
                  <a:schemeClr val="tx2"/>
                </a:solidFill>
              </a:rPr>
              <a:t>Vision Zoom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05C4F3-69F4-B3A1-5EF9-74E20A9F9AF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516063"/>
            <a:ext cx="10833100" cy="3614737"/>
          </a:xfrm>
        </p:spPr>
        <p:txBody>
          <a:bodyPr anchor="t" anchorCtr="0">
            <a:normAutofit/>
          </a:bodyPr>
          <a:lstStyle/>
          <a:p>
            <a:r>
              <a:rPr lang="fr-FR" dirty="0" err="1">
                <a:solidFill>
                  <a:schemeClr val="tx1"/>
                </a:solidFill>
              </a:rPr>
              <a:t>Dashbord</a:t>
            </a:r>
            <a:r>
              <a:rPr lang="fr-FR" dirty="0">
                <a:solidFill>
                  <a:schemeClr val="tx1"/>
                </a:solidFill>
              </a:rPr>
              <a:t> construit sur plusieurs niveaux permettant d’identifier les pays candidats 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Taux de mortalité / Stabilité Politique / Répartition de la population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AC781E7-8C2F-0335-1A75-FE0987A88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35" y="2609317"/>
            <a:ext cx="2284453" cy="234099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74D5B1A-3D86-A20E-0D9F-250AD8674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227" y="3389567"/>
            <a:ext cx="2553056" cy="195289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9" name="Flèche : courbe vers le bas 8">
            <a:extLst>
              <a:ext uri="{FF2B5EF4-FFF2-40B4-BE49-F238E27FC236}">
                <a16:creationId xmlns:a16="http://schemas.microsoft.com/office/drawing/2014/main" id="{CAF6CC9E-01E8-B431-DCC8-EDB706757318}"/>
              </a:ext>
            </a:extLst>
          </p:cNvPr>
          <p:cNvSpPr/>
          <p:nvPr/>
        </p:nvSpPr>
        <p:spPr>
          <a:xfrm rot="560716">
            <a:off x="2706842" y="2505144"/>
            <a:ext cx="1397835" cy="904569"/>
          </a:xfrm>
          <a:prstGeom prst="curvedDownArrow">
            <a:avLst>
              <a:gd name="adj1" fmla="val 20720"/>
              <a:gd name="adj2" fmla="val 77265"/>
              <a:gd name="adj3" fmla="val 445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FBE32BF-BCD9-7FA3-6320-80A8E8745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147" y="2649158"/>
            <a:ext cx="2553056" cy="26864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1675AA02-95F3-BB21-1FE7-6B4F906D09B1}"/>
              </a:ext>
            </a:extLst>
          </p:cNvPr>
          <p:cNvSpPr/>
          <p:nvPr/>
        </p:nvSpPr>
        <p:spPr>
          <a:xfrm>
            <a:off x="6380433" y="3765561"/>
            <a:ext cx="1024143" cy="453620"/>
          </a:xfrm>
          <a:prstGeom prst="rightArrow">
            <a:avLst>
              <a:gd name="adj1" fmla="val 41330"/>
              <a:gd name="adj2" fmla="val 803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A7670E-69AB-C340-4F07-C9A27DAB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315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E2CB7-DB2A-AFC2-015C-9A8A0A55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Utilisation de Power BI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1507BC-8803-A1F9-09E5-C109DED8B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Simplicité d’accès, dynamique des rapports, très rependu en entreprise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4D364-8D4F-E478-EF1F-1C49C4C4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9DE41C9-3AF2-2D52-B67B-7521F25B2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735" y="2391583"/>
            <a:ext cx="3832365" cy="288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3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A9E464-2075-7D91-601D-4E7B4626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07" y="201762"/>
            <a:ext cx="10489393" cy="688675"/>
          </a:xfrm>
        </p:spPr>
        <p:txBody>
          <a:bodyPr>
            <a:normAutofit fontScale="90000"/>
          </a:bodyPr>
          <a:lstStyle/>
          <a:p>
            <a:r>
              <a:rPr lang="fr-FR" dirty="0"/>
              <a:t>Dashboard sur 4 niveaux pour lecture précise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CCBDDA9-7931-AD12-99EC-C9EB5F467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07" y="1207937"/>
            <a:ext cx="4013200" cy="230098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C4FF37C-6BBF-132F-1E2E-C08066C86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192" y="1207937"/>
            <a:ext cx="4013200" cy="230098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2B8ADD1-80FD-67E0-EA1E-0F01AA51B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192" y="4055256"/>
            <a:ext cx="4013200" cy="225664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5044DC3-6159-4242-8BC4-264CF8499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07" y="4040986"/>
            <a:ext cx="4013200" cy="2270914"/>
          </a:xfrm>
          <a:prstGeom prst="rect">
            <a:avLst/>
          </a:prstGeom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4A1297C7-CF85-9092-8374-A4AEFD2C656B}"/>
              </a:ext>
            </a:extLst>
          </p:cNvPr>
          <p:cNvSpPr/>
          <p:nvPr/>
        </p:nvSpPr>
        <p:spPr>
          <a:xfrm>
            <a:off x="4991100" y="1905000"/>
            <a:ext cx="673100" cy="54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617F7E15-807A-B26B-9F73-26A73D20C88E}"/>
              </a:ext>
            </a:extLst>
          </p:cNvPr>
          <p:cNvSpPr/>
          <p:nvPr/>
        </p:nvSpPr>
        <p:spPr>
          <a:xfrm rot="10800000">
            <a:off x="4944849" y="4910528"/>
            <a:ext cx="673100" cy="54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B5FEE908-86F2-8524-2945-AF13D7BB75C2}"/>
              </a:ext>
            </a:extLst>
          </p:cNvPr>
          <p:cNvSpPr/>
          <p:nvPr/>
        </p:nvSpPr>
        <p:spPr>
          <a:xfrm rot="5400000">
            <a:off x="8021992" y="3509039"/>
            <a:ext cx="355600" cy="5461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B990BB24-1F85-4CAE-9ED4-24A9B974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EAFD0-2369-4964-9903-1F7A11BD22A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1903388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158</TotalTime>
  <Words>267</Words>
  <Application>Microsoft Office PowerPoint</Application>
  <PresentationFormat>Grand écran</PresentationFormat>
  <Paragraphs>44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Aptos</vt:lpstr>
      <vt:lpstr>Arial</vt:lpstr>
      <vt:lpstr>Century Gothic</vt:lpstr>
      <vt:lpstr>Wingdings</vt:lpstr>
      <vt:lpstr>Wingdings 3</vt:lpstr>
      <vt:lpstr>Secteur</vt:lpstr>
      <vt:lpstr>Dashboard Etude de l’Insalubrité de L’eau a travers le monde</vt:lpstr>
      <vt:lpstr>Contexte et Objectif</vt:lpstr>
      <vt:lpstr>Données sources</vt:lpstr>
      <vt:lpstr>Quelques ajustements mineurs des données</vt:lpstr>
      <vt:lpstr>Les indicateurs clés via blue print</vt:lpstr>
      <vt:lpstr>Vision Zoom</vt:lpstr>
      <vt:lpstr>Utilisation de Power BI</vt:lpstr>
      <vt:lpstr>Dashboard sur 4 niveaux pour lecture précise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RAMAT</dc:creator>
  <cp:lastModifiedBy>Romain RAMAT</cp:lastModifiedBy>
  <cp:revision>4</cp:revision>
  <dcterms:created xsi:type="dcterms:W3CDTF">2025-06-09T22:12:32Z</dcterms:created>
  <dcterms:modified xsi:type="dcterms:W3CDTF">2025-11-10T17:29:02Z</dcterms:modified>
</cp:coreProperties>
</file>