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9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2"/>
    <p:restoredTop sz="82336"/>
  </p:normalViewPr>
  <p:slideViewPr>
    <p:cSldViewPr snapToGrid="0">
      <p:cViewPr varScale="1">
        <p:scale>
          <a:sx n="83" d="100"/>
          <a:sy n="83" d="100"/>
        </p:scale>
        <p:origin x="2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1200" dirty="0">
              <a:latin typeface="+mn-lt"/>
              <a:ea typeface="Century Gothic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Comment identifier 2017, alors que la sous nutrition contient des plages de données.</a:t>
            </a: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 : 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Chiffre à calculer avec la disponibilité alimentaire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Combien de Kcal par personne et par jour ? 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200" b="0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Justification du chiffre</a:t>
            </a:r>
            <a:endParaRPr lang="fr-FR"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Idem, pas de précision de date sur la dispo alimentaire. Comment calculer sur 2017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Table « dispo alimentaire »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Retrait des colonnes non utiles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Retrait de l’origine « Animale »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Création d’une série </a:t>
            </a:r>
            <a:r>
              <a:rPr lang="fr-FR" dirty="0" err="1"/>
              <a:t>Céréale_FAO</a:t>
            </a:r>
            <a:r>
              <a:rPr lang="fr-FR" dirty="0"/>
              <a:t> =[‘Blé’, ‘Orge’, ‘Riz’, ‘Maïs’, ‘Seigle’, ‘Avoine’, ‘Millet’, ‘Sorgho’, Céréales,  ’autres’]  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Plage de 2 ans dans le CSV sous nutrition, comment ressortir 2017 ? </a:t>
            </a: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Suppression des colonne année et produit de la table aide alimentaire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Regroupement par Pays pour avoir la somme de l’aide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Tri des 10 pays qui ont reçu l’aide la plus importante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Utilisation d’un « pivot table » pour isoler les années en colonnes (2013, 2014, 2015 et 2016) et en additionnant les valeurs par années dans une colonne total.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Tri de la colonne total de façon décroissante pour récupérer les 5 pays qui ont ‘globalement’ reçu l’aide la plus importante.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Graphique de type plot avec une couleur par pays</a:t>
            </a:r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Sur </a:t>
            </a:r>
            <a:r>
              <a:rPr lang="fr-FR" dirty="0" err="1"/>
              <a:t>dispo_alimentaire.csv</a:t>
            </a:r>
            <a:r>
              <a:rPr lang="fr-FR" dirty="0"/>
              <a:t>, conservation des colonnes zone et dispo alimentaire.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Regroupement par pays, affichage des 10 pays par ordre décroissant et graphique sous format de ‘barres’.</a:t>
            </a:r>
            <a:endParaRPr dirty="0"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*Source disponibilité alimentaire. Idem slide 12 </a:t>
            </a:r>
            <a:endParaRPr dirty="0"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Pas de grandeur de la valeur pour la sous nutrition (6,2 ??) Millions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6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56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0513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855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403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48744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32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398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2294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888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7487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90402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72835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5053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976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3226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0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fao.org/4/AA040E/AA040E09.htm#ch8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 rot="-5400000">
            <a:off x="1503896" y="2805344"/>
            <a:ext cx="6858000" cy="1247311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2241706" y="181710"/>
            <a:ext cx="6786681" cy="229485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solidFill>
                  <a:schemeClr val="bg1"/>
                </a:solidFill>
              </a:rPr>
              <a:t>Étude sur l’alimentation dans le monde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223053" y="4477406"/>
            <a:ext cx="3508120" cy="167557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Romain RAMAT</a:t>
            </a:r>
            <a:endParaRPr sz="2800" dirty="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2024</a:t>
            </a:r>
            <a:endParaRPr dirty="0"/>
          </a:p>
        </p:txBody>
      </p:sp>
      <p:pic>
        <p:nvPicPr>
          <p:cNvPr id="3" name="Image 2" descr="Une image contenant personne, intérieur, nourriture, tenue&#10;&#10;Description générée automatiquement">
            <a:extLst>
              <a:ext uri="{FF2B5EF4-FFF2-40B4-BE49-F238E27FC236}">
                <a16:creationId xmlns:a16="http://schemas.microsoft.com/office/drawing/2014/main" id="{57207767-37CD-608C-F40D-45939937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840" y="2027902"/>
            <a:ext cx="3416411" cy="39309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Analyse de données de l’alimentation dans le monde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données sont issues du site ‘FAO’ Food and Agriculture Organisation des Nations Unis.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aide </a:t>
            </a:r>
            <a:r>
              <a:rPr lang="fr-FR" sz="1800" dirty="0" err="1"/>
              <a:t>alimentaire.csv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sous-</a:t>
            </a:r>
            <a:r>
              <a:rPr lang="fr-FR" sz="1800" dirty="0" err="1"/>
              <a:t>nutrition.csv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dispo </a:t>
            </a:r>
            <a:r>
              <a:rPr lang="fr-FR" sz="1800" dirty="0" err="1"/>
              <a:t>alimentaire.csv</a:t>
            </a:r>
            <a:endParaRPr lang="fr-FR" sz="1800" dirty="0"/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" pitchFamily="2" charset="2"/>
              <a:buChar char="Ø"/>
            </a:pPr>
            <a:r>
              <a:rPr lang="fr-FR" sz="1800" dirty="0"/>
              <a:t>	</a:t>
            </a:r>
            <a:r>
              <a:rPr lang="fr-FR" sz="1800" dirty="0" err="1"/>
              <a:t>Population.csv</a:t>
            </a:r>
            <a:endParaRPr lang="fr-FR" sz="18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années de références vont de 2013 à 2018 selon les sources, nous ferons un focus sur l’année 2017.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2" name="Image 1" descr="Une image contenant logo, symbole, Police, cercle&#10;&#10;Description générée automatiquement">
            <a:extLst>
              <a:ext uri="{FF2B5EF4-FFF2-40B4-BE49-F238E27FC236}">
                <a16:creationId xmlns:a16="http://schemas.microsoft.com/office/drawing/2014/main" id="{36A9161C-F3C4-6FBA-0EC7-FE53C50C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3372"/>
          <a:stretch/>
        </p:blipFill>
        <p:spPr>
          <a:xfrm>
            <a:off x="6912430" y="3238584"/>
            <a:ext cx="1813474" cy="1594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Méthodologie de l’analyse</a:t>
            </a:r>
          </a:p>
        </p:txBody>
      </p:sp>
      <p:sp>
        <p:nvSpPr>
          <p:cNvPr id="138" name="Google Shape;138;p3"/>
          <p:cNvSpPr txBox="1">
            <a:spLocks noGrp="1"/>
          </p:cNvSpPr>
          <p:nvPr>
            <p:ph idx="1"/>
          </p:nvPr>
        </p:nvSpPr>
        <p:spPr>
          <a:xfrm>
            <a:off x="246097" y="5466251"/>
            <a:ext cx="8842223" cy="1188540"/>
          </a:xfrm>
          <a:prstGeom prst="rect">
            <a:avLst/>
          </a:prstGeom>
        </p:spPr>
        <p:txBody>
          <a:bodyPr spcFirstLastPara="1" lIns="91425" tIns="45700" rIns="91425" bIns="45700" anchorCtr="0">
            <a:normAutofit lnSpcReduction="10000"/>
          </a:bodyPr>
          <a:lstStyle/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fr-FR" sz="1400" b="1" dirty="0"/>
              <a:t>*RGPD :</a:t>
            </a:r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1400" dirty="0"/>
              <a:t>Les données sont de niveau publiques, agrégées à l’échelle nationale ou régionale, les données sont non personnelles, elles ne concernent pas des individues identifiables.</a:t>
            </a:r>
          </a:p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fr-FR" sz="1400" dirty="0"/>
              <a:t>Conclusion : Les données étudiées ne rentrent pas dans le champ d’application du RGPD qui s’applique aux données à caractère personnel.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74CFE15-1AD6-0452-3848-0807AAE97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994324"/>
              </p:ext>
            </p:extLst>
          </p:nvPr>
        </p:nvGraphicFramePr>
        <p:xfrm>
          <a:off x="3139922" y="3833651"/>
          <a:ext cx="2294464" cy="1832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4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6076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Dispo_Alimentaire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107882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Zone(FK)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Disponibilité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Export, import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Production, pertes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1ABA174D-9387-D5DC-7123-8FE59F820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120668"/>
              </p:ext>
            </p:extLst>
          </p:nvPr>
        </p:nvGraphicFramePr>
        <p:xfrm>
          <a:off x="622304" y="2807108"/>
          <a:ext cx="2017482" cy="1188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2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32294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Sous_Nutrition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Zone (FK)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 (Plage)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Valeur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F11824E-FA9A-5493-BC06-3BC138E01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948537"/>
              </p:ext>
            </p:extLst>
          </p:nvPr>
        </p:nvGraphicFramePr>
        <p:xfrm>
          <a:off x="6596136" y="3138453"/>
          <a:ext cx="2294465" cy="1430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65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85323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Aide_Alimentaire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Pays bénéficiaire (FK)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Produit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Valeur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B79A8F3-7ABE-2366-6FA6-EF90A316E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16232"/>
              </p:ext>
            </p:extLst>
          </p:nvPr>
        </p:nvGraphicFramePr>
        <p:xfrm>
          <a:off x="4239378" y="2198007"/>
          <a:ext cx="1856622" cy="1230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622">
                  <a:extLst>
                    <a:ext uri="{9D8B030D-6E8A-4147-A177-3AD203B41FA5}">
                      <a16:colId xmlns:a16="http://schemas.microsoft.com/office/drawing/2014/main" val="654496138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820356"/>
                  </a:ext>
                </a:extLst>
              </a:tr>
              <a:tr h="8227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Pays(PK)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Année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400" dirty="0"/>
                        <a:t>Nombre habitant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52071"/>
                  </a:ext>
                </a:extLst>
              </a:tr>
            </a:tbl>
          </a:graphicData>
        </a:graphic>
      </p:graphicFrame>
      <p:cxnSp>
        <p:nvCxnSpPr>
          <p:cNvPr id="11" name="Connecteur en angle 10">
            <a:extLst>
              <a:ext uri="{FF2B5EF4-FFF2-40B4-BE49-F238E27FC236}">
                <a16:creationId xmlns:a16="http://schemas.microsoft.com/office/drawing/2014/main" id="{B1876B0C-E9E1-A7C6-2B96-29359B3CEB52}"/>
              </a:ext>
            </a:extLst>
          </p:cNvPr>
          <p:cNvCxnSpPr>
            <a:endCxn id="4" idx="3"/>
          </p:cNvCxnSpPr>
          <p:nvPr/>
        </p:nvCxnSpPr>
        <p:spPr>
          <a:xfrm rot="10800000" flipV="1">
            <a:off x="2639787" y="2366329"/>
            <a:ext cx="1599591" cy="103504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Google Shape;138;p3">
            <a:extLst>
              <a:ext uri="{FF2B5EF4-FFF2-40B4-BE49-F238E27FC236}">
                <a16:creationId xmlns:a16="http://schemas.microsoft.com/office/drawing/2014/main" id="{1DFD922F-5342-904D-097D-053FFA567E13}"/>
              </a:ext>
            </a:extLst>
          </p:cNvPr>
          <p:cNvSpPr txBox="1">
            <a:spLocks/>
          </p:cNvSpPr>
          <p:nvPr/>
        </p:nvSpPr>
        <p:spPr>
          <a:xfrm>
            <a:off x="246097" y="1491352"/>
            <a:ext cx="8842223" cy="698722"/>
          </a:xfrm>
          <a:prstGeom prst="rect">
            <a:avLst/>
          </a:prstGeom>
        </p:spPr>
        <p:txBody>
          <a:bodyPr spcFirstLastPara="1" vert="horz" lIns="91425" tIns="45700" rIns="91425" bIns="45700" rtlCol="0" anchorCtr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Wingdings 3" charset="2"/>
              <a:buNone/>
            </a:pPr>
            <a:r>
              <a:rPr lang="fr-FR" sz="1400" b="1" dirty="0"/>
              <a:t>Analyse :</a:t>
            </a:r>
          </a:p>
          <a:p>
            <a:pPr marL="800100" lvl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1400" dirty="0"/>
              <a:t>L’analyse a été réalisée par croisement des données mises à disposition par la FOA avec un Focus sur 2017:</a:t>
            </a:r>
          </a:p>
        </p:txBody>
      </p:sp>
      <p:cxnSp>
        <p:nvCxnSpPr>
          <p:cNvPr id="13" name="Connecteur en angle 12">
            <a:extLst>
              <a:ext uri="{FF2B5EF4-FFF2-40B4-BE49-F238E27FC236}">
                <a16:creationId xmlns:a16="http://schemas.microsoft.com/office/drawing/2014/main" id="{49FBF63B-9D24-D235-FA41-362C052D8D7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96000" y="2377224"/>
            <a:ext cx="1647368" cy="76122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en angle 18">
            <a:extLst>
              <a:ext uri="{FF2B5EF4-FFF2-40B4-BE49-F238E27FC236}">
                <a16:creationId xmlns:a16="http://schemas.microsoft.com/office/drawing/2014/main" id="{D59AB817-F1A0-35CE-6FC5-8DB7E3B416DB}"/>
              </a:ext>
            </a:extLst>
          </p:cNvPr>
          <p:cNvCxnSpPr>
            <a:cxnSpLocks/>
            <a:stCxn id="6" idx="2"/>
            <a:endCxn id="2" idx="0"/>
          </p:cNvCxnSpPr>
          <p:nvPr/>
        </p:nvCxnSpPr>
        <p:spPr>
          <a:xfrm rot="5400000">
            <a:off x="4525097" y="3191058"/>
            <a:ext cx="404651" cy="8805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4713BC63-6F5A-58E6-F0E5-53CFC392B18D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434386" y="3853554"/>
            <a:ext cx="1161750" cy="8962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365420" y="364867"/>
            <a:ext cx="8038404" cy="976132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2800" b="1" dirty="0"/>
              <a:t>1) Proportion de personnes en état de sous-nutrition en 2017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7E493E9-DEB2-7739-4DE7-827455E7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3" y="1429121"/>
            <a:ext cx="2996058" cy="361034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7DE63FF-7BD2-BE72-73BF-61D1574441CD}"/>
              </a:ext>
            </a:extLst>
          </p:cNvPr>
          <p:cNvSpPr/>
          <p:nvPr/>
        </p:nvSpPr>
        <p:spPr>
          <a:xfrm>
            <a:off x="3416310" y="1429121"/>
            <a:ext cx="2394967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7,5 milliards d’habitants sur Terre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F08B9E7-BF3C-94CB-E2E6-86CE46368684}"/>
              </a:ext>
            </a:extLst>
          </p:cNvPr>
          <p:cNvSpPr/>
          <p:nvPr/>
        </p:nvSpPr>
        <p:spPr>
          <a:xfrm>
            <a:off x="6599299" y="1432173"/>
            <a:ext cx="2854326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535 Millions d’habitants</a:t>
            </a:r>
          </a:p>
          <a:p>
            <a:pPr algn="ctr"/>
            <a:r>
              <a:rPr lang="fr-FR" b="1" dirty="0"/>
              <a:t>en sous-nutrition</a:t>
            </a:r>
          </a:p>
        </p:txBody>
      </p:sp>
      <p:cxnSp>
        <p:nvCxnSpPr>
          <p:cNvPr id="8" name="Connecteur en angle 7">
            <a:extLst>
              <a:ext uri="{FF2B5EF4-FFF2-40B4-BE49-F238E27FC236}">
                <a16:creationId xmlns:a16="http://schemas.microsoft.com/office/drawing/2014/main" id="{9940D330-A342-2CB5-578B-D2C22FD1169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811277" y="1733921"/>
            <a:ext cx="788022" cy="305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en angle 12">
            <a:extLst>
              <a:ext uri="{FF2B5EF4-FFF2-40B4-BE49-F238E27FC236}">
                <a16:creationId xmlns:a16="http://schemas.microsoft.com/office/drawing/2014/main" id="{EDD96490-1BFF-8A02-D7F7-4C7B6F38B039}"/>
              </a:ext>
            </a:extLst>
          </p:cNvPr>
          <p:cNvCxnSpPr>
            <a:cxnSpLocks/>
            <a:stCxn id="3" idx="1"/>
            <a:endCxn id="5" idx="2"/>
          </p:cNvCxnSpPr>
          <p:nvPr/>
        </p:nvCxnSpPr>
        <p:spPr>
          <a:xfrm rot="10800000" flipH="1">
            <a:off x="3798090" y="2041774"/>
            <a:ext cx="4228372" cy="2686607"/>
          </a:xfrm>
          <a:prstGeom prst="bentConnector4">
            <a:avLst>
              <a:gd name="adj1" fmla="val -5406"/>
              <a:gd name="adj2" fmla="val 82527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C0090ACE-F8EF-17E1-454C-FC15B0D06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090" y="2980639"/>
            <a:ext cx="4965802" cy="3495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150338" y="126069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2800" dirty="0"/>
              <a:t>2) Nombre théorique de personnes qui pourraient être nourries en 2017</a:t>
            </a:r>
            <a:endParaRPr sz="28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A247F74-24A9-616E-8089-9C113BA7897A}"/>
              </a:ext>
            </a:extLst>
          </p:cNvPr>
          <p:cNvGrpSpPr/>
          <p:nvPr/>
        </p:nvGrpSpPr>
        <p:grpSpPr>
          <a:xfrm>
            <a:off x="150338" y="2085251"/>
            <a:ext cx="2871642" cy="2687498"/>
            <a:chOff x="150338" y="2286581"/>
            <a:chExt cx="3735375" cy="368087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26B2F288-E6A7-E329-8456-3E280975C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223" y="3332227"/>
              <a:ext cx="2299605" cy="2299605"/>
            </a:xfrm>
            <a:prstGeom prst="rect">
              <a:avLst/>
            </a:prstGeom>
          </p:spPr>
        </p:pic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2DF355B1-107C-D9FD-E89A-AFC3502E79FA}"/>
                </a:ext>
              </a:extLst>
            </p:cNvPr>
            <p:cNvSpPr/>
            <p:nvPr/>
          </p:nvSpPr>
          <p:spPr>
            <a:xfrm>
              <a:off x="2993087" y="4298774"/>
              <a:ext cx="892626" cy="4680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Age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4173664-A943-CF51-1A89-308314F850E3}"/>
                </a:ext>
              </a:extLst>
            </p:cNvPr>
            <p:cNvSpPr/>
            <p:nvPr/>
          </p:nvSpPr>
          <p:spPr>
            <a:xfrm>
              <a:off x="1571712" y="3098184"/>
              <a:ext cx="892626" cy="4680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Sexe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B2AD86B-89F2-E85F-33E2-A2EAFCEAC92B}"/>
                </a:ext>
              </a:extLst>
            </p:cNvPr>
            <p:cNvSpPr/>
            <p:nvPr/>
          </p:nvSpPr>
          <p:spPr>
            <a:xfrm>
              <a:off x="150338" y="4196282"/>
              <a:ext cx="892626" cy="4680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Poids / Taille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294E72A5-3336-A239-4DDA-A4F5DB770CE8}"/>
                </a:ext>
              </a:extLst>
            </p:cNvPr>
            <p:cNvSpPr/>
            <p:nvPr/>
          </p:nvSpPr>
          <p:spPr>
            <a:xfrm>
              <a:off x="1571712" y="5499363"/>
              <a:ext cx="892626" cy="4680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/>
                <a:t>Actif</a:t>
              </a:r>
            </a:p>
          </p:txBody>
        </p:sp>
        <p:pic>
          <p:nvPicPr>
            <p:cNvPr id="15" name="Image 14" descr="Une image contenant logo, symbole, Police, cercle&#10;&#10;Description générée automatiquement">
              <a:hlinkClick r:id="rId4"/>
              <a:extLst>
                <a:ext uri="{FF2B5EF4-FFF2-40B4-BE49-F238E27FC236}">
                  <a16:creationId xmlns:a16="http://schemas.microsoft.com/office/drawing/2014/main" id="{3FE3A053-9F3D-27D9-39DD-177711713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" b="3372"/>
            <a:stretch/>
          </p:blipFill>
          <p:spPr>
            <a:xfrm>
              <a:off x="1638729" y="2286581"/>
              <a:ext cx="758592" cy="667066"/>
            </a:xfrm>
            <a:prstGeom prst="rect">
              <a:avLst/>
            </a:prstGeom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A423865A-2C18-9634-1085-B07A8C836AB3}"/>
              </a:ext>
            </a:extLst>
          </p:cNvPr>
          <p:cNvSpPr txBox="1"/>
          <p:nvPr/>
        </p:nvSpPr>
        <p:spPr>
          <a:xfrm>
            <a:off x="150338" y="1537472"/>
            <a:ext cx="6456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besoin en kcal peut varier de 1900 à 2500 /jour sous FAO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B455F4E-28AB-BA1D-4A48-F423063FB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464328"/>
              </p:ext>
            </p:extLst>
          </p:nvPr>
        </p:nvGraphicFramePr>
        <p:xfrm>
          <a:off x="3176372" y="2234360"/>
          <a:ext cx="62346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737">
                  <a:extLst>
                    <a:ext uri="{9D8B030D-6E8A-4147-A177-3AD203B41FA5}">
                      <a16:colId xmlns:a16="http://schemas.microsoft.com/office/drawing/2014/main" val="1792497958"/>
                    </a:ext>
                  </a:extLst>
                </a:gridCol>
                <a:gridCol w="4361935">
                  <a:extLst>
                    <a:ext uri="{9D8B030D-6E8A-4147-A177-3AD203B41FA5}">
                      <a16:colId xmlns:a16="http://schemas.microsoft.com/office/drawing/2014/main" val="279788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Kcal /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d’habitants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11 009 991 909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48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10 459 492 313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84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9 961 421 251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9 508 629 376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2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9 095 210 707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53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8 716 243 594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4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8 367 593 850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715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3) Nombre théorique de personnes qui pourraient être nourries uniquement avec les végétaux en 2017</a:t>
            </a:r>
            <a:endParaRPr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72BF611-37B3-E623-5ADA-75BDEDA07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28649"/>
              </p:ext>
            </p:extLst>
          </p:nvPr>
        </p:nvGraphicFramePr>
        <p:xfrm>
          <a:off x="2452128" y="2191647"/>
          <a:ext cx="62346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737">
                  <a:extLst>
                    <a:ext uri="{9D8B030D-6E8A-4147-A177-3AD203B41FA5}">
                      <a16:colId xmlns:a16="http://schemas.microsoft.com/office/drawing/2014/main" val="1792497958"/>
                    </a:ext>
                  </a:extLst>
                </a:gridCol>
                <a:gridCol w="4361935">
                  <a:extLst>
                    <a:ext uri="{9D8B030D-6E8A-4147-A177-3AD203B41FA5}">
                      <a16:colId xmlns:a16="http://schemas.microsoft.com/office/drawing/2014/main" val="2797888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Kcal /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Nombre d’habitants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9 084 612 742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48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8 630 382 105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84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8 219 411 529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9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7 845 801 914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2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7 504 680 091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53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7 191 985 088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64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6 904 305 684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71504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237F9531-6B50-1290-7275-779E7BE7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53" y="2926687"/>
            <a:ext cx="2253182" cy="1496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442555" y="341355"/>
            <a:ext cx="8596668" cy="7688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4) Répartition de la disponibilité intérieure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2AC344-C8A0-018F-49BA-6228E4A7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59" y="1368338"/>
            <a:ext cx="6376429" cy="5071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5) Part de l’utilisation des principales céréales entre l’alimentation humaine et animale</a:t>
            </a:r>
            <a:endParaRPr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1AD9632-B8A8-E191-C0D0-43269BE48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8368" y="1930400"/>
            <a:ext cx="5225685" cy="446397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6) Liste des 10 pays où la proportion de personnes en état de sous-nutrition est la plus forte en 2017</a:t>
            </a:r>
            <a:endParaRPr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FFCF24E-2ACB-8A62-1F19-9ECE051DC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930400"/>
            <a:ext cx="9985454" cy="364575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677334" y="598449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7) Liste des 10 pays qui ont le plus bénéficié de l’aide alimentaire entre 2013 et 2016</a:t>
            </a:r>
            <a:endParaRPr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C9F5E180-7D15-9230-B092-C1D707338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863" y="2414180"/>
            <a:ext cx="8596312" cy="337425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6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7" name="Isosceles Triangle 20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8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9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0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1" name="Isosceles Triangle 21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2" name="Isosceles Triangle 21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1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3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5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7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1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Google Shape;188;p10">
            <a:extLst>
              <a:ext uri="{FF2B5EF4-FFF2-40B4-BE49-F238E27FC236}">
                <a16:creationId xmlns:a16="http://schemas.microsoft.com/office/drawing/2014/main" id="{F6087D9D-422C-DD3E-9565-6ABE6D7D5197}"/>
              </a:ext>
            </a:extLst>
          </p:cNvPr>
          <p:cNvSpPr txBox="1">
            <a:spLocks/>
          </p:cNvSpPr>
          <p:nvPr/>
        </p:nvSpPr>
        <p:spPr>
          <a:xfrm>
            <a:off x="674160" y="1099197"/>
            <a:ext cx="892610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0"/>
              </a:spcBef>
              <a:buClr>
                <a:srgbClr val="FEFEFE"/>
              </a:buClr>
              <a:buSzPts val="3200"/>
              <a:buFont typeface="Century Gothic"/>
              <a:buNone/>
            </a:pPr>
            <a:endParaRPr lang="en-US" sz="3200" dirty="0"/>
          </a:p>
          <a:p>
            <a:pPr>
              <a:spcBef>
                <a:spcPts val="0"/>
              </a:spcBef>
              <a:buClr>
                <a:srgbClr val="FEFEFE"/>
              </a:buClr>
              <a:buSzPts val="3200"/>
              <a:buFont typeface="Century Gothic"/>
              <a:buNone/>
            </a:pPr>
            <a:r>
              <a:rPr lang="en-US" sz="3200" dirty="0"/>
              <a:t>8) </a:t>
            </a:r>
            <a:r>
              <a:rPr lang="en-US" sz="3200" dirty="0" err="1"/>
              <a:t>Évolution</a:t>
            </a:r>
            <a:r>
              <a:rPr lang="en-US" sz="3200" dirty="0"/>
              <a:t> de </a:t>
            </a:r>
            <a:r>
              <a:rPr lang="en-US" sz="3200" dirty="0" err="1"/>
              <a:t>l’aide</a:t>
            </a:r>
            <a:r>
              <a:rPr lang="en-US" sz="3200" dirty="0"/>
              <a:t> </a:t>
            </a:r>
            <a:r>
              <a:rPr lang="en-US" sz="3200" dirty="0" err="1"/>
              <a:t>alimentaire</a:t>
            </a:r>
            <a:r>
              <a:rPr lang="en-US" sz="3200" dirty="0"/>
              <a:t> pour les 5 pays qui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ont</a:t>
            </a:r>
            <a:r>
              <a:rPr lang="en-US" sz="3200" dirty="0"/>
              <a:t> le plus </a:t>
            </a:r>
            <a:r>
              <a:rPr lang="en-US" sz="3200" dirty="0" err="1"/>
              <a:t>bénéficié</a:t>
            </a:r>
            <a:r>
              <a:rPr lang="en-US" sz="3200" dirty="0"/>
              <a:t> entre 2013 et 2016 </a:t>
            </a:r>
            <a:r>
              <a:rPr lang="fr-FR" sz="3200" dirty="0"/>
              <a:t>*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D9AF0D-4B14-3310-0C6F-56A55BF30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4" y="2577188"/>
            <a:ext cx="9036863" cy="2931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lang="fr-FR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C800DC-20A3-1FAF-9376-281819BD3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42" y="2284744"/>
            <a:ext cx="9145051" cy="356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4AC0968-85EA-4BFB-871E-7865DB3B2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80" y="2258739"/>
            <a:ext cx="8974621" cy="3528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291206" y="-230465"/>
            <a:ext cx="8596668" cy="1320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10) Étude sur le manioc en Thaïlande</a:t>
            </a: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A47D709-58B6-80A9-39CC-687AC4EE3C84}"/>
              </a:ext>
            </a:extLst>
          </p:cNvPr>
          <p:cNvSpPr/>
          <p:nvPr/>
        </p:nvSpPr>
        <p:spPr>
          <a:xfrm>
            <a:off x="488818" y="1407897"/>
            <a:ext cx="3514772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69 Millions d’habitants en 2017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69AC95-9855-98D6-BE92-1CCB862D9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348" y="371604"/>
            <a:ext cx="932010" cy="62411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743484-BEC8-56F0-6526-209CD25961E8}"/>
              </a:ext>
            </a:extLst>
          </p:cNvPr>
          <p:cNvSpPr/>
          <p:nvPr/>
        </p:nvSpPr>
        <p:spPr>
          <a:xfrm>
            <a:off x="4765878" y="1414467"/>
            <a:ext cx="4538760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6,2 Millions d’habitants en sous-Nutrition en 2017 soit 8,9% de la population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AC754C8-154E-E7E9-D090-8B6E09014D9E}"/>
              </a:ext>
            </a:extLst>
          </p:cNvPr>
          <p:cNvSpPr/>
          <p:nvPr/>
        </p:nvSpPr>
        <p:spPr>
          <a:xfrm>
            <a:off x="282952" y="2745170"/>
            <a:ext cx="4693319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Production de Manioc </a:t>
            </a:r>
          </a:p>
          <a:p>
            <a:pPr algn="ctr"/>
            <a:r>
              <a:rPr lang="fr-FR" dirty="0"/>
              <a:t>30228 Milliers de  Tonnes</a:t>
            </a:r>
          </a:p>
        </p:txBody>
      </p:sp>
      <p:sp>
        <p:nvSpPr>
          <p:cNvPr id="10" name="Flèche vers la droite 9">
            <a:extLst>
              <a:ext uri="{FF2B5EF4-FFF2-40B4-BE49-F238E27FC236}">
                <a16:creationId xmlns:a16="http://schemas.microsoft.com/office/drawing/2014/main" id="{CD37BCBD-80ED-3D7D-7D0F-99DC108CF4D3}"/>
              </a:ext>
            </a:extLst>
          </p:cNvPr>
          <p:cNvSpPr/>
          <p:nvPr/>
        </p:nvSpPr>
        <p:spPr>
          <a:xfrm>
            <a:off x="4194427" y="1541150"/>
            <a:ext cx="417863" cy="2893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B279F1A-0C4F-27D8-9031-EDCBCB3B2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2" y="3500801"/>
            <a:ext cx="3420755" cy="27107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F5388B3-171E-3394-1A66-582F78908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005" y="3500801"/>
            <a:ext cx="3878869" cy="305336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B1067B-1E4D-9A51-156B-EFCD29B02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361" y="3357199"/>
            <a:ext cx="898225" cy="898225"/>
          </a:xfrm>
          <a:prstGeom prst="rect">
            <a:avLst/>
          </a:prstGeom>
        </p:spPr>
      </p:pic>
      <p:sp>
        <p:nvSpPr>
          <p:cNvPr id="14" name="Flèche vers la droite 13">
            <a:extLst>
              <a:ext uri="{FF2B5EF4-FFF2-40B4-BE49-F238E27FC236}">
                <a16:creationId xmlns:a16="http://schemas.microsoft.com/office/drawing/2014/main" id="{2894C7D1-4BAD-ECBF-6384-8B514EB9DA18}"/>
              </a:ext>
            </a:extLst>
          </p:cNvPr>
          <p:cNvSpPr/>
          <p:nvPr/>
        </p:nvSpPr>
        <p:spPr>
          <a:xfrm>
            <a:off x="5219884" y="2878423"/>
            <a:ext cx="417863" cy="2893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85C1AD9-2568-EFA5-43BD-A555E4C653B6}"/>
              </a:ext>
            </a:extLst>
          </p:cNvPr>
          <p:cNvSpPr/>
          <p:nvPr/>
        </p:nvSpPr>
        <p:spPr>
          <a:xfrm>
            <a:off x="5852053" y="2801325"/>
            <a:ext cx="3189115" cy="5558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Usage inéquitable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ED7ED4-CD35-511E-7BCF-955841E40F34}"/>
              </a:ext>
            </a:extLst>
          </p:cNvPr>
          <p:cNvSpPr/>
          <p:nvPr/>
        </p:nvSpPr>
        <p:spPr>
          <a:xfrm>
            <a:off x="5773783" y="6383383"/>
            <a:ext cx="117465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97746-1E13-161F-E7EE-4847F869DC58}"/>
              </a:ext>
            </a:extLst>
          </p:cNvPr>
          <p:cNvSpPr/>
          <p:nvPr/>
        </p:nvSpPr>
        <p:spPr>
          <a:xfrm>
            <a:off x="5773783" y="6493207"/>
            <a:ext cx="1174656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442202" y="418011"/>
            <a:ext cx="8596668" cy="59218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11) Analyses complémentaires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idx="1"/>
          </p:nvPr>
        </p:nvSpPr>
        <p:spPr>
          <a:xfrm>
            <a:off x="442202" y="1272314"/>
            <a:ext cx="8858552" cy="479755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Zimbabwe l’un des pays avec la plus faible disponibilité alimentaire n’est pourtant pas indiqué avoir sa population en sous-nutrition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L’Egypte dans le top 10 des pays qui ont la plus forte disponibilité alimentaire en Kcal/Personnes et par jour 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Inde/Pakistan/Indonésie, TOP3 des pays avec le plus grand nombre d’habitant en sous-nutrition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2016, l’année avec la plus faible aide alimentaire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Sucre / Canne, plus grande perte alimentaire au Brésil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12 pays indiqués en sous nutrition mais sans aide alimentaire : 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r>
              <a:rPr lang="fr-FR" dirty="0"/>
              <a:t>['Afrique du Sud', 'Thaïlande', 'Pérou', 'Viet Nam', 'Arabie saoudite', 'Nigéria', 'Venezuela (République bolivarienne du)', 'Inde', 'Ouzbékistan', 'Indonésie', 'Maroc', 'Mexique’]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/>
              <a:t>Conclusion</a:t>
            </a:r>
            <a:endParaRPr dirty="0"/>
          </a:p>
        </p:txBody>
      </p:sp>
      <p:sp>
        <p:nvSpPr>
          <p:cNvPr id="231" name="Google Shape;231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Entre 8 et 11 milliards d’habitants pourraient être nourris.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Des usages inéquitables des ressources, des gestions à améliorer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r>
              <a:rPr lang="fr-FR" dirty="0"/>
              <a:t>Une aide alimentaire qui tend à diminuer</a:t>
            </a:r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</a:pPr>
            <a:endParaRPr lang="fr-FR" dirty="0"/>
          </a:p>
          <a:p>
            <a:pPr marL="400050" indent="-285750">
              <a:spcBef>
                <a:spcPts val="0"/>
              </a:spcBef>
              <a:buSzPts val="1800"/>
              <a:buFont typeface="Wingdings" pitchFamily="2" charset="2"/>
              <a:buChar char="Ø"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4573</TotalTime>
  <Words>923</Words>
  <Application>Microsoft Office PowerPoint</Application>
  <PresentationFormat>Grand écran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Wingdings</vt:lpstr>
      <vt:lpstr>Calibri</vt:lpstr>
      <vt:lpstr>Arial</vt:lpstr>
      <vt:lpstr>Wingdings 3</vt:lpstr>
      <vt:lpstr>Century Gothic</vt:lpstr>
      <vt:lpstr>Trebuchet MS</vt:lpstr>
      <vt:lpstr>Facette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Présentation PowerPoint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Romain RAMAT</cp:lastModifiedBy>
  <cp:revision>27</cp:revision>
  <dcterms:created xsi:type="dcterms:W3CDTF">2023-03-17T20:58:30Z</dcterms:created>
  <dcterms:modified xsi:type="dcterms:W3CDTF">2025-11-10T17:28:26Z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