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5" r:id="rId4"/>
    <p:sldId id="259" r:id="rId5"/>
    <p:sldId id="260" r:id="rId6"/>
    <p:sldId id="257" r:id="rId7"/>
    <p:sldId id="266" r:id="rId8"/>
    <p:sldId id="270" r:id="rId9"/>
    <p:sldId id="267" r:id="rId10"/>
    <p:sldId id="273" r:id="rId11"/>
    <p:sldId id="271" r:id="rId12"/>
    <p:sldId id="272" r:id="rId13"/>
    <p:sldId id="269" r:id="rId14"/>
    <p:sldId id="264" r:id="rId15"/>
    <p:sldId id="26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C88CC2AD-5FF0-4E7E-B2B6-D35E8652E3F3}">
          <p14:sldIdLst>
            <p14:sldId id="256"/>
            <p14:sldId id="258"/>
            <p14:sldId id="265"/>
            <p14:sldId id="259"/>
            <p14:sldId id="260"/>
            <p14:sldId id="257"/>
            <p14:sldId id="266"/>
            <p14:sldId id="270"/>
            <p14:sldId id="267"/>
            <p14:sldId id="273"/>
            <p14:sldId id="271"/>
            <p14:sldId id="272"/>
            <p14:sldId id="269"/>
            <p14:sldId id="264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0929"/>
    <a:srgbClr val="FFFFFF"/>
    <a:srgbClr val="9A69BB"/>
    <a:srgbClr val="7EB1EA"/>
    <a:srgbClr val="566CD8"/>
    <a:srgbClr val="B28CCB"/>
    <a:srgbClr val="7083DE"/>
    <a:srgbClr val="3F0F45"/>
    <a:srgbClr val="882C7D"/>
    <a:srgbClr val="A7C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94660"/>
  </p:normalViewPr>
  <p:slideViewPr>
    <p:cSldViewPr snapToGrid="0">
      <p:cViewPr varScale="1">
        <p:scale>
          <a:sx n="97" d="100"/>
          <a:sy n="97" d="100"/>
        </p:scale>
        <p:origin x="2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7429" y="-7354"/>
            <a:ext cx="7590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24217" y="15"/>
            <a:ext cx="796517" cy="1078254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-9504" y="992211"/>
            <a:ext cx="787485" cy="87497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7613" y="2043382"/>
            <a:ext cx="795521" cy="814144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24217" y="2885386"/>
            <a:ext cx="804873" cy="1049835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6165" y="3685230"/>
            <a:ext cx="800797" cy="1307183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764878" y="553059"/>
            <a:ext cx="9903600" cy="5307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774065" y="1321133"/>
            <a:ext cx="8117700" cy="5460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764878" y="2104500"/>
            <a:ext cx="6401700" cy="5460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774066" y="2887866"/>
            <a:ext cx="4588500" cy="5460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5841" y="3685955"/>
            <a:ext cx="2875500" cy="5460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5400000">
            <a:off x="3518942" y="3814381"/>
            <a:ext cx="548400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rot="5400000">
            <a:off x="5230265" y="3013335"/>
            <a:ext cx="546000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 rot="5400000">
            <a:off x="7032560" y="2229305"/>
            <a:ext cx="546000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 rot="5400000">
            <a:off x="8760860" y="1452545"/>
            <a:ext cx="545400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 rot="5400000">
            <a:off x="10545710" y="671167"/>
            <a:ext cx="525300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5385075" y="2271150"/>
            <a:ext cx="63813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4954900" y="4750805"/>
            <a:ext cx="6811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49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>
  <p:cSld name="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 rot="-5400000">
            <a:off x="290824" y="5978564"/>
            <a:ext cx="633470" cy="1200025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 rot="-5400000">
            <a:off x="1285125" y="6083963"/>
            <a:ext cx="626287" cy="97300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 rot="-5400000">
            <a:off x="2418426" y="6112618"/>
            <a:ext cx="632678" cy="906299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 rot="-5400000">
            <a:off x="3482691" y="5991189"/>
            <a:ext cx="640116" cy="116812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 rot="-5400000">
            <a:off x="4518654" y="5842215"/>
            <a:ext cx="636874" cy="145651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 rot="-5400000">
            <a:off x="248736" y="5303087"/>
            <a:ext cx="1338967" cy="590378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 rot="-5400000">
            <a:off x="1232739" y="5408022"/>
            <a:ext cx="1097514" cy="60734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 rot="-5400000">
            <a:off x="2220625" y="5531403"/>
            <a:ext cx="865366" cy="60734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 rot="-5400000">
            <a:off x="3214951" y="5646611"/>
            <a:ext cx="620334" cy="60734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 rot="-5400000">
            <a:off x="4218983" y="5761036"/>
            <a:ext cx="388663" cy="60734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05249" y="5641283"/>
            <a:ext cx="610176" cy="230717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218684" y="5414204"/>
            <a:ext cx="607819" cy="230717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346134" y="5176568"/>
            <a:ext cx="607347" cy="230717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82009" y="4936069"/>
            <a:ext cx="606876" cy="230717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23031" y="4701297"/>
            <a:ext cx="584486" cy="230717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302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 rot="-5400000">
            <a:off x="290824" y="5978564"/>
            <a:ext cx="633470" cy="1200025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 rot="-5400000">
            <a:off x="1285125" y="6083963"/>
            <a:ext cx="626287" cy="97300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 rot="-5400000">
            <a:off x="2418426" y="6112618"/>
            <a:ext cx="632678" cy="906299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 rot="-5400000">
            <a:off x="3482691" y="5991189"/>
            <a:ext cx="640116" cy="116812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 rot="-5400000">
            <a:off x="4518654" y="5842215"/>
            <a:ext cx="636874" cy="145651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108835" y="6026038"/>
            <a:ext cx="610176" cy="230717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218684" y="6031124"/>
            <a:ext cx="607819" cy="230717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347240" y="6024478"/>
            <a:ext cx="607347" cy="230717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486020" y="6026810"/>
            <a:ext cx="606876" cy="230717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16653" y="6036383"/>
            <a:ext cx="584486" cy="230717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07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3;p4">
            <a:extLst>
              <a:ext uri="{FF2B5EF4-FFF2-40B4-BE49-F238E27FC236}">
                <a16:creationId xmlns:a16="http://schemas.microsoft.com/office/drawing/2014/main" id="{A38C6313-27C2-E89F-F34A-5C510723EAEC}"/>
              </a:ext>
            </a:extLst>
          </p:cNvPr>
          <p:cNvSpPr/>
          <p:nvPr userDrawn="1"/>
        </p:nvSpPr>
        <p:spPr>
          <a:xfrm>
            <a:off x="0" y="1322606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4;p4">
            <a:extLst>
              <a:ext uri="{FF2B5EF4-FFF2-40B4-BE49-F238E27FC236}">
                <a16:creationId xmlns:a16="http://schemas.microsoft.com/office/drawing/2014/main" id="{FD254590-F548-3042-34FA-11CC1F33D854}"/>
              </a:ext>
            </a:extLst>
          </p:cNvPr>
          <p:cNvSpPr/>
          <p:nvPr userDrawn="1"/>
        </p:nvSpPr>
        <p:spPr>
          <a:xfrm>
            <a:off x="14713" y="2402367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;p4">
            <a:extLst>
              <a:ext uri="{FF2B5EF4-FFF2-40B4-BE49-F238E27FC236}">
                <a16:creationId xmlns:a16="http://schemas.microsoft.com/office/drawing/2014/main" id="{5DF98B6E-B5DA-D2DD-0551-7F85F0E422C3}"/>
              </a:ext>
            </a:extLst>
          </p:cNvPr>
          <p:cNvSpPr/>
          <p:nvPr userDrawn="1"/>
        </p:nvSpPr>
        <p:spPr>
          <a:xfrm>
            <a:off x="16604" y="3546308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6;p4">
            <a:extLst>
              <a:ext uri="{FF2B5EF4-FFF2-40B4-BE49-F238E27FC236}">
                <a16:creationId xmlns:a16="http://schemas.microsoft.com/office/drawing/2014/main" id="{1200EB7B-B102-EB3B-FBDC-3C73E9F37AB0}"/>
              </a:ext>
            </a:extLst>
          </p:cNvPr>
          <p:cNvSpPr/>
          <p:nvPr userDrawn="1"/>
        </p:nvSpPr>
        <p:spPr>
          <a:xfrm>
            <a:off x="0" y="4462622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7;p4">
            <a:extLst>
              <a:ext uri="{FF2B5EF4-FFF2-40B4-BE49-F238E27FC236}">
                <a16:creationId xmlns:a16="http://schemas.microsoft.com/office/drawing/2014/main" id="{709BFEEE-3DFC-42D5-4101-59B09C9E4989}"/>
              </a:ext>
            </a:extLst>
          </p:cNvPr>
          <p:cNvSpPr/>
          <p:nvPr userDrawn="1"/>
        </p:nvSpPr>
        <p:spPr>
          <a:xfrm>
            <a:off x="8051" y="5333056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8;p4">
            <a:extLst>
              <a:ext uri="{FF2B5EF4-FFF2-40B4-BE49-F238E27FC236}">
                <a16:creationId xmlns:a16="http://schemas.microsoft.com/office/drawing/2014/main" id="{6C120896-601D-27FE-CDF1-C0ADDE56D4B4}"/>
              </a:ext>
            </a:extLst>
          </p:cNvPr>
          <p:cNvSpPr/>
          <p:nvPr userDrawn="1"/>
        </p:nvSpPr>
        <p:spPr>
          <a:xfrm>
            <a:off x="789076" y="1924458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9;p4">
            <a:extLst>
              <a:ext uri="{FF2B5EF4-FFF2-40B4-BE49-F238E27FC236}">
                <a16:creationId xmlns:a16="http://schemas.microsoft.com/office/drawing/2014/main" id="{A7C0A429-331D-E950-170F-2856D4CB5556}"/>
              </a:ext>
            </a:extLst>
          </p:cNvPr>
          <p:cNvSpPr/>
          <p:nvPr userDrawn="1"/>
        </p:nvSpPr>
        <p:spPr>
          <a:xfrm>
            <a:off x="798263" y="2760318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0;p4">
            <a:extLst>
              <a:ext uri="{FF2B5EF4-FFF2-40B4-BE49-F238E27FC236}">
                <a16:creationId xmlns:a16="http://schemas.microsoft.com/office/drawing/2014/main" id="{367DF1F7-30CD-7EC8-4FA8-1FD375095635}"/>
              </a:ext>
            </a:extLst>
          </p:cNvPr>
          <p:cNvSpPr/>
          <p:nvPr userDrawn="1"/>
        </p:nvSpPr>
        <p:spPr>
          <a:xfrm>
            <a:off x="789076" y="3612820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;p4">
            <a:extLst>
              <a:ext uri="{FF2B5EF4-FFF2-40B4-BE49-F238E27FC236}">
                <a16:creationId xmlns:a16="http://schemas.microsoft.com/office/drawing/2014/main" id="{8C87E9D9-6E00-F9D4-F287-54D25019A638}"/>
              </a:ext>
            </a:extLst>
          </p:cNvPr>
          <p:cNvSpPr/>
          <p:nvPr userDrawn="1"/>
        </p:nvSpPr>
        <p:spPr>
          <a:xfrm>
            <a:off x="798264" y="4465321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2;p4">
            <a:extLst>
              <a:ext uri="{FF2B5EF4-FFF2-40B4-BE49-F238E27FC236}">
                <a16:creationId xmlns:a16="http://schemas.microsoft.com/office/drawing/2014/main" id="{E04759F8-BFA1-9E2F-C78A-DE0CB819AC68}"/>
              </a:ext>
            </a:extLst>
          </p:cNvPr>
          <p:cNvSpPr/>
          <p:nvPr userDrawn="1"/>
        </p:nvSpPr>
        <p:spPr>
          <a:xfrm>
            <a:off x="800038" y="5333845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3;p4">
            <a:extLst>
              <a:ext uri="{FF2B5EF4-FFF2-40B4-BE49-F238E27FC236}">
                <a16:creationId xmlns:a16="http://schemas.microsoft.com/office/drawing/2014/main" id="{65EF24A8-179C-7360-3361-D147EF309459}"/>
              </a:ext>
            </a:extLst>
          </p:cNvPr>
          <p:cNvSpPr/>
          <p:nvPr userDrawn="1"/>
        </p:nvSpPr>
        <p:spPr>
          <a:xfrm rot="5400000">
            <a:off x="1135679" y="5486337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64;p4">
            <a:extLst>
              <a:ext uri="{FF2B5EF4-FFF2-40B4-BE49-F238E27FC236}">
                <a16:creationId xmlns:a16="http://schemas.microsoft.com/office/drawing/2014/main" id="{2772A25B-7670-9262-88E4-FD193F066F0C}"/>
              </a:ext>
            </a:extLst>
          </p:cNvPr>
          <p:cNvSpPr/>
          <p:nvPr userDrawn="1"/>
        </p:nvSpPr>
        <p:spPr>
          <a:xfrm rot="5400000">
            <a:off x="1420098" y="4614749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5;p4">
            <a:extLst>
              <a:ext uri="{FF2B5EF4-FFF2-40B4-BE49-F238E27FC236}">
                <a16:creationId xmlns:a16="http://schemas.microsoft.com/office/drawing/2014/main" id="{26C68BDF-9E98-3BD5-0F42-000C12DADB38}"/>
              </a:ext>
            </a:extLst>
          </p:cNvPr>
          <p:cNvSpPr/>
          <p:nvPr userDrawn="1"/>
        </p:nvSpPr>
        <p:spPr>
          <a:xfrm rot="5400000">
            <a:off x="1719128" y="3761295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6;p4">
            <a:extLst>
              <a:ext uri="{FF2B5EF4-FFF2-40B4-BE49-F238E27FC236}">
                <a16:creationId xmlns:a16="http://schemas.microsoft.com/office/drawing/2014/main" id="{C3D4408A-D034-9687-3D72-2211C7A1742B}"/>
              </a:ext>
            </a:extLst>
          </p:cNvPr>
          <p:cNvSpPr/>
          <p:nvPr userDrawn="1"/>
        </p:nvSpPr>
        <p:spPr>
          <a:xfrm rot="5400000">
            <a:off x="2021759" y="2916079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;p4">
            <a:extLst>
              <a:ext uri="{FF2B5EF4-FFF2-40B4-BE49-F238E27FC236}">
                <a16:creationId xmlns:a16="http://schemas.microsoft.com/office/drawing/2014/main" id="{60049C75-BB98-61A1-187B-72A194C1E27B}"/>
              </a:ext>
            </a:extLst>
          </p:cNvPr>
          <p:cNvSpPr/>
          <p:nvPr userDrawn="1"/>
        </p:nvSpPr>
        <p:spPr>
          <a:xfrm rot="5400000">
            <a:off x="2327906" y="2065179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9;p4">
            <a:extLst>
              <a:ext uri="{FF2B5EF4-FFF2-40B4-BE49-F238E27FC236}">
                <a16:creationId xmlns:a16="http://schemas.microsoft.com/office/drawing/2014/main" id="{96EE157B-965B-310B-E9EC-9F09062E42C6}"/>
              </a:ext>
            </a:extLst>
          </p:cNvPr>
          <p:cNvSpPr/>
          <p:nvPr userDrawn="1"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0;p4">
            <a:extLst>
              <a:ext uri="{FF2B5EF4-FFF2-40B4-BE49-F238E27FC236}">
                <a16:creationId xmlns:a16="http://schemas.microsoft.com/office/drawing/2014/main" id="{DBBACE13-E94A-ABD7-4084-F2E3AA7A2E1E}"/>
              </a:ext>
            </a:extLst>
          </p:cNvPr>
          <p:cNvSpPr/>
          <p:nvPr userDrawn="1"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1;p4">
            <a:extLst>
              <a:ext uri="{FF2B5EF4-FFF2-40B4-BE49-F238E27FC236}">
                <a16:creationId xmlns:a16="http://schemas.microsoft.com/office/drawing/2014/main" id="{2D590A3F-8316-4A3F-9E8C-5EA9C97953C7}"/>
              </a:ext>
            </a:extLst>
          </p:cNvPr>
          <p:cNvSpPr/>
          <p:nvPr userDrawn="1"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2;p4">
            <a:extLst>
              <a:ext uri="{FF2B5EF4-FFF2-40B4-BE49-F238E27FC236}">
                <a16:creationId xmlns:a16="http://schemas.microsoft.com/office/drawing/2014/main" id="{57B8FECE-11E0-52C6-FC28-5750CAFFD784}"/>
              </a:ext>
            </a:extLst>
          </p:cNvPr>
          <p:cNvSpPr/>
          <p:nvPr userDrawn="1"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3;p4">
            <a:extLst>
              <a:ext uri="{FF2B5EF4-FFF2-40B4-BE49-F238E27FC236}">
                <a16:creationId xmlns:a16="http://schemas.microsoft.com/office/drawing/2014/main" id="{F4E61A96-32AB-D5D5-D791-D2F594800EDE}"/>
              </a:ext>
            </a:extLst>
          </p:cNvPr>
          <p:cNvSpPr/>
          <p:nvPr userDrawn="1"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74;p4">
            <a:extLst>
              <a:ext uri="{FF2B5EF4-FFF2-40B4-BE49-F238E27FC236}">
                <a16:creationId xmlns:a16="http://schemas.microsoft.com/office/drawing/2014/main" id="{27433BCC-8589-2DE4-82A1-A9B8BC90CABE}"/>
              </a:ext>
            </a:extLst>
          </p:cNvPr>
          <p:cNvSpPr/>
          <p:nvPr userDrawn="1"/>
        </p:nvSpPr>
        <p:spPr>
          <a:xfrm rot="10800000">
            <a:off x="9754053" y="5757974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5;p4">
            <a:extLst>
              <a:ext uri="{FF2B5EF4-FFF2-40B4-BE49-F238E27FC236}">
                <a16:creationId xmlns:a16="http://schemas.microsoft.com/office/drawing/2014/main" id="{77BA46F0-5E54-B712-6042-C8CE35BBE049}"/>
              </a:ext>
            </a:extLst>
          </p:cNvPr>
          <p:cNvSpPr/>
          <p:nvPr userDrawn="1"/>
        </p:nvSpPr>
        <p:spPr>
          <a:xfrm rot="10800000">
            <a:off x="10048466" y="4962115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76;p4">
            <a:extLst>
              <a:ext uri="{FF2B5EF4-FFF2-40B4-BE49-F238E27FC236}">
                <a16:creationId xmlns:a16="http://schemas.microsoft.com/office/drawing/2014/main" id="{0E4C9EF2-4DB2-2653-E802-B6EA3EC16638}"/>
              </a:ext>
            </a:extLst>
          </p:cNvPr>
          <p:cNvSpPr/>
          <p:nvPr userDrawn="1"/>
        </p:nvSpPr>
        <p:spPr>
          <a:xfrm rot="10800000">
            <a:off x="10349553" y="4166209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77;p4">
            <a:extLst>
              <a:ext uri="{FF2B5EF4-FFF2-40B4-BE49-F238E27FC236}">
                <a16:creationId xmlns:a16="http://schemas.microsoft.com/office/drawing/2014/main" id="{85E1157C-8A0B-9E7F-3EE8-E63D56077A68}"/>
              </a:ext>
            </a:extLst>
          </p:cNvPr>
          <p:cNvSpPr/>
          <p:nvPr userDrawn="1"/>
        </p:nvSpPr>
        <p:spPr>
          <a:xfrm rot="10800000">
            <a:off x="10648465" y="3370305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8;p4">
            <a:extLst>
              <a:ext uri="{FF2B5EF4-FFF2-40B4-BE49-F238E27FC236}">
                <a16:creationId xmlns:a16="http://schemas.microsoft.com/office/drawing/2014/main" id="{FB8296CB-E65A-66E5-1A49-FD04C073886B}"/>
              </a:ext>
            </a:extLst>
          </p:cNvPr>
          <p:cNvSpPr/>
          <p:nvPr userDrawn="1"/>
        </p:nvSpPr>
        <p:spPr>
          <a:xfrm rot="10800000">
            <a:off x="10937991" y="2559442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79;p4">
            <a:extLst>
              <a:ext uri="{FF2B5EF4-FFF2-40B4-BE49-F238E27FC236}">
                <a16:creationId xmlns:a16="http://schemas.microsoft.com/office/drawing/2014/main" id="{86ECF02F-C51E-9B91-8840-509F1F05F1A3}"/>
              </a:ext>
            </a:extLst>
          </p:cNvPr>
          <p:cNvSpPr/>
          <p:nvPr userDrawn="1"/>
        </p:nvSpPr>
        <p:spPr>
          <a:xfrm rot="-5400000">
            <a:off x="10517655" y="2691070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80;p4">
            <a:extLst>
              <a:ext uri="{FF2B5EF4-FFF2-40B4-BE49-F238E27FC236}">
                <a16:creationId xmlns:a16="http://schemas.microsoft.com/office/drawing/2014/main" id="{B0C466FB-6B08-2D57-0E8F-9AD24D924F33}"/>
              </a:ext>
            </a:extLst>
          </p:cNvPr>
          <p:cNvSpPr/>
          <p:nvPr userDrawn="1"/>
        </p:nvSpPr>
        <p:spPr>
          <a:xfrm rot="-5400000">
            <a:off x="10232005" y="3504794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81;p4">
            <a:extLst>
              <a:ext uri="{FF2B5EF4-FFF2-40B4-BE49-F238E27FC236}">
                <a16:creationId xmlns:a16="http://schemas.microsoft.com/office/drawing/2014/main" id="{0B74F9E2-9C0E-066F-CF87-6CE664E5CFBA}"/>
              </a:ext>
            </a:extLst>
          </p:cNvPr>
          <p:cNvSpPr/>
          <p:nvPr userDrawn="1"/>
        </p:nvSpPr>
        <p:spPr>
          <a:xfrm rot="-5400000">
            <a:off x="9933420" y="4301589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82;p4">
            <a:extLst>
              <a:ext uri="{FF2B5EF4-FFF2-40B4-BE49-F238E27FC236}">
                <a16:creationId xmlns:a16="http://schemas.microsoft.com/office/drawing/2014/main" id="{C0A24577-FDF6-96AB-8136-3EFB19AC1993}"/>
              </a:ext>
            </a:extLst>
          </p:cNvPr>
          <p:cNvSpPr/>
          <p:nvPr userDrawn="1"/>
        </p:nvSpPr>
        <p:spPr>
          <a:xfrm rot="-5400000">
            <a:off x="9631235" y="509069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83;p4">
            <a:extLst>
              <a:ext uri="{FF2B5EF4-FFF2-40B4-BE49-F238E27FC236}">
                <a16:creationId xmlns:a16="http://schemas.microsoft.com/office/drawing/2014/main" id="{AE9B04DA-36EF-6906-352E-1F8A846A8EF8}"/>
              </a:ext>
            </a:extLst>
          </p:cNvPr>
          <p:cNvSpPr/>
          <p:nvPr userDrawn="1"/>
        </p:nvSpPr>
        <p:spPr>
          <a:xfrm rot="-5400000">
            <a:off x="9346255" y="5885101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84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" preserve="1">
  <p:cSld name="1_Title and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  <p:sp>
        <p:nvSpPr>
          <p:cNvPr id="34" name="Google Shape;34;p3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3;p4">
            <a:extLst>
              <a:ext uri="{FF2B5EF4-FFF2-40B4-BE49-F238E27FC236}">
                <a16:creationId xmlns:a16="http://schemas.microsoft.com/office/drawing/2014/main" id="{A38C6313-27C2-E89F-F34A-5C510723EAEC}"/>
              </a:ext>
            </a:extLst>
          </p:cNvPr>
          <p:cNvSpPr/>
          <p:nvPr userDrawn="1"/>
        </p:nvSpPr>
        <p:spPr>
          <a:xfrm>
            <a:off x="0" y="1322606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4;p4">
            <a:extLst>
              <a:ext uri="{FF2B5EF4-FFF2-40B4-BE49-F238E27FC236}">
                <a16:creationId xmlns:a16="http://schemas.microsoft.com/office/drawing/2014/main" id="{FD254590-F548-3042-34FA-11CC1F33D854}"/>
              </a:ext>
            </a:extLst>
          </p:cNvPr>
          <p:cNvSpPr/>
          <p:nvPr userDrawn="1"/>
        </p:nvSpPr>
        <p:spPr>
          <a:xfrm>
            <a:off x="14713" y="2402367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;p4">
            <a:extLst>
              <a:ext uri="{FF2B5EF4-FFF2-40B4-BE49-F238E27FC236}">
                <a16:creationId xmlns:a16="http://schemas.microsoft.com/office/drawing/2014/main" id="{5DF98B6E-B5DA-D2DD-0551-7F85F0E422C3}"/>
              </a:ext>
            </a:extLst>
          </p:cNvPr>
          <p:cNvSpPr/>
          <p:nvPr userDrawn="1"/>
        </p:nvSpPr>
        <p:spPr>
          <a:xfrm>
            <a:off x="16604" y="3546308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6;p4">
            <a:extLst>
              <a:ext uri="{FF2B5EF4-FFF2-40B4-BE49-F238E27FC236}">
                <a16:creationId xmlns:a16="http://schemas.microsoft.com/office/drawing/2014/main" id="{1200EB7B-B102-EB3B-FBDC-3C73E9F37AB0}"/>
              </a:ext>
            </a:extLst>
          </p:cNvPr>
          <p:cNvSpPr/>
          <p:nvPr userDrawn="1"/>
        </p:nvSpPr>
        <p:spPr>
          <a:xfrm>
            <a:off x="0" y="4462622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7;p4">
            <a:extLst>
              <a:ext uri="{FF2B5EF4-FFF2-40B4-BE49-F238E27FC236}">
                <a16:creationId xmlns:a16="http://schemas.microsoft.com/office/drawing/2014/main" id="{709BFEEE-3DFC-42D5-4101-59B09C9E4989}"/>
              </a:ext>
            </a:extLst>
          </p:cNvPr>
          <p:cNvSpPr/>
          <p:nvPr userDrawn="1"/>
        </p:nvSpPr>
        <p:spPr>
          <a:xfrm>
            <a:off x="8051" y="5333056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9;p4">
            <a:extLst>
              <a:ext uri="{FF2B5EF4-FFF2-40B4-BE49-F238E27FC236}">
                <a16:creationId xmlns:a16="http://schemas.microsoft.com/office/drawing/2014/main" id="{96EE157B-965B-310B-E9EC-9F09062E42C6}"/>
              </a:ext>
            </a:extLst>
          </p:cNvPr>
          <p:cNvSpPr/>
          <p:nvPr userDrawn="1"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0;p4">
            <a:extLst>
              <a:ext uri="{FF2B5EF4-FFF2-40B4-BE49-F238E27FC236}">
                <a16:creationId xmlns:a16="http://schemas.microsoft.com/office/drawing/2014/main" id="{DBBACE13-E94A-ABD7-4084-F2E3AA7A2E1E}"/>
              </a:ext>
            </a:extLst>
          </p:cNvPr>
          <p:cNvSpPr/>
          <p:nvPr userDrawn="1"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1;p4">
            <a:extLst>
              <a:ext uri="{FF2B5EF4-FFF2-40B4-BE49-F238E27FC236}">
                <a16:creationId xmlns:a16="http://schemas.microsoft.com/office/drawing/2014/main" id="{2D590A3F-8316-4A3F-9E8C-5EA9C97953C7}"/>
              </a:ext>
            </a:extLst>
          </p:cNvPr>
          <p:cNvSpPr/>
          <p:nvPr userDrawn="1"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2;p4">
            <a:extLst>
              <a:ext uri="{FF2B5EF4-FFF2-40B4-BE49-F238E27FC236}">
                <a16:creationId xmlns:a16="http://schemas.microsoft.com/office/drawing/2014/main" id="{57B8FECE-11E0-52C6-FC28-5750CAFFD784}"/>
              </a:ext>
            </a:extLst>
          </p:cNvPr>
          <p:cNvSpPr/>
          <p:nvPr userDrawn="1"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3;p4">
            <a:extLst>
              <a:ext uri="{FF2B5EF4-FFF2-40B4-BE49-F238E27FC236}">
                <a16:creationId xmlns:a16="http://schemas.microsoft.com/office/drawing/2014/main" id="{F4E61A96-32AB-D5D5-D791-D2F594800EDE}"/>
              </a:ext>
            </a:extLst>
          </p:cNvPr>
          <p:cNvSpPr/>
          <p:nvPr userDrawn="1"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12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 type="secHead">
  <p:cSld name="Big 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-7425" y="-73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-24223" y="214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-9510" y="1079975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-7619" y="2223916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-24223" y="3140230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-16172" y="4010664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64853" y="602066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74040" y="1437926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64853" y="2290428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74041" y="3142929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75815" y="4011453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 rot="5400000">
            <a:off x="1111456" y="4163945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 rot="5400000">
            <a:off x="1395875" y="3292357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 rot="5400000">
            <a:off x="1694905" y="2438903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 rot="5400000">
            <a:off x="1997536" y="1593687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rot="5400000">
            <a:off x="2303683" y="742787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 flipH="1">
            <a:off x="11450925" y="-7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 rot="10800000">
            <a:off x="11430213" y="5763303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 rot="10800000">
            <a:off x="11424532" y="4962478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 rot="10800000">
            <a:off x="11414604" y="3955383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 rot="10800000">
            <a:off x="11421856" y="2860869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 rot="10800000">
            <a:off x="11417881" y="1784947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 rot="10800000">
            <a:off x="9754053" y="5757974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 rot="10800000">
            <a:off x="10048466" y="4962115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 rot="10800000">
            <a:off x="10349553" y="4166209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 rot="10800000">
            <a:off x="10648465" y="3370305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 rot="10800000">
            <a:off x="10937991" y="2559442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 rot="-5400000">
            <a:off x="10517655" y="2691070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 rot="-5400000">
            <a:off x="10232005" y="3504794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 rot="-5400000">
            <a:off x="9933420" y="4301589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 rot="-5400000">
            <a:off x="9631235" y="509069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 rot="-5400000">
            <a:off x="9346255" y="5885101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2406425" y="1262100"/>
            <a:ext cx="73614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5" name="Google Shape;8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15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 rot="-5400000">
            <a:off x="5791800" y="454275"/>
            <a:ext cx="611100" cy="12194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 rot="-5400000">
            <a:off x="671907" y="5979219"/>
            <a:ext cx="632731" cy="1199453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 rot="-5400000">
            <a:off x="3038343" y="6084075"/>
            <a:ext cx="625556" cy="973514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 rot="-5400000">
            <a:off x="5695173" y="6113208"/>
            <a:ext cx="631940" cy="905856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 rot="-5400000">
            <a:off x="8217174" y="5984553"/>
            <a:ext cx="639369" cy="1168299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 rot="-5400000">
            <a:off x="10775048" y="5846689"/>
            <a:ext cx="636131" cy="145560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 rot="-5400000">
            <a:off x="629781" y="5303109"/>
            <a:ext cx="1338900" cy="5904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 rot="-5400000">
            <a:off x="2985323" y="5408153"/>
            <a:ext cx="1097400" cy="6072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 rot="-5400000">
            <a:off x="5497084" y="5531409"/>
            <a:ext cx="865500" cy="6072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 rot="-5400000">
            <a:off x="7948870" y="5639727"/>
            <a:ext cx="620400" cy="6072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 rot="-5400000">
            <a:off x="10475316" y="5764691"/>
            <a:ext cx="388800" cy="6072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361724" y="5644933"/>
            <a:ext cx="610200" cy="2307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952709" y="5407279"/>
            <a:ext cx="607800" cy="2307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22734" y="5176568"/>
            <a:ext cx="607200" cy="2307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234609" y="4936069"/>
            <a:ext cx="606900" cy="2307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04031" y="4701297"/>
            <a:ext cx="584400" cy="2307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527275" y="277675"/>
            <a:ext cx="11346300" cy="93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643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woObj">
  <p:cSld name="1_Title and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 flipH="1">
            <a:off x="11450925" y="-7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 flipH="1">
            <a:off x="11430213" y="1784947"/>
            <a:ext cx="796517" cy="1095542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 flipH="1">
            <a:off x="11424532" y="2793024"/>
            <a:ext cx="787485" cy="888291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 flipH="1">
            <a:off x="11414604" y="3861020"/>
            <a:ext cx="795521" cy="82739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 flipH="1">
            <a:off x="11421856" y="4716501"/>
            <a:ext cx="804873" cy="1066423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 flipH="1">
            <a:off x="11417881" y="5529148"/>
            <a:ext cx="800797" cy="1329698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 flipH="1">
            <a:off x="9754053" y="2346843"/>
            <a:ext cx="1683600" cy="538976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 flipH="1">
            <a:off x="10048466" y="3127211"/>
            <a:ext cx="1380000" cy="554467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 flipH="1">
            <a:off x="10349553" y="3923116"/>
            <a:ext cx="1088100" cy="554467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 flipH="1">
            <a:off x="10648465" y="4719021"/>
            <a:ext cx="780000" cy="554467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 flipH="1">
            <a:off x="10937991" y="5529884"/>
            <a:ext cx="488700" cy="554467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 rot="-5400000" flipH="1">
            <a:off x="10517655" y="5662622"/>
            <a:ext cx="557049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 rot="-5400000" flipH="1">
            <a:off x="10232005" y="4848899"/>
            <a:ext cx="554898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 rot="-5400000" flipH="1">
            <a:off x="9933420" y="4052104"/>
            <a:ext cx="554467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 rot="-5400000" flipH="1">
            <a:off x="9631235" y="3263001"/>
            <a:ext cx="554037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 rot="-5400000" flipH="1">
            <a:off x="9346255" y="2468592"/>
            <a:ext cx="533597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252500" cy="4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5" name="Google Shape;125;p6"/>
          <p:cNvSpPr txBox="1">
            <a:spLocks noGrp="1"/>
          </p:cNvSpPr>
          <p:nvPr>
            <p:ph type="body" idx="2"/>
          </p:nvPr>
        </p:nvSpPr>
        <p:spPr>
          <a:xfrm>
            <a:off x="5215635" y="1825625"/>
            <a:ext cx="4252500" cy="43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08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 type="titleOnly">
  <p:cSld name="1_Big Titl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-10175" y="-3750"/>
            <a:ext cx="9207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1346426" y="-7500"/>
            <a:ext cx="897300" cy="68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 flipH="1">
            <a:off x="11333460" y="-456631"/>
            <a:ext cx="910305" cy="1755298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 flipH="1">
            <a:off x="11326952" y="1158762"/>
            <a:ext cx="899983" cy="142374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 flipH="1">
            <a:off x="11315604" y="2870173"/>
            <a:ext cx="909167" cy="132580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 flipH="1">
            <a:off x="11323910" y="4241040"/>
            <a:ext cx="919855" cy="17095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 flipH="1">
            <a:off x="11319358" y="5543267"/>
            <a:ext cx="915197" cy="2127427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 flipH="1">
            <a:off x="921825" y="443775"/>
            <a:ext cx="10419300" cy="864000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 flipH="1">
            <a:off x="912162" y="1694266"/>
            <a:ext cx="10419300" cy="888900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 flipH="1">
            <a:off x="12519" y="2969687"/>
            <a:ext cx="11328600" cy="888900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 flipH="1">
            <a:off x="912166" y="4245065"/>
            <a:ext cx="10419300" cy="888900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flipH="1">
            <a:off x="910290" y="5544450"/>
            <a:ext cx="10419300" cy="888900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-21353" y="-454525"/>
            <a:ext cx="967199" cy="1755298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-41885" y="1160868"/>
            <a:ext cx="956232" cy="1423743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-39586" y="2872279"/>
            <a:ext cx="965990" cy="1325800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-59775" y="4243146"/>
            <a:ext cx="977346" cy="17095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-49985" y="5545373"/>
            <a:ext cx="972397" cy="2127427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1625325" y="1694275"/>
            <a:ext cx="9054600" cy="3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highlight>
                  <a:srgbClr val="FFFFFF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highlight>
                  <a:srgbClr val="FFFFFF"/>
                </a:highlight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1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objTx">
  <p:cSld name="1_Title and 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-7425" y="-7350"/>
            <a:ext cx="759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-24223" y="214"/>
            <a:ext cx="796517" cy="1173446"/>
          </a:xfrm>
          <a:custGeom>
            <a:avLst/>
            <a:gdLst/>
            <a:ahLst/>
            <a:cxnLst/>
            <a:rect l="l" t="t" r="r" b="b"/>
            <a:pathLst>
              <a:path w="689625" h="835856" extrusionOk="0">
                <a:moveTo>
                  <a:pt x="0" y="0"/>
                </a:moveTo>
                <a:lnTo>
                  <a:pt x="689625" y="431745"/>
                </a:lnTo>
                <a:lnTo>
                  <a:pt x="681706" y="835856"/>
                </a:lnTo>
                <a:lnTo>
                  <a:pt x="1560" y="578681"/>
                </a:lnTo>
                <a:lnTo>
                  <a:pt x="0" y="0"/>
                </a:lnTo>
                <a:close/>
              </a:path>
            </a:pathLst>
          </a:custGeom>
          <a:solidFill>
            <a:srgbClr val="566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-9510" y="1079975"/>
            <a:ext cx="787485" cy="951458"/>
          </a:xfrm>
          <a:custGeom>
            <a:avLst/>
            <a:gdLst/>
            <a:ahLst/>
            <a:cxnLst/>
            <a:rect l="l" t="t" r="r" b="b"/>
            <a:pathLst>
              <a:path w="681805" h="679591" extrusionOk="0">
                <a:moveTo>
                  <a:pt x="408" y="0"/>
                </a:moveTo>
                <a:lnTo>
                  <a:pt x="681747" y="257175"/>
                </a:lnTo>
                <a:cubicBezTo>
                  <a:pt x="681244" y="396099"/>
                  <a:pt x="682151" y="540667"/>
                  <a:pt x="681648" y="679591"/>
                </a:cubicBezTo>
                <a:lnTo>
                  <a:pt x="408" y="626845"/>
                </a:lnTo>
                <a:cubicBezTo>
                  <a:pt x="1819" y="417897"/>
                  <a:pt x="-1003" y="208948"/>
                  <a:pt x="408" y="0"/>
                </a:cubicBezTo>
                <a:close/>
              </a:path>
            </a:pathLst>
          </a:custGeom>
          <a:solidFill>
            <a:srgbClr val="7EB1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-7619" y="2223916"/>
            <a:ext cx="795521" cy="886225"/>
          </a:xfrm>
          <a:custGeom>
            <a:avLst/>
            <a:gdLst/>
            <a:ahLst/>
            <a:cxnLst/>
            <a:rect l="l" t="t" r="r" b="b"/>
            <a:pathLst>
              <a:path w="688763" h="643592" extrusionOk="0">
                <a:moveTo>
                  <a:pt x="0" y="0"/>
                </a:moveTo>
                <a:lnTo>
                  <a:pt x="686803" y="50745"/>
                </a:lnTo>
                <a:cubicBezTo>
                  <a:pt x="684634" y="311978"/>
                  <a:pt x="683876" y="56745"/>
                  <a:pt x="688763" y="473200"/>
                </a:cubicBezTo>
                <a:lnTo>
                  <a:pt x="149" y="643592"/>
                </a:lnTo>
                <a:cubicBezTo>
                  <a:pt x="99" y="429061"/>
                  <a:pt x="50" y="214531"/>
                  <a:pt x="0" y="0"/>
                </a:cubicBezTo>
                <a:close/>
              </a:path>
            </a:pathLst>
          </a:custGeom>
          <a:solidFill>
            <a:srgbClr val="9A69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-24223" y="3140230"/>
            <a:ext cx="804873" cy="1142256"/>
          </a:xfrm>
          <a:custGeom>
            <a:avLst/>
            <a:gdLst/>
            <a:ahLst/>
            <a:cxnLst/>
            <a:rect l="l" t="t" r="r" b="b"/>
            <a:pathLst>
              <a:path w="696860" h="816992" extrusionOk="0">
                <a:moveTo>
                  <a:pt x="2821" y="173214"/>
                </a:moveTo>
                <a:lnTo>
                  <a:pt x="696860" y="0"/>
                </a:lnTo>
                <a:cubicBezTo>
                  <a:pt x="696357" y="138924"/>
                  <a:pt x="693031" y="287725"/>
                  <a:pt x="692528" y="426649"/>
                </a:cubicBezTo>
                <a:lnTo>
                  <a:pt x="0" y="816992"/>
                </a:lnTo>
                <a:cubicBezTo>
                  <a:pt x="1411" y="608044"/>
                  <a:pt x="1410" y="382162"/>
                  <a:pt x="2821" y="173214"/>
                </a:cubicBezTo>
                <a:close/>
              </a:path>
            </a:pathLst>
          </a:custGeom>
          <a:solidFill>
            <a:srgbClr val="652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-16172" y="4010664"/>
            <a:ext cx="800797" cy="1424252"/>
          </a:xfrm>
          <a:custGeom>
            <a:avLst/>
            <a:gdLst/>
            <a:ahLst/>
            <a:cxnLst/>
            <a:rect l="l" t="t" r="r" b="b"/>
            <a:pathLst>
              <a:path w="693331" h="1041580" extrusionOk="0">
                <a:moveTo>
                  <a:pt x="0" y="388110"/>
                </a:moveTo>
                <a:lnTo>
                  <a:pt x="688214" y="0"/>
                </a:lnTo>
                <a:cubicBezTo>
                  <a:pt x="686045" y="407989"/>
                  <a:pt x="695164" y="27165"/>
                  <a:pt x="692995" y="435154"/>
                </a:cubicBezTo>
                <a:lnTo>
                  <a:pt x="149" y="1041580"/>
                </a:lnTo>
                <a:cubicBezTo>
                  <a:pt x="99" y="823757"/>
                  <a:pt x="50" y="605933"/>
                  <a:pt x="0" y="388110"/>
                </a:cubicBezTo>
                <a:close/>
              </a:path>
            </a:pathLst>
          </a:custGeom>
          <a:solidFill>
            <a:srgbClr val="250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64853" y="602066"/>
            <a:ext cx="1683600" cy="577302"/>
          </a:xfrm>
          <a:prstGeom prst="rect">
            <a:avLst/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74040" y="1437926"/>
            <a:ext cx="1380000" cy="593895"/>
          </a:xfrm>
          <a:prstGeom prst="rect">
            <a:avLst/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64853" y="2290428"/>
            <a:ext cx="1088100" cy="593895"/>
          </a:xfrm>
          <a:prstGeom prst="rect">
            <a:avLst/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74041" y="3142929"/>
            <a:ext cx="780000" cy="593895"/>
          </a:xfrm>
          <a:prstGeom prst="rect">
            <a:avLst/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75815" y="4011453"/>
            <a:ext cx="488700" cy="593895"/>
          </a:xfrm>
          <a:prstGeom prst="rect">
            <a:avLst/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 rot="5400000">
            <a:off x="1106720" y="4163945"/>
            <a:ext cx="596661" cy="290100"/>
          </a:xfrm>
          <a:prstGeom prst="triangle">
            <a:avLst>
              <a:gd name="adj" fmla="val 50000"/>
            </a:avLst>
          </a:prstGeom>
          <a:solidFill>
            <a:srgbClr val="3F0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 rot="5400000">
            <a:off x="1395875" y="3292357"/>
            <a:ext cx="594356" cy="290100"/>
          </a:xfrm>
          <a:prstGeom prst="triangle">
            <a:avLst>
              <a:gd name="adj" fmla="val 50000"/>
            </a:avLst>
          </a:prstGeom>
          <a:solidFill>
            <a:srgbClr val="882C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 rot="5400000">
            <a:off x="1694905" y="2438903"/>
            <a:ext cx="593895" cy="290100"/>
          </a:xfrm>
          <a:prstGeom prst="triangle">
            <a:avLst>
              <a:gd name="adj" fmla="val 50000"/>
            </a:avLst>
          </a:prstGeom>
          <a:solidFill>
            <a:srgbClr val="B28C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 rot="5400000">
            <a:off x="1997536" y="1593687"/>
            <a:ext cx="593435" cy="290100"/>
          </a:xfrm>
          <a:prstGeom prst="triangle">
            <a:avLst>
              <a:gd name="adj" fmla="val 50000"/>
            </a:avLst>
          </a:prstGeom>
          <a:solidFill>
            <a:srgbClr val="A7C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 rot="5400000">
            <a:off x="2303683" y="742787"/>
            <a:ext cx="571541" cy="290100"/>
          </a:xfrm>
          <a:prstGeom prst="triangle">
            <a:avLst>
              <a:gd name="adj" fmla="val 50000"/>
            </a:avLst>
          </a:prstGeom>
          <a:solidFill>
            <a:srgbClr val="7083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2810300" y="457200"/>
            <a:ext cx="8545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13" name="Google Shape;213;p10"/>
          <p:cNvSpPr txBox="1">
            <a:spLocks noGrp="1"/>
          </p:cNvSpPr>
          <p:nvPr>
            <p:ph type="body" idx="1"/>
          </p:nvPr>
        </p:nvSpPr>
        <p:spPr>
          <a:xfrm>
            <a:off x="2810300" y="2176350"/>
            <a:ext cx="8545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14" name="Google Shape;2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128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mpact"/>
              <a:buNone/>
              <a:defRPr sz="480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Impact"/>
              <a:buNone/>
              <a:defRPr sz="4800"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Char char="•"/>
              <a:defRPr sz="240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0F6E82F-4751-4F7A-965E-C70BC9B7F3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479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1" r:id="rId3"/>
    <p:sldLayoutId id="2147483670" r:id="rId4"/>
    <p:sldLayoutId id="2147483672" r:id="rId5"/>
    <p:sldLayoutId id="2147483663" r:id="rId6"/>
    <p:sldLayoutId id="2147483664" r:id="rId7"/>
    <p:sldLayoutId id="2147483665" r:id="rId8"/>
    <p:sldLayoutId id="2147483667" r:id="rId9"/>
    <p:sldLayoutId id="2147483669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gapro.travail.gouv.fr/aide-index#index-egalite-professionnelle-femmes-homm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10C2D3-DAA0-2EC4-A664-9874A825B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Diagnostic égalité Hommes-Femmes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8BCD7D-0736-2A91-D4EF-668CF0305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Romain RAMAT</a:t>
            </a:r>
          </a:p>
          <a:p>
            <a:r>
              <a:rPr lang="fr-FR" dirty="0"/>
              <a:t>07/04/2025</a:t>
            </a:r>
          </a:p>
        </p:txBody>
      </p:sp>
    </p:spTree>
    <p:extLst>
      <p:ext uri="{BB962C8B-B14F-4D97-AF65-F5344CB8AC3E}">
        <p14:creationId xmlns:p14="http://schemas.microsoft.com/office/powerpoint/2010/main" val="77748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1C550-1329-D401-A45C-391B3539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26BDD-3D8A-56C3-12A9-3F3861E13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Respect des normes règlementaires RGPD</a:t>
            </a:r>
          </a:p>
          <a:p>
            <a:r>
              <a:rPr lang="fr-FR" dirty="0"/>
              <a:t>Méthodologie de collecte</a:t>
            </a:r>
          </a:p>
          <a:p>
            <a:r>
              <a:rPr lang="fr-FR" dirty="0"/>
              <a:t>Agrégation des données</a:t>
            </a:r>
          </a:p>
          <a:p>
            <a:r>
              <a:rPr lang="fr-FR" dirty="0"/>
              <a:t>Présentation des résultats</a:t>
            </a:r>
          </a:p>
          <a:p>
            <a:r>
              <a:rPr lang="fr-FR" dirty="0"/>
              <a:t>Pistes d’amélioration</a:t>
            </a:r>
          </a:p>
        </p:txBody>
      </p:sp>
    </p:spTree>
    <p:extLst>
      <p:ext uri="{BB962C8B-B14F-4D97-AF65-F5344CB8AC3E}">
        <p14:creationId xmlns:p14="http://schemas.microsoft.com/office/powerpoint/2010/main" val="241699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F02D0B-4837-07D8-0087-183726AD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7BDD06-026F-2B87-F246-3D490137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7500"/>
            <a:ext cx="10515600" cy="4351200"/>
          </a:xfrm>
        </p:spPr>
        <p:txBody>
          <a:bodyPr/>
          <a:lstStyle/>
          <a:p>
            <a:r>
              <a:rPr lang="fr-FR" b="1" dirty="0"/>
              <a:t>Faire progresser l’égalité professionnelle au sein des entreprises</a:t>
            </a:r>
            <a:r>
              <a:rPr lang="fr-FR" dirty="0"/>
              <a:t> est l’une des grandes priorités du Gouvernement</a:t>
            </a:r>
          </a:p>
          <a:p>
            <a:r>
              <a:rPr lang="fr-FR" b="1" dirty="0"/>
              <a:t>Chaque femme doit trouver sa place au sein de la société et en particulier au sein du monde professionnel</a:t>
            </a:r>
            <a:r>
              <a:rPr lang="fr-FR" dirty="0"/>
              <a:t>, à la hauteur de ses aspirations, ses ambitions et ses compétences</a:t>
            </a:r>
          </a:p>
          <a:p>
            <a:r>
              <a:rPr lang="fr-FR" dirty="0"/>
              <a:t>objectif commun : </a:t>
            </a:r>
            <a:r>
              <a:rPr lang="fr-FR" b="1" dirty="0"/>
              <a:t>lever les freins à l’égalité réelle et favoriser le développement d’actions concrètes </a:t>
            </a:r>
            <a:r>
              <a:rPr lang="fr-FR" dirty="0"/>
              <a:t>au sein des entreprises, </a:t>
            </a:r>
          </a:p>
        </p:txBody>
      </p:sp>
    </p:spTree>
    <p:extLst>
      <p:ext uri="{BB962C8B-B14F-4D97-AF65-F5344CB8AC3E}">
        <p14:creationId xmlns:p14="http://schemas.microsoft.com/office/powerpoint/2010/main" val="402574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6FBE2-0AD1-771F-D299-DC0A82DC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Respect des normes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3AEF97-9569-88A5-4E1C-E5420C7FB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0986" y="1539817"/>
            <a:ext cx="8545200" cy="782469"/>
          </a:xfrm>
        </p:spPr>
        <p:txBody>
          <a:bodyPr>
            <a:normAutofit/>
          </a:bodyPr>
          <a:lstStyle/>
          <a:p>
            <a:r>
              <a:rPr lang="fr-FR" sz="2800" dirty="0"/>
              <a:t>Les 5 grands principes :</a:t>
            </a:r>
          </a:p>
          <a:p>
            <a:pPr lvl="1"/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73C884E-2B4B-B3B6-05B4-4F74E8D7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946112"/>
              </p:ext>
            </p:extLst>
          </p:nvPr>
        </p:nvGraphicFramePr>
        <p:xfrm>
          <a:off x="2153266" y="2402788"/>
          <a:ext cx="9468464" cy="3998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60">
                  <a:extLst>
                    <a:ext uri="{9D8B030D-6E8A-4147-A177-3AD203B41FA5}">
                      <a16:colId xmlns:a16="http://schemas.microsoft.com/office/drawing/2014/main" val="287106327"/>
                    </a:ext>
                  </a:extLst>
                </a:gridCol>
                <a:gridCol w="5013998">
                  <a:extLst>
                    <a:ext uri="{9D8B030D-6E8A-4147-A177-3AD203B41FA5}">
                      <a16:colId xmlns:a16="http://schemas.microsoft.com/office/drawing/2014/main" val="2255171809"/>
                    </a:ext>
                  </a:extLst>
                </a:gridCol>
                <a:gridCol w="3017806">
                  <a:extLst>
                    <a:ext uri="{9D8B030D-6E8A-4147-A177-3AD203B41FA5}">
                      <a16:colId xmlns:a16="http://schemas.microsoft.com/office/drawing/2014/main" val="3389627917"/>
                    </a:ext>
                  </a:extLst>
                </a:gridCol>
              </a:tblGrid>
              <a:tr h="340412">
                <a:tc>
                  <a:txBody>
                    <a:bodyPr/>
                    <a:lstStyle/>
                    <a:p>
                      <a:r>
                        <a:rPr lang="fr-FR" sz="1000" dirty="0"/>
                        <a:t>Principe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Description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Concrètement</a:t>
                      </a:r>
                    </a:p>
                  </a:txBody>
                  <a:tcPr>
                    <a:solidFill>
                      <a:srgbClr val="3F0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82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finalité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personnelles ne peuvent être collectées et </a:t>
                      </a:r>
                      <a:r>
                        <a:rPr lang="fr-FR" sz="1000" b="1" dirty="0"/>
                        <a:t>utilisées que pour un objectif précis, explicite et légitime</a:t>
                      </a:r>
                      <a:r>
                        <a:rPr lang="fr-FR" sz="1000" dirty="0"/>
                        <a:t>.</a:t>
                      </a:r>
                    </a:p>
                    <a:p>
                      <a:r>
                        <a:rPr lang="fr-FR" sz="1000" dirty="0"/>
                        <a:t>Il est interdit de les utiliser à des fins incompatibles avec cet objectif initial.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Utilisation des données pour répondre à un besoin légitime du respect de l’égalité Femmes-Hommes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79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proportionnalité et de pertinence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Seules les données </a:t>
                      </a:r>
                      <a:r>
                        <a:rPr lang="fr-FR" sz="1000" b="1" dirty="0"/>
                        <a:t>strictement nécessaires</a:t>
                      </a:r>
                      <a:r>
                        <a:rPr lang="fr-FR" sz="1000" dirty="0"/>
                        <a:t> à la finalité du traitement doivent être collectées et traitées.</a:t>
                      </a:r>
                    </a:p>
                    <a:p>
                      <a:r>
                        <a:rPr lang="fr-FR" sz="1000" dirty="0"/>
                        <a:t>Il est interdit de collecter des données inutiles ou excessives.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Retrait des données qui ne sont pas nécessaire dans le cadre de l’analyse.</a:t>
                      </a:r>
                    </a:p>
                    <a:p>
                      <a:r>
                        <a:rPr lang="fr-FR" sz="1000" dirty="0"/>
                        <a:t>Nom prénom, téléphone, ID, âge 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548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d’une durée de conservation limitée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personnelles ne doivent être conservées que pendant une durée </a:t>
                      </a:r>
                      <a:r>
                        <a:rPr lang="fr-FR" sz="1000" b="1" dirty="0"/>
                        <a:t>déterminée</a:t>
                      </a:r>
                      <a:r>
                        <a:rPr lang="fr-FR" sz="1000" dirty="0"/>
                        <a:t> et </a:t>
                      </a:r>
                      <a:r>
                        <a:rPr lang="fr-FR" sz="1000" b="1" dirty="0"/>
                        <a:t>proportionnée</a:t>
                      </a:r>
                      <a:r>
                        <a:rPr lang="fr-FR" sz="1000" dirty="0"/>
                        <a:t> à la finalité du traitement.</a:t>
                      </a:r>
                    </a:p>
                    <a:p>
                      <a:r>
                        <a:rPr lang="fr-FR" sz="1000" dirty="0"/>
                        <a:t>Une fois la finalité atteinte, les données doivent être supprimées ou anonymisées.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Suppression des données post utilisation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2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 principe de sécurité et de confidentialité</a:t>
                      </a:r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Les données </a:t>
                      </a:r>
                      <a:r>
                        <a:rPr lang="fr-FR" sz="1000" b="1" dirty="0"/>
                        <a:t>personnelles doivent être protégées contre les accès non autorisés</a:t>
                      </a:r>
                      <a:r>
                        <a:rPr lang="fr-FR" sz="1000" dirty="0"/>
                        <a:t>, les pertes, les fuites ou les altérations.</a:t>
                      </a:r>
                    </a:p>
                    <a:p>
                      <a:r>
                        <a:rPr lang="fr-FR" sz="1000" dirty="0"/>
                        <a:t>Des mesures techniques et organisationnelles adaptées doivent être mises en place.</a:t>
                      </a:r>
                    </a:p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solidFill>
                      <a:srgbClr val="B28C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4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dirty="0"/>
                        <a:t>Les droits des personnes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Toute personne concernée par un traitement de données dispose de droits 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d’accès</a:t>
                      </a:r>
                      <a:r>
                        <a:rPr lang="fr-FR" sz="1000" dirty="0"/>
                        <a:t> (connaître les données détenues sur elle)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de rectification</a:t>
                      </a:r>
                      <a:r>
                        <a:rPr lang="fr-FR" sz="1000" dirty="0"/>
                        <a:t> (corriger ses données)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d’effacement</a:t>
                      </a:r>
                      <a:r>
                        <a:rPr lang="fr-FR" sz="1000" dirty="0"/>
                        <a:t> (faire supprimer ses données)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d’opposition</a:t>
                      </a:r>
                      <a:r>
                        <a:rPr lang="fr-FR" sz="1000" dirty="0"/>
                        <a:t> (refuser un traitement)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1" dirty="0"/>
                        <a:t>Droit à la portabilité</a:t>
                      </a:r>
                      <a:r>
                        <a:rPr lang="fr-FR" sz="1000" dirty="0"/>
                        <a:t> (récupérer ses données dans un format lisible)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dirty="0"/>
                        <a:t>Echange avec les Instances représentatives du personnel sur la </a:t>
                      </a:r>
                      <a:r>
                        <a:rPr lang="fr-FR" sz="1000" dirty="0" err="1"/>
                        <a:t>finalitée</a:t>
                      </a:r>
                      <a:r>
                        <a:rPr lang="fr-FR" sz="1000" dirty="0"/>
                        <a:t> et communication associée</a:t>
                      </a:r>
                    </a:p>
                  </a:txBody>
                  <a:tcPr>
                    <a:solidFill>
                      <a:srgbClr val="A7C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8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43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6710D-3B44-7425-FA9D-E3690E81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9484A-F25E-D0F7-DECF-8390E1077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5850"/>
            <a:ext cx="10515600" cy="4351200"/>
          </a:xfrm>
        </p:spPr>
        <p:txBody>
          <a:bodyPr/>
          <a:lstStyle/>
          <a:p>
            <a:pPr marL="114300" indent="0">
              <a:buNone/>
            </a:pPr>
            <a:r>
              <a:rPr lang="fr-FR" sz="2000" b="1" dirty="0"/>
              <a:t>3 Etapes clés :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1: 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Anonymisation des données : </a:t>
            </a:r>
          </a:p>
          <a:p>
            <a:pPr lvl="2">
              <a:spcBef>
                <a:spcPts val="300"/>
              </a:spcBef>
            </a:pPr>
            <a:r>
              <a:rPr lang="fr-FR" sz="1600" dirty="0"/>
              <a:t>Retrait des informations personnelles</a:t>
            </a:r>
          </a:p>
          <a:p>
            <a:pPr lvl="2">
              <a:spcBef>
                <a:spcPts val="300"/>
              </a:spcBef>
            </a:pPr>
            <a:r>
              <a:rPr lang="fr-FR" sz="1600" dirty="0"/>
              <a:t>Retrait des informations non-nécessaires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ajout des informations de catégorisation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Sauvegarde d’une table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2: 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Exploitation et mise en place des processus de traitement</a:t>
            </a:r>
          </a:p>
          <a:p>
            <a:pPr>
              <a:spcBef>
                <a:spcPts val="300"/>
              </a:spcBef>
            </a:pPr>
            <a:r>
              <a:rPr lang="fr-FR" sz="1800" dirty="0"/>
              <a:t>Etape 3: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Elaboration des indicateurs clés</a:t>
            </a:r>
          </a:p>
          <a:p>
            <a:pPr lvl="1">
              <a:spcBef>
                <a:spcPts val="300"/>
              </a:spcBef>
            </a:pPr>
            <a:r>
              <a:rPr lang="fr-FR" sz="1800" dirty="0"/>
              <a:t>Sauvegarde du modèle de calcul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681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DA2BE-8611-B137-DD12-CE357E6A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Préparation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1A11A9-B3D5-9C72-ED00-ABC3387BD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Récupération des données</a:t>
            </a:r>
          </a:p>
          <a:p>
            <a:r>
              <a:rPr lang="fr-FR" dirty="0"/>
              <a:t>Anonymisation</a:t>
            </a:r>
          </a:p>
          <a:p>
            <a:r>
              <a:rPr lang="fr-FR" dirty="0"/>
              <a:t>Traitement</a:t>
            </a:r>
          </a:p>
          <a:p>
            <a:r>
              <a:rPr lang="fr-FR" dirty="0"/>
              <a:t>Sauvegarde du modèle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8477B7-D7BE-BC0E-ADB2-4C7704B7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273" y="1825625"/>
            <a:ext cx="6356873" cy="24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35A23-AC7A-3E02-2083-2DD69A90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indicateurs clés par domaine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9A73CB-636A-A2C2-2232-E2A766D4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Ecarts de rémunération par secteur d’activité</a:t>
            </a:r>
          </a:p>
          <a:p>
            <a:r>
              <a:rPr lang="fr-FR" dirty="0"/>
              <a:t>Répartition des accidents du travail</a:t>
            </a:r>
          </a:p>
          <a:p>
            <a:r>
              <a:rPr lang="fr-FR" dirty="0"/>
              <a:t>Ecart de répartition des augmentations individuelles</a:t>
            </a:r>
          </a:p>
          <a:p>
            <a:r>
              <a:rPr lang="fr-FR" dirty="0"/>
              <a:t>Ecart de répartition des promotions</a:t>
            </a:r>
          </a:p>
          <a:p>
            <a:r>
              <a:rPr lang="fr-FR" dirty="0"/>
              <a:t>Pourcentage de salarié augmenté à leur retour de congé maternité</a:t>
            </a:r>
          </a:p>
          <a:p>
            <a:r>
              <a:rPr lang="fr-FR" dirty="0"/>
              <a:t>Proportion de femme et homme parmi les 10 plus hautes rémunérations</a:t>
            </a:r>
          </a:p>
        </p:txBody>
      </p:sp>
    </p:spTree>
    <p:extLst>
      <p:ext uri="{BB962C8B-B14F-4D97-AF65-F5344CB8AC3E}">
        <p14:creationId xmlns:p14="http://schemas.microsoft.com/office/powerpoint/2010/main" val="385487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B59B4338-1230-5960-4A0C-57BC52C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Répartition Hommes / Femmes : Effectif et Services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26AEE9B-100F-FCF9-AA61-596359F39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88" y="1444219"/>
            <a:ext cx="3613545" cy="431922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BDF9D1A-5984-9FE9-A3E3-57C046391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369" y="1345797"/>
            <a:ext cx="3913657" cy="441764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36C1A46C-01EF-578A-1A22-EC9C2E9D805D}"/>
              </a:ext>
            </a:extLst>
          </p:cNvPr>
          <p:cNvSpPr txBox="1"/>
          <p:nvPr/>
        </p:nvSpPr>
        <p:spPr>
          <a:xfrm>
            <a:off x="4935707" y="1507953"/>
            <a:ext cx="2342662" cy="3842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Une répartition presque équitable dans l’entreprise, mais encore quelques disparités selon les secteurs d’activités</a:t>
            </a:r>
          </a:p>
          <a:p>
            <a:pPr>
              <a:lnSpc>
                <a:spcPct val="200000"/>
              </a:lnSpc>
            </a:pPr>
            <a:endParaRPr lang="fr-FR" dirty="0"/>
          </a:p>
          <a:p>
            <a:pPr algn="l">
              <a:buNone/>
            </a:pPr>
            <a:r>
              <a:rPr lang="fr-FR" b="1" i="0" dirty="0">
                <a:solidFill>
                  <a:srgbClr val="3A3A3A"/>
                </a:solidFill>
                <a:effectLst/>
                <a:latin typeface="Marianne"/>
              </a:rPr>
              <a:t>Ne sont pas pris en compte dans l'effectif :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3A3A3A"/>
                </a:solidFill>
                <a:effectLst/>
                <a:latin typeface="Marianne"/>
              </a:rPr>
              <a:t> Les CDD inférieur à 6 mois * </a:t>
            </a:r>
            <a:r>
              <a:rPr lang="fr-FR" sz="1000" dirty="0" err="1">
                <a:hlinkClick r:id="rId4"/>
              </a:rPr>
              <a:t>Egapro</a:t>
            </a:r>
            <a:r>
              <a:rPr lang="fr-FR" sz="1000" dirty="0">
                <a:hlinkClick r:id="rId4"/>
              </a:rPr>
              <a:t> - Aide simulation</a:t>
            </a:r>
            <a:endParaRPr lang="fr-FR" sz="1000" dirty="0"/>
          </a:p>
          <a:p>
            <a:pPr algn="l">
              <a:buFont typeface="Arial" panose="020B0604020202020204" pitchFamily="34" charset="0"/>
              <a:buChar char="•"/>
            </a:pPr>
            <a:endParaRPr lang="fr-FR" sz="1000" b="0" i="0" dirty="0">
              <a:solidFill>
                <a:srgbClr val="3A3A3A"/>
              </a:solidFill>
              <a:effectLst/>
              <a:latin typeface="Marian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3A3A3A"/>
                </a:solidFill>
                <a:latin typeface="Marianne"/>
              </a:rPr>
              <a:t> Plus de 250 Salariés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pPr>
              <a:lnSpc>
                <a:spcPct val="20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105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A2E89-668D-9DAF-D0B6-6559D271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Eventail des rémunérations : Tranche d’âge / Service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B1F5C44-F765-E929-24F4-FA3DA3DF796A}"/>
              </a:ext>
            </a:extLst>
          </p:cNvPr>
          <p:cNvSpPr txBox="1"/>
          <p:nvPr/>
        </p:nvSpPr>
        <p:spPr>
          <a:xfrm>
            <a:off x="8580395" y="1558900"/>
            <a:ext cx="3356180" cy="3842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Une médiane à l’avantage des hommes en tranche d’âge ou secteur d’activité, mais des progrès dans l’égalité des rémunérations, à noter quelques salaires élevés chez les femmes.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C1E1A67-8C57-3949-162B-F8834A44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99" y="1509263"/>
            <a:ext cx="3686576" cy="433355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3C5870A-228A-07EF-143E-A7C47A212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776" y="1532308"/>
            <a:ext cx="3765447" cy="4333557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AE2235-956C-8204-99F1-B71EF7E94A32}"/>
              </a:ext>
            </a:extLst>
          </p:cNvPr>
          <p:cNvCxnSpPr/>
          <p:nvPr/>
        </p:nvCxnSpPr>
        <p:spPr>
          <a:xfrm>
            <a:off x="722088" y="3268976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CC3E3CB-E544-52BF-32EA-B055129D1035}"/>
              </a:ext>
            </a:extLst>
          </p:cNvPr>
          <p:cNvCxnSpPr>
            <a:cxnSpLocks/>
          </p:cNvCxnSpPr>
          <p:nvPr/>
        </p:nvCxnSpPr>
        <p:spPr>
          <a:xfrm>
            <a:off x="712625" y="5423853"/>
            <a:ext cx="75381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16AE8CE-0D5F-0EF0-9244-BA5855BE3BA7}"/>
              </a:ext>
            </a:extLst>
          </p:cNvPr>
          <p:cNvCxnSpPr>
            <a:cxnSpLocks/>
          </p:cNvCxnSpPr>
          <p:nvPr/>
        </p:nvCxnSpPr>
        <p:spPr>
          <a:xfrm>
            <a:off x="712625" y="4689000"/>
            <a:ext cx="753816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8C6277-0CCC-A72D-E3C8-4075038EB17C}"/>
              </a:ext>
            </a:extLst>
          </p:cNvPr>
          <p:cNvCxnSpPr/>
          <p:nvPr/>
        </p:nvCxnSpPr>
        <p:spPr>
          <a:xfrm>
            <a:off x="715554" y="3977640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C7C4939-5C29-4752-9823-743573BCCBFC}"/>
              </a:ext>
            </a:extLst>
          </p:cNvPr>
          <p:cNvCxnSpPr/>
          <p:nvPr/>
        </p:nvCxnSpPr>
        <p:spPr>
          <a:xfrm>
            <a:off x="712625" y="2559360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E0CBE32-6114-2678-466C-EB1BCA1D5CAC}"/>
              </a:ext>
            </a:extLst>
          </p:cNvPr>
          <p:cNvCxnSpPr/>
          <p:nvPr/>
        </p:nvCxnSpPr>
        <p:spPr>
          <a:xfrm>
            <a:off x="701040" y="1842605"/>
            <a:ext cx="74520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3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6A33-6D43-9360-660F-3962B242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1F53B-9543-36C0-DD1B-81D984AA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ancienneté moyenne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EDF479-897C-44C7-4FFA-3D74D19C5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881" y="1325997"/>
            <a:ext cx="5229955" cy="40486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48658CE-F554-B0AB-2066-642314A6E453}"/>
              </a:ext>
            </a:extLst>
          </p:cNvPr>
          <p:cNvSpPr txBox="1"/>
          <p:nvPr/>
        </p:nvSpPr>
        <p:spPr>
          <a:xfrm>
            <a:off x="1179870" y="1690688"/>
            <a:ext cx="2654711" cy="2311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de l’ancienneté moyenne, en faveur des hommes</a:t>
            </a:r>
          </a:p>
        </p:txBody>
      </p:sp>
    </p:spTree>
    <p:extLst>
      <p:ext uri="{BB962C8B-B14F-4D97-AF65-F5344CB8AC3E}">
        <p14:creationId xmlns:p14="http://schemas.microsoft.com/office/powerpoint/2010/main" val="3802964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80204-1D05-2E0F-C2F9-D9DCA986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par Promotions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330BDE9-3717-4423-1382-CD19D3A8F53E}"/>
              </a:ext>
            </a:extLst>
          </p:cNvPr>
          <p:cNvGrpSpPr/>
          <p:nvPr/>
        </p:nvGrpSpPr>
        <p:grpSpPr>
          <a:xfrm>
            <a:off x="857176" y="1626702"/>
            <a:ext cx="4504553" cy="3781709"/>
            <a:chOff x="1021568" y="1538145"/>
            <a:chExt cx="4504553" cy="3781709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CD4B125B-560C-33D7-0C31-C67E001E5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1568" y="1538145"/>
              <a:ext cx="4504553" cy="3781709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BF66B41-6C9E-8ADB-7E47-64FD181C1F62}"/>
                </a:ext>
              </a:extLst>
            </p:cNvPr>
            <p:cNvSpPr txBox="1"/>
            <p:nvPr/>
          </p:nvSpPr>
          <p:spPr>
            <a:xfrm>
              <a:off x="2694037" y="3145260"/>
              <a:ext cx="94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21,56%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4C8C813D-6874-CDEB-B45E-40D6D9909F0F}"/>
              </a:ext>
            </a:extLst>
          </p:cNvPr>
          <p:cNvSpPr txBox="1"/>
          <p:nvPr/>
        </p:nvSpPr>
        <p:spPr>
          <a:xfrm>
            <a:off x="8622890" y="3096630"/>
            <a:ext cx="963562" cy="491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556051A-DF3B-1DDB-4840-E4E288A1627F}"/>
              </a:ext>
            </a:extLst>
          </p:cNvPr>
          <p:cNvGrpSpPr/>
          <p:nvPr/>
        </p:nvGrpSpPr>
        <p:grpSpPr>
          <a:xfrm>
            <a:off x="7226022" y="1365116"/>
            <a:ext cx="4146754" cy="3463027"/>
            <a:chOff x="7207046" y="1531159"/>
            <a:chExt cx="4146754" cy="3463027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EE80FF46-D8B4-4AAF-5DFF-3CCC6C4DA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7046" y="1531159"/>
              <a:ext cx="4146754" cy="3463027"/>
            </a:xfrm>
            <a:prstGeom prst="rect">
              <a:avLst/>
            </a:prstGeom>
          </p:spPr>
        </p:pic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4967519-D0CD-D000-255D-6977686F4ACE}"/>
                </a:ext>
              </a:extLst>
            </p:cNvPr>
            <p:cNvSpPr txBox="1"/>
            <p:nvPr/>
          </p:nvSpPr>
          <p:spPr>
            <a:xfrm>
              <a:off x="8721213" y="3161060"/>
              <a:ext cx="94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20,37%</a:t>
              </a:r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ACA631D8-0A11-5405-8B2B-7BAD57DB7AB6}"/>
              </a:ext>
            </a:extLst>
          </p:cNvPr>
          <p:cNvSpPr txBox="1"/>
          <p:nvPr/>
        </p:nvSpPr>
        <p:spPr>
          <a:xfrm>
            <a:off x="2497392" y="5344424"/>
            <a:ext cx="94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Femmes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D2B95A3-B38F-E9F3-4D9C-A96F11527A23}"/>
              </a:ext>
            </a:extLst>
          </p:cNvPr>
          <p:cNvSpPr txBox="1"/>
          <p:nvPr/>
        </p:nvSpPr>
        <p:spPr>
          <a:xfrm>
            <a:off x="8878527" y="5295195"/>
            <a:ext cx="94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Hommes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CDA9685-35EA-CCEA-0EE5-E0F65DDF42A0}"/>
              </a:ext>
            </a:extLst>
          </p:cNvPr>
          <p:cNvSpPr txBox="1"/>
          <p:nvPr/>
        </p:nvSpPr>
        <p:spPr>
          <a:xfrm>
            <a:off x="5061004" y="2273479"/>
            <a:ext cx="2059124" cy="2311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des promotions pas sexe.</a:t>
            </a:r>
          </a:p>
        </p:txBody>
      </p:sp>
    </p:spTree>
    <p:extLst>
      <p:ext uri="{BB962C8B-B14F-4D97-AF65-F5344CB8AC3E}">
        <p14:creationId xmlns:p14="http://schemas.microsoft.com/office/powerpoint/2010/main" val="5372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A1DBB-D900-A842-5349-8C40CBAC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55477" cy="1325563"/>
          </a:xfrm>
        </p:spPr>
        <p:txBody>
          <a:bodyPr/>
          <a:lstStyle/>
          <a:p>
            <a:r>
              <a:rPr lang="fr-FR" dirty="0"/>
              <a:t>Répartition par durée moyenne de travail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2596DC-7EF1-26A5-2529-CCD81FF0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25" y="1572701"/>
            <a:ext cx="5287297" cy="386897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30282EE-F2C9-CB35-956D-CE5C937C1238}"/>
              </a:ext>
            </a:extLst>
          </p:cNvPr>
          <p:cNvSpPr txBox="1"/>
          <p:nvPr/>
        </p:nvSpPr>
        <p:spPr>
          <a:xfrm>
            <a:off x="6465937" y="1709892"/>
            <a:ext cx="2569908" cy="2950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Répartition à peu près égale entre hommes et femmes sur la durée hebdomadaire de travail avec une durée légèrement supérieure pour les femmes</a:t>
            </a:r>
          </a:p>
        </p:txBody>
      </p:sp>
    </p:spTree>
    <p:extLst>
      <p:ext uri="{BB962C8B-B14F-4D97-AF65-F5344CB8AC3E}">
        <p14:creationId xmlns:p14="http://schemas.microsoft.com/office/powerpoint/2010/main" val="231888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CC4A58EA-9712-32D2-B29A-8F534DCEE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63" y="1215462"/>
            <a:ext cx="3435101" cy="449757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9C618CB-17B3-FE30-67A6-65FAFAD2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Accident du travail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8B96CAF-361B-1913-1EA5-4F6534D46F18}"/>
              </a:ext>
            </a:extLst>
          </p:cNvPr>
          <p:cNvSpPr txBox="1"/>
          <p:nvPr/>
        </p:nvSpPr>
        <p:spPr>
          <a:xfrm>
            <a:off x="373436" y="1690688"/>
            <a:ext cx="3185450" cy="2957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Proportion d’accident du travail équivalent chez les femmes et les hommes, mais est globalement élevé.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4ECA4-B0DA-8A85-0BB6-CFCAC96D3F60}"/>
              </a:ext>
            </a:extLst>
          </p:cNvPr>
          <p:cNvSpPr/>
          <p:nvPr/>
        </p:nvSpPr>
        <p:spPr>
          <a:xfrm>
            <a:off x="8662220" y="2279408"/>
            <a:ext cx="45719" cy="2703871"/>
          </a:xfrm>
          <a:prstGeom prst="rect">
            <a:avLst/>
          </a:prstGeom>
          <a:solidFill>
            <a:srgbClr val="B28C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0A82D1A-42FE-7768-1F5F-6FCAC9C6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15" y="1215461"/>
            <a:ext cx="3435101" cy="4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DF5026-9ADD-A3BF-71B8-F9C30630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 Egalité Hommes / Femmes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691658E-ECB9-F953-D9D7-FFAE703DC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516456"/>
              </p:ext>
            </p:extLst>
          </p:nvPr>
        </p:nvGraphicFramePr>
        <p:xfrm>
          <a:off x="409575" y="1073627"/>
          <a:ext cx="11715377" cy="28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3902">
                  <a:extLst>
                    <a:ext uri="{9D8B030D-6E8A-4147-A177-3AD203B41FA5}">
                      <a16:colId xmlns:a16="http://schemas.microsoft.com/office/drawing/2014/main" val="3496222624"/>
                    </a:ext>
                  </a:extLst>
                </a:gridCol>
                <a:gridCol w="1514317">
                  <a:extLst>
                    <a:ext uri="{9D8B030D-6E8A-4147-A177-3AD203B41FA5}">
                      <a16:colId xmlns:a16="http://schemas.microsoft.com/office/drawing/2014/main" val="3446668467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127313446"/>
                    </a:ext>
                  </a:extLst>
                </a:gridCol>
                <a:gridCol w="1388126">
                  <a:extLst>
                    <a:ext uri="{9D8B030D-6E8A-4147-A177-3AD203B41FA5}">
                      <a16:colId xmlns:a16="http://schemas.microsoft.com/office/drawing/2014/main" val="2216190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Barème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Nb point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rémunération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82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taux d'augmentations individuelles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7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Écart de taux de promotions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entre les femmes et les hommes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5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Pourcentage de salariées ayant bénéficié d'une augmentation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dans l'année suivant leur retour de </a:t>
                      </a:r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congé de maternité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26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Nombre de salariés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du sexe sous-représenté parmi les 10 salariés ayant perçu les </a:t>
                      </a:r>
                      <a:r>
                        <a:rPr lang="fr-FR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plus hautes rémunérations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81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9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42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5F5E3-5293-67CD-DA7F-ABAE2565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 algn="r"/>
            <a:r>
              <a:rPr lang="fr-FR" dirty="0"/>
              <a:t>Pistes d’amélioration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B200D11-E6B8-39DC-6301-93D6B401FFC2}"/>
              </a:ext>
            </a:extLst>
          </p:cNvPr>
          <p:cNvSpPr txBox="1">
            <a:spLocks/>
          </p:cNvSpPr>
          <p:nvPr/>
        </p:nvSpPr>
        <p:spPr>
          <a:xfrm>
            <a:off x="838200" y="1501161"/>
            <a:ext cx="10515600" cy="4351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Ecart de rémunération hommes / Femmes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Ecart important des taux d’augmentation individuel chez les femmes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Disparité hommes/Femmes dans certains secteurs d’activités (Informatique / marketing / Consulting)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Peu de femmes dans le TOP 10 des salaires les plus élevés</a:t>
            </a:r>
          </a:p>
          <a:p>
            <a:pPr marL="285750" lvl="3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Ajouter des données sur la formation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Ajouter les catégories socio-professionnelles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Constat de début d’amélioration les nouveaux contrats : (13 femmes / 7 hommes) pour les 20 plus récents</a:t>
            </a:r>
          </a:p>
        </p:txBody>
      </p:sp>
    </p:spTree>
    <p:extLst>
      <p:ext uri="{BB962C8B-B14F-4D97-AF65-F5344CB8AC3E}">
        <p14:creationId xmlns:p14="http://schemas.microsoft.com/office/powerpoint/2010/main" val="1707548006"/>
      </p:ext>
    </p:extLst>
  </p:cSld>
  <p:clrMapOvr>
    <a:masterClrMapping/>
  </p:clrMapOvr>
</p:sld>
</file>

<file path=ppt/theme/theme1.xml><?xml version="1.0" encoding="utf-8"?>
<a:theme xmlns:a="http://schemas.openxmlformats.org/drawingml/2006/main" name="0137_Alban_Template_SlidesMani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Alban · SlidesMania</Template>
  <TotalTime>2794</TotalTime>
  <Words>818</Words>
  <Application>Microsoft Office PowerPoint</Application>
  <PresentationFormat>Grand écran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Didact Gothic</vt:lpstr>
      <vt:lpstr>Impact</vt:lpstr>
      <vt:lpstr>Inter</vt:lpstr>
      <vt:lpstr>Marianne</vt:lpstr>
      <vt:lpstr>Wingdings</vt:lpstr>
      <vt:lpstr>0137_Alban_Template_SlidesMania</vt:lpstr>
      <vt:lpstr>Diagnostic égalité Hommes-Femmes</vt:lpstr>
      <vt:lpstr>Sommaire</vt:lpstr>
      <vt:lpstr>Introduction</vt:lpstr>
      <vt:lpstr>Respect des normes RGPD</vt:lpstr>
      <vt:lpstr>Méthodologie</vt:lpstr>
      <vt:lpstr>Préparation des données</vt:lpstr>
      <vt:lpstr>Les indicateurs clés par domaine</vt:lpstr>
      <vt:lpstr>Répartition Hommes / Femmes : Effectif et Services</vt:lpstr>
      <vt:lpstr>Eventail des rémunérations : Tranche d’âge / Service</vt:lpstr>
      <vt:lpstr>Répartition ancienneté moyenne</vt:lpstr>
      <vt:lpstr>Répartition par Promotions</vt:lpstr>
      <vt:lpstr>Répartition par durée moyenne de travail</vt:lpstr>
      <vt:lpstr>Accident du travail</vt:lpstr>
      <vt:lpstr>Score Egalité Hommes / Femmes</vt:lpstr>
      <vt:lpstr>Pistes d’amélioration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17</cp:revision>
  <dcterms:created xsi:type="dcterms:W3CDTF">2025-03-22T23:27:00Z</dcterms:created>
  <dcterms:modified xsi:type="dcterms:W3CDTF">2025-04-07T18:08:24Z</dcterms:modified>
</cp:coreProperties>
</file>