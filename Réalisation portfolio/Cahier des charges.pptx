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406B"/>
    <a:srgbClr val="162543"/>
    <a:srgbClr val="1F3861"/>
    <a:srgbClr val="1F3660"/>
    <a:srgbClr val="152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9BA932CE-A39D-DDF4-8BB7-0E6B0DDAC519}"/>
              </a:ext>
            </a:extLst>
          </p:cNvPr>
          <p:cNvGrpSpPr/>
          <p:nvPr userDrawn="1"/>
        </p:nvGrpSpPr>
        <p:grpSpPr>
          <a:xfrm>
            <a:off x="0" y="0"/>
            <a:ext cx="12192000" cy="6866626"/>
            <a:chOff x="0" y="0"/>
            <a:chExt cx="12192000" cy="686662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165A-CB2E-BEA0-0183-B4A82F8C7470}"/>
                </a:ext>
              </a:extLst>
            </p:cNvPr>
            <p:cNvSpPr/>
            <p:nvPr userDrawn="1"/>
          </p:nvSpPr>
          <p:spPr>
            <a:xfrm>
              <a:off x="0" y="0"/>
              <a:ext cx="4297680" cy="4470400"/>
            </a:xfrm>
            <a:prstGeom prst="rect">
              <a:avLst/>
            </a:prstGeom>
            <a:solidFill>
              <a:srgbClr val="1528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5C5B63-0EC5-56CB-DBDF-62DD9CF6CC10}"/>
                </a:ext>
              </a:extLst>
            </p:cNvPr>
            <p:cNvSpPr/>
            <p:nvPr userDrawn="1"/>
          </p:nvSpPr>
          <p:spPr>
            <a:xfrm>
              <a:off x="0" y="4470396"/>
              <a:ext cx="4297680" cy="2396230"/>
            </a:xfrm>
            <a:prstGeom prst="rect">
              <a:avLst/>
            </a:prstGeom>
            <a:solidFill>
              <a:srgbClr val="1F38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6B196B-3712-C40E-8D2D-2438E34272B1}"/>
                </a:ext>
              </a:extLst>
            </p:cNvPr>
            <p:cNvSpPr/>
            <p:nvPr userDrawn="1"/>
          </p:nvSpPr>
          <p:spPr>
            <a:xfrm>
              <a:off x="4297680" y="0"/>
              <a:ext cx="7894320" cy="4470400"/>
            </a:xfrm>
            <a:prstGeom prst="rect">
              <a:avLst/>
            </a:prstGeom>
            <a:solidFill>
              <a:srgbClr val="1F36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D15EC3-D604-CD79-D8DD-8A4B7366F8B8}"/>
                </a:ext>
              </a:extLst>
            </p:cNvPr>
            <p:cNvSpPr/>
            <p:nvPr userDrawn="1"/>
          </p:nvSpPr>
          <p:spPr>
            <a:xfrm>
              <a:off x="4297680" y="4470396"/>
              <a:ext cx="7894320" cy="2396229"/>
            </a:xfrm>
            <a:prstGeom prst="rect">
              <a:avLst/>
            </a:prstGeom>
            <a:solidFill>
              <a:srgbClr val="1625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E1DD1F3A-A3F8-5363-5CAB-E9CFA173664C}"/>
                </a:ext>
              </a:extLst>
            </p:cNvPr>
            <p:cNvSpPr/>
            <p:nvPr userDrawn="1"/>
          </p:nvSpPr>
          <p:spPr>
            <a:xfrm>
              <a:off x="2333897" y="2699858"/>
              <a:ext cx="3927566" cy="3541077"/>
            </a:xfrm>
            <a:prstGeom prst="ellipse">
              <a:avLst/>
            </a:prstGeom>
            <a:solidFill>
              <a:srgbClr val="27406B">
                <a:alpha val="6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82DD2E1-E47F-42B8-83DA-F152AED1B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4900" y="1737515"/>
            <a:ext cx="7267030" cy="2387600"/>
          </a:xfrm>
        </p:spPr>
        <p:txBody>
          <a:bodyPr anchor="b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BAA09A-2DF5-FDB3-6AFB-8F54DB1E1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4900" y="4856957"/>
            <a:ext cx="710565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16" name="Graphique 15" descr="Décollage avec un remplissage uni">
            <a:extLst>
              <a:ext uri="{FF2B5EF4-FFF2-40B4-BE49-F238E27FC236}">
                <a16:creationId xmlns:a16="http://schemas.microsoft.com/office/drawing/2014/main" id="{258DC7A4-7607-E69F-067F-AE948CCB25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0" y="2754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9C6B5A-A2B6-C07A-00DB-3F92E9C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3E888-A0A1-D80C-22E3-AD4D81A9FA25}"/>
              </a:ext>
            </a:extLst>
          </p:cNvPr>
          <p:cNvSpPr/>
          <p:nvPr userDrawn="1"/>
        </p:nvSpPr>
        <p:spPr>
          <a:xfrm>
            <a:off x="0" y="0"/>
            <a:ext cx="4297680" cy="4470400"/>
          </a:xfrm>
          <a:prstGeom prst="rect">
            <a:avLst/>
          </a:prstGeom>
          <a:solidFill>
            <a:srgbClr val="152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43F05-8942-3898-38FA-C66E23F618CA}"/>
              </a:ext>
            </a:extLst>
          </p:cNvPr>
          <p:cNvSpPr/>
          <p:nvPr userDrawn="1"/>
        </p:nvSpPr>
        <p:spPr>
          <a:xfrm>
            <a:off x="0" y="4470396"/>
            <a:ext cx="4297680" cy="2387604"/>
          </a:xfrm>
          <a:prstGeom prst="rect">
            <a:avLst/>
          </a:prstGeom>
          <a:solidFill>
            <a:srgbClr val="1F38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4382BA9-FB1B-F82B-7E0C-01D89ACE81A0}"/>
              </a:ext>
            </a:extLst>
          </p:cNvPr>
          <p:cNvSpPr/>
          <p:nvPr userDrawn="1"/>
        </p:nvSpPr>
        <p:spPr>
          <a:xfrm>
            <a:off x="0" y="2028665"/>
            <a:ext cx="3927566" cy="3541077"/>
          </a:xfrm>
          <a:prstGeom prst="ellipse">
            <a:avLst/>
          </a:prstGeom>
          <a:solidFill>
            <a:srgbClr val="27406B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250A31-5211-524C-1888-3ED6F70A0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1154509"/>
            <a:ext cx="6019800" cy="4767263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latin typeface="Montserrat" panose="00000500000000000000" pitchFamily="2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012BA4-1609-AF43-B50B-4FA2CFFE9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330" y="2875360"/>
            <a:ext cx="3192236" cy="1325563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 dirty="0"/>
              <a:t>Sommaire</a:t>
            </a:r>
          </a:p>
        </p:txBody>
      </p:sp>
      <p:pic>
        <p:nvPicPr>
          <p:cNvPr id="10" name="Graphique 9" descr="Décollage avec un remplissage uni">
            <a:extLst>
              <a:ext uri="{FF2B5EF4-FFF2-40B4-BE49-F238E27FC236}">
                <a16:creationId xmlns:a16="http://schemas.microsoft.com/office/drawing/2014/main" id="{851448B9-066D-B6B4-3B77-10E8E6F42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100" y="60817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7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02939-E49D-CE49-4C65-8A239C6E13C5}"/>
              </a:ext>
            </a:extLst>
          </p:cNvPr>
          <p:cNvSpPr/>
          <p:nvPr userDrawn="1"/>
        </p:nvSpPr>
        <p:spPr>
          <a:xfrm>
            <a:off x="0" y="0"/>
            <a:ext cx="4297680" cy="1500187"/>
          </a:xfrm>
          <a:prstGeom prst="rect">
            <a:avLst/>
          </a:prstGeom>
          <a:solidFill>
            <a:srgbClr val="152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2E7A5E-0729-AAB3-7E49-7C6B05EA75DE}"/>
              </a:ext>
            </a:extLst>
          </p:cNvPr>
          <p:cNvSpPr/>
          <p:nvPr userDrawn="1"/>
        </p:nvSpPr>
        <p:spPr>
          <a:xfrm>
            <a:off x="4297680" y="0"/>
            <a:ext cx="7894320" cy="1500187"/>
          </a:xfrm>
          <a:prstGeom prst="rect">
            <a:avLst/>
          </a:prstGeom>
          <a:solidFill>
            <a:srgbClr val="1F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0D52FB-E1DC-B050-02BD-E61DD212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"/>
            <a:ext cx="10515600" cy="1066800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C69C96-ADC3-270F-156B-76CC2739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9750" y="6470650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fld id="{F8E4583F-AF16-4895-94D4-DBDF9F8058A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6408592-99FA-F616-D5FA-82888D755C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825625"/>
            <a:ext cx="105918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11" name="Graphique 10" descr="Décollage avec un remplissage uni">
            <a:extLst>
              <a:ext uri="{FF2B5EF4-FFF2-40B4-BE49-F238E27FC236}">
                <a16:creationId xmlns:a16="http://schemas.microsoft.com/office/drawing/2014/main" id="{2591B1EC-76A1-906C-5CCF-9E437E8DC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0" y="2754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1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4CD0E-D353-7206-8CE4-E36BE5CD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E50E5-31D0-CBF2-6F9D-A81661D00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F3AE4E-3B59-A2D5-B063-4075EDDF4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0A280F-6A91-DB47-1070-3A4F3AC8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AB69FC-91F6-DBD6-813F-9EAE9AD2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BB0C42-CC67-6E09-002E-3061F8E9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52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632E9-C373-5A0E-A785-7477EF29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95371C-E95D-DDDB-A9F8-C938125A8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631873-5110-9C3F-9D54-EAA0BB124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1C91B3-BB81-BA6D-A7FC-75A90DD8F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1A8121-B6E6-EBF4-C4EC-C12A37A78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7B7AC7C-225A-029F-FDAB-18703AC4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685899C-092D-9045-9C47-2573B1C5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7B653D-EE61-FCBF-63C0-E747705D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8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2795A-4D84-735A-DB79-F8D013F1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CB4B39-95E4-1910-1222-5521C36A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E7864-D05B-7729-6A11-B6AFDB4CE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2748F7-F273-F21E-1E70-562A2339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08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254E7D-C030-D09D-497D-750196BFA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2FDA20-52B9-91EC-E833-1AB65F15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90BC01-CD95-DCBF-9BC0-A83C16C8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28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57DBF-3D33-79DE-AF36-DEB5C8C75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D4414-4397-BCBE-2EA5-7319321F9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52378C-80B4-2F41-5281-FAD0BDE45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0ED2C9-0E2F-6332-07AF-58DEDB5B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D89BD-61FB-14F3-1164-5C0BD6F1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59EDD3-8FD6-9B02-0396-41D5F92A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1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E958D-AFDE-7A88-CE77-2C310615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A29C8C-FD09-CD14-8815-3B4889D0C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13DF9C-5244-2C0B-1E59-FF32B86FF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BA268F-BB47-EFCA-78AC-A1B351DC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6BA257-0C61-3A58-A99A-9727E2CA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7B55AA-CAF1-77D9-6E41-F8C21E02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54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802086-EBC7-455B-F74F-45C02B42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C06E0B-D7A7-CB15-B550-284FD75A8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0F3E9-9747-98AA-6A66-1E3A1C4E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78AA7C-F5E1-2A25-B0CC-6EAA6935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1740B-50DB-F76F-EB4F-DE37F9F1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50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667CB7-79FC-08F3-F279-5292BCCBF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0F5FE6-B558-2A68-84A5-958A236DC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A1ED8-79C2-A4CC-2491-34293D9A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B12659-E985-0FDF-E21F-1B382E2D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DFFDA7-1378-153E-DFBF-A688A56B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9236039-3350-4D62-B543-BBDA6714F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4A5758-B636-16C5-3CF8-03D8588D6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A70F48-F17B-5E08-AD76-8A1B9A523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1D8AE-CBBF-4F77-8784-792186276BAD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C024CB-FCF9-6A6A-715D-B3A2284A4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86D9FC-F158-C617-6CE4-FB88F8563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4583F-AF16-4895-94D4-DBDF9F8058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25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72C3A-A5B6-111F-03D0-668F93969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fr-FR" dirty="0"/>
              <a:t>Cahier des charges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DB94B5-1412-F0D5-21C8-08A0105CF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4900" y="4748802"/>
            <a:ext cx="7105650" cy="1655762"/>
          </a:xfrm>
        </p:spPr>
        <p:txBody>
          <a:bodyPr/>
          <a:lstStyle/>
          <a:p>
            <a:pPr algn="l"/>
            <a:r>
              <a:rPr lang="fr-FR" dirty="0"/>
              <a:t>Elaboration d’un portfolio</a:t>
            </a:r>
          </a:p>
        </p:txBody>
      </p:sp>
    </p:spTree>
    <p:extLst>
      <p:ext uri="{BB962C8B-B14F-4D97-AF65-F5344CB8AC3E}">
        <p14:creationId xmlns:p14="http://schemas.microsoft.com/office/powerpoint/2010/main" val="420070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C37AA2-F2AE-413C-6B31-8A2AE78E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786B74-C0F1-1B71-B561-D32E89CB2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0" indent="-226059">
              <a:spcBef>
                <a:spcPts val="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810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6A9561B-C67C-3563-486D-0B16EA5F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projet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384E334-1AC5-090A-0028-E5FA3B9AAB5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70000" lnSpcReduction="20000"/>
          </a:bodyPr>
          <a:lstStyle/>
          <a:p>
            <a:pPr marL="228600" lvl="0" indent="-226059">
              <a:spcBef>
                <a:spcPts val="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</a:p>
          <a:p>
            <a:pPr marL="228600" lvl="0" indent="-226059">
              <a:spcBef>
                <a:spcPts val="1800"/>
              </a:spcBef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</a:p>
          <a:p>
            <a:pPr marL="228600" lvl="0" indent="-226059">
              <a:spcBef>
                <a:spcPts val="1800"/>
              </a:spcBef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Devis</a:t>
            </a:r>
          </a:p>
        </p:txBody>
      </p:sp>
    </p:spTree>
    <p:extLst>
      <p:ext uri="{BB962C8B-B14F-4D97-AF65-F5344CB8AC3E}">
        <p14:creationId xmlns:p14="http://schemas.microsoft.com/office/powerpoint/2010/main" val="325661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5E717-0103-6138-A441-973E81D0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et 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439DB-1345-D6FB-4961-17604ECD86D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Besoins de l’entreprise/ du client :</a:t>
            </a: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Recrutement d’un data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chef de projet expérimenté et polyvalent selon des besoins clairement exprimés avec des appétences pour le management et l’innovation en data </a:t>
            </a: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Raisons du besoin</a:t>
            </a:r>
          </a:p>
          <a:p>
            <a:pPr lvl="1">
              <a:spcBef>
                <a:spcPts val="100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Etendu du Système d’information nécessite des adaptations pour tirer pleinement partie de la valeur des données en toute sécurité</a:t>
            </a: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Objectifs SMART d’élaboration d’un portfolio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53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3B79D-14DF-AA53-0273-1DC941AD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Equipe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6C3AF-9721-AEBE-131C-1AEABEEAAEE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Composition de l’équipe projet </a:t>
            </a:r>
          </a:p>
          <a:p>
            <a:pPr marL="914400" lvl="1" indent="-406400"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Romain RAMAT (Data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Chef de Projet)</a:t>
            </a:r>
          </a:p>
          <a:p>
            <a:pPr marL="914400" lvl="1" indent="-406400">
              <a:spcBef>
                <a:spcPts val="100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Aeroworld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(Client)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6525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EB1E80-40AE-CC22-B939-CFFCD1A1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Spécifications ergonomiques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EBD5D6-AF11-FEE7-2965-CAF68EC87E8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ergonomiques du portfolio :</a:t>
            </a:r>
          </a:p>
          <a:p>
            <a:pPr lvl="1">
              <a:spcBef>
                <a:spcPts val="0"/>
              </a:spcBef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Mode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Mindmapping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permettant de lister l’ensemble des besoins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indent="-165100">
              <a:spcBef>
                <a:spcPts val="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lvl="1" indent="-165100">
              <a:spcBef>
                <a:spcPts val="0"/>
              </a:spcBef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Lien cliquable, noms explicites, respect de la charte client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075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03ADF-F5D9-A854-6E9D-07262193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Spécifications fonctionnelles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6038F2-25F4-A9BB-5B55-ACD68967C67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Prise en compte du besoin client et de ses potentielles évolutions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Prise en compte de la législation française et européenne (RGPD)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Sécurisation des accès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812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288E2-0EA8-80F2-E135-4A3F67EF8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5304"/>
            <a:ext cx="10515600" cy="1066800"/>
          </a:xfrm>
        </p:spPr>
        <p:txBody>
          <a:bodyPr>
            <a:normAutofit fontScale="90000"/>
          </a:bodyPr>
          <a:lstStyle/>
          <a:p>
            <a:r>
              <a:rPr lang="fr-FR" dirty="0"/>
              <a:t>Contraintes et spécificités techniques et règlementaires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E91F0D-5D80-0A4E-2697-18CA88D824C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Exemples de choix techniques pour le portfolio 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Nom de l'hébergeur et nom de domaine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Types d'appareils et navigateurs compatibles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CMS et extensions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Pratiques en sécurité et sauvegarde</a:t>
            </a:r>
          </a:p>
          <a:p>
            <a:pPr lvl="1">
              <a:spcBef>
                <a:spcPts val="1000"/>
              </a:spcBef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Respect du RGPD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133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A6AC1-3F5C-FDA9-E306-E37F5645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Qualité et performance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E6986F-83F2-7C73-64B8-2ED7D0EE42E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334327">
              <a:lnSpc>
                <a:spcPct val="150000"/>
              </a:lnSpc>
              <a:spcBef>
                <a:spcPts val="0"/>
              </a:spcBef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temps :  Avant fin 2025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budget :  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règles fournies par le client : 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chartes  : </a:t>
            </a:r>
          </a:p>
          <a:p>
            <a:pPr marL="914400" lvl="1" indent="-334327">
              <a:lnSpc>
                <a:spcPct val="150000"/>
              </a:lnSpc>
              <a:spcBef>
                <a:spcPts val="0"/>
              </a:spcBef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demandes particulières : </a:t>
            </a:r>
          </a:p>
          <a:p>
            <a:pPr marL="457200" lvl="0" indent="-334327">
              <a:lnSpc>
                <a:spcPct val="150000"/>
              </a:lnSpc>
              <a:spcBef>
                <a:spcPts val="0"/>
              </a:spcBef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Référentiels qualité : ISO 11179 / ISO27001</a:t>
            </a:r>
          </a:p>
          <a:p>
            <a:pPr marL="457200" lvl="0" indent="-334327">
              <a:lnSpc>
                <a:spcPct val="150000"/>
              </a:lnSpc>
              <a:spcBef>
                <a:spcPts val="0"/>
              </a:spcBef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Modalités de recette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02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A402-802D-5004-9851-2B417D4C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CC9B5-6E70-F6E0-C270-DF631E4E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Qualité et performance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FC37E2-8B82-E3E6-C639-CDCBD4518BE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KPI à suivre pour vérifier le bon déroulé du projet.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1 au minimum dans chaque catégorie : 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Coûts :  </a:t>
            </a:r>
          </a:p>
          <a:p>
            <a:pPr marL="1054100" lvl="1" indent="0">
              <a:lnSpc>
                <a:spcPct val="150000"/>
              </a:lnSpc>
              <a:spcBef>
                <a:spcPts val="0"/>
              </a:spcBef>
              <a:buSzPts val="1400"/>
              <a:buNone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Respect du budget alloué pour le projet en TJM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Délais : </a:t>
            </a:r>
          </a:p>
          <a:p>
            <a:pPr marL="1054100" lvl="1" indent="0">
              <a:lnSpc>
                <a:spcPct val="150000"/>
              </a:lnSpc>
              <a:spcBef>
                <a:spcPts val="0"/>
              </a:spcBef>
              <a:buSzPts val="1400"/>
              <a:buNone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Respect du planning en jours ouvrés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Qualité : </a:t>
            </a:r>
          </a:p>
          <a:p>
            <a:pPr marL="1054100" lvl="1" indent="0">
              <a:lnSpc>
                <a:spcPct val="150000"/>
              </a:lnSpc>
              <a:spcBef>
                <a:spcPts val="0"/>
              </a:spcBef>
              <a:buSzPts val="1400"/>
              <a:buNone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Validation des livrables</a:t>
            </a:r>
          </a:p>
          <a:p>
            <a:pPr marL="914400" lvl="0" indent="-317500">
              <a:lnSpc>
                <a:spcPct val="150000"/>
              </a:lnSpc>
              <a:spcBef>
                <a:spcPts val="0"/>
              </a:spcBef>
              <a:buSzPts val="1400"/>
              <a:buFont typeface="Montserrat"/>
              <a:buAutoNum type="arabicPeriod"/>
            </a:pPr>
            <a:r>
              <a:rPr lang="fr-FR" sz="2400" dirty="0">
                <a:latin typeface="Montserrat"/>
                <a:ea typeface="Montserrat"/>
                <a:cs typeface="Montserrat"/>
                <a:sym typeface="Montserrat"/>
              </a:rPr>
              <a:t>Efficacité et avancement du projet : </a:t>
            </a:r>
          </a:p>
          <a:p>
            <a:pPr marL="1054100" lvl="1" indent="0">
              <a:lnSpc>
                <a:spcPct val="150000"/>
              </a:lnSpc>
              <a:spcBef>
                <a:spcPts val="0"/>
              </a:spcBef>
              <a:buSzPts val="1400"/>
              <a:buNone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Validation des jalons d’avancée du projet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87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CC2A4-058E-354B-8277-E550EBDF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Rétroplanning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E55FEAF-CE0C-DDA7-67D8-6C62BB286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90897"/>
              </p:ext>
            </p:extLst>
          </p:nvPr>
        </p:nvGraphicFramePr>
        <p:xfrm>
          <a:off x="215900" y="1832543"/>
          <a:ext cx="11760200" cy="465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0">
                  <a:extLst>
                    <a:ext uri="{9D8B030D-6E8A-4147-A177-3AD203B41FA5}">
                      <a16:colId xmlns:a16="http://schemas.microsoft.com/office/drawing/2014/main" val="37800458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64919308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96402523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521625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Libellé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Charge( (J/H)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Date début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Date Fin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50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Construction d’un </a:t>
                      </a:r>
                      <a:r>
                        <a:rPr lang="fr-FR" sz="1600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mindMapping</a:t>
                      </a: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‘’Compétences et livrables’’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04/11/2025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96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Mise à disposition d’un site regroupant les veilles pour le métier de Data </a:t>
                      </a:r>
                      <a:r>
                        <a:rPr lang="fr-FR" sz="1600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Analyst</a:t>
                      </a:r>
                      <a:endParaRPr lang="fr-FR" sz="16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05/11/2025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06/11/2025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20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Rapport d’analyse du besoin métier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07/11/2025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8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/>
                        <a:t>Elaboration d’un cahier des charges type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12/11/2025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457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Réalisation d’un Diagramme de Gantt sous 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13/11/2025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8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Mise à disposition d’une procédure éprouvée de mise en place de magnifique Graphique d’analyse data sous Power BI</a:t>
                      </a:r>
                    </a:p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14/11/2025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1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Préparation et Mise à disposition d’une vidéo pour formation sur Power BI</a:t>
                      </a:r>
                    </a:p>
                    <a:p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19/11/2025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200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Livraison d’un portfolio finalisé </a:t>
                      </a:r>
                      <a:endParaRPr lang="fr-FR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16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20/11/2025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21/11/2025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74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514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DCE4F-4DD0-01D4-0A88-8322070A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Devis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0B2B2-36AC-2F1F-960B-F904B9589CF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</a:p>
          <a:p>
            <a:pPr marL="914400" lvl="1" indent="-406400">
              <a:spcBef>
                <a:spcPts val="0"/>
              </a:spcBef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RH, achats matériels et immatériels ainsi que la marge commerciale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TJM(taux journalier moyen) de 950€ / jours pour 14 jours comprenant RH, et marge commerciale avec ajout de 2500 € pour les dépenses à la marge (licence, matériel)</a:t>
            </a:r>
          </a:p>
          <a:p>
            <a:pPr lvl="0"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Prix final</a:t>
            </a:r>
          </a:p>
          <a:p>
            <a:pPr marL="457200" lvl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15 800 € HT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98238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516</Words>
  <Application>Microsoft Office PowerPoint</Application>
  <PresentationFormat>Grand écran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Montserrat</vt:lpstr>
      <vt:lpstr>Thème Office</vt:lpstr>
      <vt:lpstr>Cahier des charges</vt:lpstr>
      <vt:lpstr>Sommaire</vt:lpstr>
      <vt:lpstr>Présentation du projet</vt:lpstr>
      <vt:lpstr>Enjeux et objectifs</vt:lpstr>
      <vt:lpstr>Equipe projet</vt:lpstr>
      <vt:lpstr>Spécifications ergonomiques</vt:lpstr>
      <vt:lpstr>Spécifications fonctionnelles</vt:lpstr>
      <vt:lpstr>Contraintes et spécificités techniques et règlementaires</vt:lpstr>
      <vt:lpstr>Qualité et performance</vt:lpstr>
      <vt:lpstr>Qualité et performance</vt:lpstr>
      <vt:lpstr>Rétroplanning</vt:lpstr>
      <vt:lpstr>Devis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3</cp:revision>
  <dcterms:created xsi:type="dcterms:W3CDTF">2025-11-02T13:50:43Z</dcterms:created>
  <dcterms:modified xsi:type="dcterms:W3CDTF">2025-11-10T16:28:32Z</dcterms:modified>
</cp:coreProperties>
</file>