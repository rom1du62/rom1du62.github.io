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5" r:id="rId12"/>
    <p:sldId id="266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7406B"/>
    <a:srgbClr val="162543"/>
    <a:srgbClr val="1F3861"/>
    <a:srgbClr val="1F3660"/>
    <a:srgbClr val="1528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e 13">
            <a:extLst>
              <a:ext uri="{FF2B5EF4-FFF2-40B4-BE49-F238E27FC236}">
                <a16:creationId xmlns:a16="http://schemas.microsoft.com/office/drawing/2014/main" id="{9BA932CE-A39D-DDF4-8BB7-0E6B0DDAC519}"/>
              </a:ext>
            </a:extLst>
          </p:cNvPr>
          <p:cNvGrpSpPr/>
          <p:nvPr userDrawn="1"/>
        </p:nvGrpSpPr>
        <p:grpSpPr>
          <a:xfrm>
            <a:off x="0" y="0"/>
            <a:ext cx="12192000" cy="6866626"/>
            <a:chOff x="0" y="0"/>
            <a:chExt cx="12192000" cy="686662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1DE165A-CB2E-BEA0-0183-B4A82F8C7470}"/>
                </a:ext>
              </a:extLst>
            </p:cNvPr>
            <p:cNvSpPr/>
            <p:nvPr userDrawn="1"/>
          </p:nvSpPr>
          <p:spPr>
            <a:xfrm>
              <a:off x="0" y="0"/>
              <a:ext cx="4297680" cy="4470400"/>
            </a:xfrm>
            <a:prstGeom prst="rect">
              <a:avLst/>
            </a:prstGeom>
            <a:solidFill>
              <a:srgbClr val="15284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95C5B63-0EC5-56CB-DBDF-62DD9CF6CC10}"/>
                </a:ext>
              </a:extLst>
            </p:cNvPr>
            <p:cNvSpPr/>
            <p:nvPr userDrawn="1"/>
          </p:nvSpPr>
          <p:spPr>
            <a:xfrm>
              <a:off x="0" y="4470396"/>
              <a:ext cx="4297680" cy="2396230"/>
            </a:xfrm>
            <a:prstGeom prst="rect">
              <a:avLst/>
            </a:prstGeom>
            <a:solidFill>
              <a:srgbClr val="1F386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46B196B-3712-C40E-8D2D-2438E34272B1}"/>
                </a:ext>
              </a:extLst>
            </p:cNvPr>
            <p:cNvSpPr/>
            <p:nvPr userDrawn="1"/>
          </p:nvSpPr>
          <p:spPr>
            <a:xfrm>
              <a:off x="4297680" y="0"/>
              <a:ext cx="7894320" cy="4470400"/>
            </a:xfrm>
            <a:prstGeom prst="rect">
              <a:avLst/>
            </a:prstGeom>
            <a:solidFill>
              <a:srgbClr val="1F36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CD15EC3-D604-CD79-D8DD-8A4B7366F8B8}"/>
                </a:ext>
              </a:extLst>
            </p:cNvPr>
            <p:cNvSpPr/>
            <p:nvPr userDrawn="1"/>
          </p:nvSpPr>
          <p:spPr>
            <a:xfrm>
              <a:off x="4297680" y="4470396"/>
              <a:ext cx="7894320" cy="2396229"/>
            </a:xfrm>
            <a:prstGeom prst="rect">
              <a:avLst/>
            </a:prstGeom>
            <a:solidFill>
              <a:srgbClr val="16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E1DD1F3A-A3F8-5363-5CAB-E9CFA173664C}"/>
                </a:ext>
              </a:extLst>
            </p:cNvPr>
            <p:cNvSpPr/>
            <p:nvPr userDrawn="1"/>
          </p:nvSpPr>
          <p:spPr>
            <a:xfrm>
              <a:off x="2333897" y="2699858"/>
              <a:ext cx="3927566" cy="3541077"/>
            </a:xfrm>
            <a:prstGeom prst="ellipse">
              <a:avLst/>
            </a:prstGeom>
            <a:solidFill>
              <a:srgbClr val="27406B">
                <a:alpha val="61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482DD2E1-E47F-42B8-83DA-F152AED1B9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14900" y="1737515"/>
            <a:ext cx="7267030" cy="2387600"/>
          </a:xfrm>
        </p:spPr>
        <p:txBody>
          <a:bodyPr anchor="b">
            <a:normAutofit/>
          </a:bodyPr>
          <a:lstStyle>
            <a:lvl1pPr algn="l">
              <a:defRPr sz="4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7BAA09A-2DF5-FDB3-6AFB-8F54DB1E16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14900" y="4856957"/>
            <a:ext cx="710565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  <a:latin typeface="Montserrat" panose="000005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dirty="0"/>
              <a:t>Modifiez le style des sous-titres du masque</a:t>
            </a:r>
          </a:p>
        </p:txBody>
      </p:sp>
      <p:pic>
        <p:nvPicPr>
          <p:cNvPr id="16" name="Graphique 15" descr="Décollage avec un remplissage uni">
            <a:extLst>
              <a:ext uri="{FF2B5EF4-FFF2-40B4-BE49-F238E27FC236}">
                <a16:creationId xmlns:a16="http://schemas.microsoft.com/office/drawing/2014/main" id="{258DC7A4-7607-E69F-067F-AE948CCB25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72800" y="27543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243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9C6B5A-A2B6-C07A-00DB-3F92E9CC4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17/11/2025</a:t>
            </a:fld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43E888-A0A1-D80C-22E3-AD4D81A9FA25}"/>
              </a:ext>
            </a:extLst>
          </p:cNvPr>
          <p:cNvSpPr/>
          <p:nvPr userDrawn="1"/>
        </p:nvSpPr>
        <p:spPr>
          <a:xfrm>
            <a:off x="0" y="0"/>
            <a:ext cx="4297680" cy="4470400"/>
          </a:xfrm>
          <a:prstGeom prst="rect">
            <a:avLst/>
          </a:prstGeom>
          <a:solidFill>
            <a:srgbClr val="1528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F43F05-8942-3898-38FA-C66E23F618CA}"/>
              </a:ext>
            </a:extLst>
          </p:cNvPr>
          <p:cNvSpPr/>
          <p:nvPr userDrawn="1"/>
        </p:nvSpPr>
        <p:spPr>
          <a:xfrm>
            <a:off x="0" y="4470396"/>
            <a:ext cx="4297680" cy="2387604"/>
          </a:xfrm>
          <a:prstGeom prst="rect">
            <a:avLst/>
          </a:prstGeom>
          <a:solidFill>
            <a:srgbClr val="1F38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64382BA9-FB1B-F82B-7E0C-01D89ACE81A0}"/>
              </a:ext>
            </a:extLst>
          </p:cNvPr>
          <p:cNvSpPr/>
          <p:nvPr userDrawn="1"/>
        </p:nvSpPr>
        <p:spPr>
          <a:xfrm>
            <a:off x="0" y="2028665"/>
            <a:ext cx="3927566" cy="3541077"/>
          </a:xfrm>
          <a:prstGeom prst="ellipse">
            <a:avLst/>
          </a:prstGeom>
          <a:solidFill>
            <a:srgbClr val="27406B">
              <a:alpha val="6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250A31-5211-524C-1888-3ED6F70A05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0700" y="1154509"/>
            <a:ext cx="6019800" cy="4767263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>
                <a:latin typeface="Montserrat" panose="00000500000000000000" pitchFamily="2" charset="0"/>
              </a:defRPr>
            </a:lvl1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0"/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E012BA4-1609-AF43-B50B-4FA2CFFE9C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5330" y="2875360"/>
            <a:ext cx="3192236" cy="1325563"/>
          </a:xfrm>
        </p:spPr>
        <p:txBody>
          <a:bodyPr>
            <a:noAutofit/>
          </a:bodyPr>
          <a:lstStyle>
            <a:lvl1pPr>
              <a:defRPr sz="40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fr-FR" dirty="0"/>
              <a:t>Sommaire</a:t>
            </a:r>
          </a:p>
        </p:txBody>
      </p:sp>
      <p:pic>
        <p:nvPicPr>
          <p:cNvPr id="10" name="Graphique 9" descr="Décollage avec un remplissage uni">
            <a:extLst>
              <a:ext uri="{FF2B5EF4-FFF2-40B4-BE49-F238E27FC236}">
                <a16:creationId xmlns:a16="http://schemas.microsoft.com/office/drawing/2014/main" id="{851448B9-066D-B6B4-3B77-10E8E6F42EC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38100" y="608171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1743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F602939-E49D-CE49-4C65-8A239C6E13C5}"/>
              </a:ext>
            </a:extLst>
          </p:cNvPr>
          <p:cNvSpPr/>
          <p:nvPr userDrawn="1"/>
        </p:nvSpPr>
        <p:spPr>
          <a:xfrm>
            <a:off x="0" y="0"/>
            <a:ext cx="4297680" cy="1500187"/>
          </a:xfrm>
          <a:prstGeom prst="rect">
            <a:avLst/>
          </a:prstGeom>
          <a:solidFill>
            <a:srgbClr val="1528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2E7A5E-0729-AAB3-7E49-7C6B05EA75DE}"/>
              </a:ext>
            </a:extLst>
          </p:cNvPr>
          <p:cNvSpPr/>
          <p:nvPr userDrawn="1"/>
        </p:nvSpPr>
        <p:spPr>
          <a:xfrm>
            <a:off x="4297680" y="0"/>
            <a:ext cx="7894320" cy="1500187"/>
          </a:xfrm>
          <a:prstGeom prst="rect">
            <a:avLst/>
          </a:prstGeom>
          <a:solidFill>
            <a:srgbClr val="1F36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D0D52FB-E1DC-B050-02BD-E61DD212B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"/>
            <a:ext cx="10515600" cy="1066800"/>
          </a:xfrm>
        </p:spPr>
        <p:txBody>
          <a:bodyPr anchor="b">
            <a:normAutofit/>
          </a:bodyPr>
          <a:lstStyle>
            <a:lvl1pPr>
              <a:defRPr sz="40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1C69C96-ADC3-270F-156B-76CC27394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9750" y="6470650"/>
            <a:ext cx="2743200" cy="365125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fld id="{F8E4583F-AF16-4895-94D4-DBDF9F8058A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26408592-99FA-F616-D5FA-82888D755C8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38200" y="1825625"/>
            <a:ext cx="10591800" cy="4351338"/>
          </a:xfrm>
        </p:spPr>
        <p:txBody>
          <a:bodyPr/>
          <a:lstStyle>
            <a:lvl1pPr>
              <a:defRPr>
                <a:latin typeface="Montserrat" panose="00000500000000000000" pitchFamily="2" charset="0"/>
              </a:defRPr>
            </a:lvl1pPr>
            <a:lvl2pPr>
              <a:defRPr>
                <a:latin typeface="Montserrat" panose="00000500000000000000" pitchFamily="2" charset="0"/>
              </a:defRPr>
            </a:lvl2pPr>
            <a:lvl3pPr>
              <a:defRPr>
                <a:latin typeface="Montserrat" panose="00000500000000000000" pitchFamily="2" charset="0"/>
              </a:defRPr>
            </a:lvl3pPr>
            <a:lvl4pPr>
              <a:defRPr>
                <a:latin typeface="Montserrat" panose="00000500000000000000" pitchFamily="2" charset="0"/>
              </a:defRPr>
            </a:lvl4pPr>
            <a:lvl5pPr>
              <a:defRPr>
                <a:latin typeface="Montserrat" panose="00000500000000000000" pitchFamily="2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pic>
        <p:nvPicPr>
          <p:cNvPr id="11" name="Graphique 10" descr="Décollage avec un remplissage uni">
            <a:extLst>
              <a:ext uri="{FF2B5EF4-FFF2-40B4-BE49-F238E27FC236}">
                <a16:creationId xmlns:a16="http://schemas.microsoft.com/office/drawing/2014/main" id="{2591B1EC-76A1-906C-5CCF-9E437E8DCE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72800" y="27543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5119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64CD0E-D353-7206-8CE4-E36BE5CDC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5EE50E5-31D0-CBF2-6F9D-A81661D005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AF3AE4E-3B59-A2D5-B063-4075EDDF4D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0A280F-6A91-DB47-1070-3A4F3AC8EE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17/11/2025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1AB69FC-91F6-DBD6-813F-9EAE9AD22D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BBB0C42-CC67-6E09-002E-3061F8E9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75237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1632E9-C373-5A0E-A785-7477EF290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595371C-E95D-DDDB-A9F8-C938125A84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5631873-5110-9C3F-9D54-EAA0BB1248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11C91B3-BB81-BA6D-A7FC-75A90DD8FD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171A8121-B6E6-EBF4-C4EC-C12A37A78F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37B7AC7C-225A-029F-FDAB-18703AC43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17/11/2025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1685899C-092D-9045-9C47-2573B1C59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57B653D-EE61-FCBF-63C0-E747705D5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7889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92795A-4D84-735A-DB79-F8D013F1C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6CB4B39-95E4-1910-1222-5521C36AA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17/11/2025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EE7864-D05B-7729-6A11-B6AFDB4CE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32748F7-F273-F21E-1E70-562A2339C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00883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3254E7D-C030-D09D-497D-750196BFA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17/11/2025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B2FDA20-52B9-91EC-E833-1AB65F15B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490BC01-CD95-DCBF-9BC0-A83C16C8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9282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1D57DBF-3D33-79DE-AF36-DEB5C8C755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3CD4414-4397-BCBE-2EA5-7319321F91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752378C-80B4-2F41-5281-FAD0BDE453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10ED2C9-0E2F-6332-07AF-58DEDB5B9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17/11/2025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A8D89BD-61FB-14F3-1164-5C0BD6F15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E59EDD3-8FD6-9B02-0396-41D5F92A2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612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9E958D-AFDE-7A88-CE77-2C3106159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00A29C8C-FD09-CD14-8815-3B4889D0C9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613DF9C-5244-2C0B-1E59-FF32B86FFC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5BA268F-BB47-EFCA-78AC-A1B351DCA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17/11/2025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46BA257-0C61-3A58-A99A-9727E2CA8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B7B55AA-CAF1-77D9-6E41-F8C21E020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5406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D802086-EBC7-455B-F74F-45C02B424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2C06E0B-D7A7-CB15-B550-284FD75A83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960F3E9-9747-98AA-6A66-1E3A1C4EF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17/11/2025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978AA7C-F5E1-2A25-B0CC-6EAA69354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181740B-50DB-F76F-EB4F-DE37F9F16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7506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8667CB7-79FC-08F3-F279-5292BCCBF2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A0F5FE6-B558-2A68-84A5-958A236DCF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3BA1ED8-79C2-A4CC-2491-34293D9AA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17/11/2025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FB12659-E985-0FDF-E21F-1B382E2D3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ADFFDA7-1378-153E-DFBF-A688A56BA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425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9236039-3350-4D62-B543-BBDA6714F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84A5758-B636-16C5-3CF8-03D8588D6B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1A70F48-F17B-5E08-AD76-8A1B9A5238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D1D8AE-CBBF-4F77-8784-792186276BAD}" type="datetimeFigureOut">
              <a:rPr lang="fr-FR" smtClean="0"/>
              <a:t>17/11/2025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CC024CB-FCF9-6A6A-715D-B3A2284A43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486D9FC-F158-C617-6CE4-FB88F8563B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02545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272C3A-A5B6-111F-03D0-668F939694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fr-FR" dirty="0"/>
              <a:t>Cahier des charges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3DB94B5-1412-F0D5-21C8-08A0105CF6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14900" y="4748802"/>
            <a:ext cx="7105650" cy="1655762"/>
          </a:xfrm>
        </p:spPr>
        <p:txBody>
          <a:bodyPr/>
          <a:lstStyle/>
          <a:p>
            <a:pPr algn="l"/>
            <a:r>
              <a:rPr lang="fr-FR" dirty="0"/>
              <a:t>Elaboration d’un portfolio</a:t>
            </a:r>
          </a:p>
        </p:txBody>
      </p:sp>
    </p:spTree>
    <p:extLst>
      <p:ext uri="{BB962C8B-B14F-4D97-AF65-F5344CB8AC3E}">
        <p14:creationId xmlns:p14="http://schemas.microsoft.com/office/powerpoint/2010/main" val="42007071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C37AA2-F2AE-413C-6B31-8A2AE78EC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4786B74-C0F1-1B71-B561-D32E89CB2C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228600" lvl="0" indent="-226059">
              <a:spcBef>
                <a:spcPts val="0"/>
              </a:spcBef>
              <a:buClr>
                <a:schemeClr val="dk1"/>
              </a:buClr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Présentation du projet</a:t>
            </a:r>
          </a:p>
          <a:p>
            <a:pPr marL="228600" lvl="0" indent="-226059">
              <a:spcBef>
                <a:spcPts val="1800"/>
              </a:spcBef>
              <a:buClr>
                <a:schemeClr val="dk1"/>
              </a:buClr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Enjeux et objectifs</a:t>
            </a:r>
          </a:p>
          <a:p>
            <a:pPr marL="228600" lvl="0" indent="-226059">
              <a:spcBef>
                <a:spcPts val="1800"/>
              </a:spcBef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Équipe projet</a:t>
            </a:r>
          </a:p>
          <a:p>
            <a:pPr marL="228600" lvl="0" indent="-226059">
              <a:spcBef>
                <a:spcPts val="1800"/>
              </a:spcBef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Spécifications ergonomiques</a:t>
            </a:r>
          </a:p>
          <a:p>
            <a:pPr marL="228600" lvl="0" indent="-226059">
              <a:spcBef>
                <a:spcPts val="1800"/>
              </a:spcBef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Spécifications fonctionnelles</a:t>
            </a:r>
          </a:p>
          <a:p>
            <a:pPr marL="228600" lvl="0" indent="-226059">
              <a:spcBef>
                <a:spcPts val="1800"/>
              </a:spcBef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Spécifications techniques</a:t>
            </a:r>
          </a:p>
          <a:p>
            <a:pPr marL="228600" lvl="0" indent="-226059">
              <a:spcBef>
                <a:spcPts val="1800"/>
              </a:spcBef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Contraintes techniques et réglementaires</a:t>
            </a:r>
          </a:p>
          <a:p>
            <a:pPr marL="228600" lvl="0" indent="-226059">
              <a:spcBef>
                <a:spcPts val="1800"/>
              </a:spcBef>
              <a:buClr>
                <a:schemeClr val="dk1"/>
              </a:buClr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Qualité et performance</a:t>
            </a:r>
          </a:p>
          <a:p>
            <a:pPr marL="228600" lvl="0" indent="-226059">
              <a:spcBef>
                <a:spcPts val="1800"/>
              </a:spcBef>
              <a:buClr>
                <a:schemeClr val="dk1"/>
              </a:buClr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Rétroplanning</a:t>
            </a:r>
          </a:p>
          <a:p>
            <a:pPr marL="228600" lvl="0" indent="-226059">
              <a:spcBef>
                <a:spcPts val="1800"/>
              </a:spcBef>
              <a:buClr>
                <a:schemeClr val="dk1"/>
              </a:buClr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Devis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381056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>
            <a:extLst>
              <a:ext uri="{FF2B5EF4-FFF2-40B4-BE49-F238E27FC236}">
                <a16:creationId xmlns:a16="http://schemas.microsoft.com/office/drawing/2014/main" id="{E6A9561B-C67C-3563-486D-0B16EA5F2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Présentation du projet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7384E334-1AC5-090A-0028-E5FA3B9AAB55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>
            <a:normAutofit/>
          </a:bodyPr>
          <a:lstStyle/>
          <a:p>
            <a:pPr lvl="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sz="2400" dirty="0">
                <a:latin typeface="Montserrat"/>
                <a:ea typeface="Calibri" panose="020F0502020204030204" pitchFamily="34" charset="0"/>
                <a:cs typeface="Calibri" panose="020F0502020204030204" pitchFamily="34" charset="0"/>
                <a:sym typeface="Montserrat"/>
              </a:rPr>
              <a:t>Présentation d’un portfolio pour répondre à une proposition de poste chez un client de l’aéronautique « </a:t>
            </a:r>
            <a:r>
              <a:rPr lang="fr-FR" sz="2400" dirty="0" err="1">
                <a:latin typeface="Montserrat"/>
                <a:ea typeface="Calibri" panose="020F0502020204030204" pitchFamily="34" charset="0"/>
                <a:cs typeface="Calibri" panose="020F0502020204030204" pitchFamily="34" charset="0"/>
                <a:sym typeface="Montserrat"/>
              </a:rPr>
              <a:t>Aeroworld</a:t>
            </a:r>
            <a:r>
              <a:rPr lang="fr-FR" sz="2400" dirty="0">
                <a:latin typeface="Montserrat"/>
                <a:ea typeface="Calibri" panose="020F0502020204030204" pitchFamily="34" charset="0"/>
                <a:cs typeface="Calibri" panose="020F0502020204030204" pitchFamily="34" charset="0"/>
                <a:sym typeface="Montserrat"/>
              </a:rPr>
              <a:t> ». </a:t>
            </a:r>
          </a:p>
          <a:p>
            <a:pPr lvl="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endParaRPr lang="fr-FR" sz="2400" dirty="0">
              <a:latin typeface="Montserrat"/>
              <a:ea typeface="Calibri" panose="020F0502020204030204" pitchFamily="34" charset="0"/>
              <a:cs typeface="Calibri" panose="020F0502020204030204" pitchFamily="34" charset="0"/>
              <a:sym typeface="Montserrat"/>
            </a:endParaRPr>
          </a:p>
          <a:p>
            <a:pPr lvl="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sz="2400" dirty="0">
                <a:latin typeface="Montserrat"/>
                <a:ea typeface="Calibri" panose="020F0502020204030204" pitchFamily="34" charset="0"/>
                <a:cs typeface="Calibri" panose="020F0502020204030204" pitchFamily="34" charset="0"/>
                <a:sym typeface="Montserrat"/>
              </a:rPr>
              <a:t>Le projet reprend l’ensemble des livrables attendu par le client avec les exigences et le planning, détaillés dans cette présentation.</a:t>
            </a:r>
          </a:p>
        </p:txBody>
      </p:sp>
    </p:spTree>
    <p:extLst>
      <p:ext uri="{BB962C8B-B14F-4D97-AF65-F5344CB8AC3E}">
        <p14:creationId xmlns:p14="http://schemas.microsoft.com/office/powerpoint/2010/main" val="3256610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75E717-0103-6138-A441-973E81D02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Enjeux et objectifs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43439DB-1345-D6FB-4961-17604ECD86DA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pPr lvl="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sz="2400" dirty="0">
                <a:latin typeface="Montserrat"/>
                <a:ea typeface="Montserrat"/>
                <a:cs typeface="Montserrat"/>
                <a:sym typeface="Montserrat"/>
              </a:rPr>
              <a:t>Besoins de l’entreprise/ du client :</a:t>
            </a:r>
          </a:p>
          <a:p>
            <a:pPr lvl="1">
              <a:spcBef>
                <a:spcPts val="0"/>
              </a:spcBef>
              <a:buSzPts val="2800"/>
              <a:buFont typeface="Montserrat"/>
              <a:buChar char="•"/>
            </a:pPr>
            <a:r>
              <a:rPr lang="fr-FR" sz="2000" dirty="0">
                <a:latin typeface="Montserrat"/>
                <a:ea typeface="Montserrat"/>
                <a:cs typeface="Montserrat"/>
                <a:sym typeface="Montserrat"/>
              </a:rPr>
              <a:t>Recrutement d’un data </a:t>
            </a:r>
            <a:r>
              <a:rPr lang="fr-FR" sz="2000" dirty="0" err="1">
                <a:latin typeface="Montserrat"/>
                <a:ea typeface="Montserrat"/>
                <a:cs typeface="Montserrat"/>
                <a:sym typeface="Montserrat"/>
              </a:rPr>
              <a:t>Analyst</a:t>
            </a:r>
            <a:r>
              <a:rPr lang="fr-FR" sz="2000" dirty="0">
                <a:latin typeface="Montserrat"/>
                <a:ea typeface="Montserrat"/>
                <a:cs typeface="Montserrat"/>
                <a:sym typeface="Montserrat"/>
              </a:rPr>
              <a:t> chef de projet expérimenté et polyvalent selon des besoins clairement exprimés avec des appétences pour le management et l’innovation en data </a:t>
            </a:r>
          </a:p>
          <a:p>
            <a:pPr lvl="1">
              <a:spcBef>
                <a:spcPts val="0"/>
              </a:spcBef>
              <a:buSzPts val="2800"/>
              <a:buFont typeface="Montserrat"/>
              <a:buChar char="•"/>
            </a:pPr>
            <a:endParaRPr lang="fr-FR" sz="2000" dirty="0">
              <a:latin typeface="Montserrat"/>
              <a:ea typeface="Montserrat"/>
              <a:cs typeface="Montserrat"/>
              <a:sym typeface="Montserrat"/>
            </a:endParaRPr>
          </a:p>
          <a:p>
            <a:pPr lvl="0"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sz="2400" dirty="0">
                <a:latin typeface="Montserrat"/>
                <a:ea typeface="Montserrat"/>
                <a:cs typeface="Montserrat"/>
                <a:sym typeface="Montserrat"/>
              </a:rPr>
              <a:t>Raisons du besoin</a:t>
            </a:r>
          </a:p>
          <a:p>
            <a:pPr lvl="1">
              <a:spcBef>
                <a:spcPts val="1000"/>
              </a:spcBef>
              <a:buSzPts val="2800"/>
              <a:buFont typeface="Montserrat"/>
              <a:buChar char="•"/>
            </a:pPr>
            <a:r>
              <a:rPr lang="fr-FR" sz="2000" dirty="0">
                <a:latin typeface="Montserrat"/>
                <a:ea typeface="Montserrat"/>
                <a:cs typeface="Montserrat"/>
                <a:sym typeface="Montserrat"/>
              </a:rPr>
              <a:t>Etendu du Système d’information nécessite des adaptations pour tirer pleinement partie de la valeur des données en toute sécurité</a:t>
            </a:r>
          </a:p>
          <a:p>
            <a:pPr lvl="1">
              <a:spcBef>
                <a:spcPts val="1000"/>
              </a:spcBef>
              <a:buSzPts val="2800"/>
              <a:buFont typeface="Montserrat"/>
              <a:buChar char="•"/>
            </a:pPr>
            <a:endParaRPr lang="fr-FR" sz="2000" dirty="0">
              <a:latin typeface="Montserrat"/>
              <a:ea typeface="Montserrat"/>
              <a:cs typeface="Montserrat"/>
              <a:sym typeface="Montserrat"/>
            </a:endParaRPr>
          </a:p>
          <a:p>
            <a:pPr lvl="0"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sz="2400" dirty="0">
                <a:latin typeface="Montserrat"/>
                <a:ea typeface="Montserrat"/>
                <a:cs typeface="Montserrat"/>
                <a:sym typeface="Montserrat"/>
              </a:rPr>
              <a:t>Objectifs SMART d’élaboration d’un portfolio</a:t>
            </a:r>
          </a:p>
          <a:p>
            <a:pPr lvl="1"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sz="2000" dirty="0">
                <a:latin typeface="Montserrat"/>
                <a:ea typeface="Montserrat"/>
                <a:cs typeface="Montserrat"/>
                <a:sym typeface="Montserrat"/>
              </a:rPr>
              <a:t>Spécifique, mesurable, atteignable, Réaliste et temporellement défini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253128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63B79D-14DF-AA53-0273-1DC941AD1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Equipe projet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36C3AF-9721-AEBE-131C-1AEABEEAAEEC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pPr lvl="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Composition de l’équipe projet </a:t>
            </a:r>
          </a:p>
          <a:p>
            <a:pPr marL="914400" lvl="1" indent="-406400">
              <a:spcBef>
                <a:spcPts val="100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Romain RAMAT (Data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Analyst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Chef de Projet)</a:t>
            </a:r>
          </a:p>
          <a:p>
            <a:pPr marL="508000" lvl="1" indent="0">
              <a:spcBef>
                <a:spcPts val="1000"/>
              </a:spcBef>
              <a:buClr>
                <a:schemeClr val="dk1"/>
              </a:buClr>
              <a:buSzPts val="2800"/>
              <a:buNone/>
            </a:pP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  <a:p>
            <a:pPr marL="914400" lvl="1" indent="-406400">
              <a:spcBef>
                <a:spcPts val="100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Aeroworld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(Client)</a:t>
            </a:r>
            <a:br>
              <a:rPr lang="fr-FR" dirty="0">
                <a:latin typeface="Montserrat"/>
                <a:ea typeface="Montserrat"/>
                <a:cs typeface="Montserrat"/>
                <a:sym typeface="Montserrat"/>
              </a:rPr>
            </a:b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065255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EB1E80-40AE-CC22-B939-CFFCD1A1A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Spécifications ergonomiques 1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FEBD5D6-AF11-FEE7-2965-CAF68EC87E85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>
            <a:normAutofit/>
          </a:bodyPr>
          <a:lstStyle/>
          <a:p>
            <a:pPr lvl="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Principes ergonomiques du portfolio :</a:t>
            </a:r>
          </a:p>
          <a:p>
            <a:pPr lvl="1">
              <a:spcBef>
                <a:spcPts val="0"/>
              </a:spcBef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Mode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Mindmapping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permettant de lister l’ensemble des besoins</a:t>
            </a:r>
          </a:p>
          <a:p>
            <a:pPr lvl="1">
              <a:spcBef>
                <a:spcPts val="0"/>
              </a:spcBef>
              <a:buSzPts val="2800"/>
              <a:buFont typeface="Montserrat"/>
              <a:buChar char="•"/>
            </a:pP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  <a:p>
            <a:pPr lvl="1">
              <a:spcBef>
                <a:spcPts val="0"/>
              </a:spcBef>
              <a:buSzPts val="2800"/>
              <a:buFont typeface="Montserrat"/>
              <a:buChar char="•"/>
            </a:pP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  <a:p>
            <a:pPr lvl="1">
              <a:spcBef>
                <a:spcPts val="0"/>
              </a:spcBef>
              <a:buSzPts val="2800"/>
              <a:buFont typeface="Montserrat"/>
              <a:buChar char="•"/>
            </a:pP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  <a:p>
            <a:pPr lvl="1">
              <a:spcBef>
                <a:spcPts val="0"/>
              </a:spcBef>
              <a:buSzPts val="2800"/>
              <a:buFont typeface="Montserrat"/>
              <a:buChar char="•"/>
            </a:pP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  <a:p>
            <a:pPr lvl="1">
              <a:spcBef>
                <a:spcPts val="0"/>
              </a:spcBef>
              <a:buSzPts val="2800"/>
              <a:buFont typeface="Montserrat"/>
              <a:buChar char="•"/>
            </a:pP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1" indent="0">
              <a:spcBef>
                <a:spcPts val="0"/>
              </a:spcBef>
              <a:buSzPts val="2800"/>
              <a:buNone/>
            </a:pPr>
            <a:br>
              <a:rPr lang="fr-FR" dirty="0">
                <a:latin typeface="Montserrat"/>
                <a:ea typeface="Montserrat"/>
                <a:cs typeface="Montserrat"/>
                <a:sym typeface="Montserrat"/>
              </a:rPr>
            </a:b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  <a:p>
            <a:pPr lvl="0" indent="-165100">
              <a:spcBef>
                <a:spcPts val="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Principes de navigation et UX design</a:t>
            </a:r>
          </a:p>
          <a:p>
            <a:pPr lvl="1" indent="-165100">
              <a:spcBef>
                <a:spcPts val="0"/>
              </a:spcBef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Lien cliquable, noms des projets explicites</a:t>
            </a:r>
          </a:p>
          <a:p>
            <a:pPr lvl="1" indent="-165100">
              <a:spcBef>
                <a:spcPts val="0"/>
              </a:spcBef>
              <a:buFont typeface="Montserrat"/>
              <a:buChar char="•"/>
            </a:pP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C32BEEB-7BCA-FD96-F643-651541D5E5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5096" y="2905026"/>
            <a:ext cx="4817807" cy="219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07502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D203ADF-F5D9-A854-6E9D-072621935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Spécifications fonctionnelles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B6038F2-25F4-A9BB-5B55-ACD68967C67D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pPr lvl="0"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Liste des fonctionnalités qui vont être mises en place </a:t>
            </a:r>
          </a:p>
          <a:p>
            <a:pPr lvl="1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Mise en place d’un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porfolio</a:t>
            </a: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  <a:p>
            <a:pPr lvl="1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Listing des projets réalisés avec les Hard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skills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et Soft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skills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développés répondant aux exigences d’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Aeroworld</a:t>
            </a: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  <a:p>
            <a:pPr lvl="1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Chaque projet est cliquable pour lister :</a:t>
            </a:r>
          </a:p>
          <a:p>
            <a:pPr lvl="2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Le détail du projet</a:t>
            </a:r>
          </a:p>
          <a:p>
            <a:pPr lvl="2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Obtenir des visuels</a:t>
            </a:r>
          </a:p>
          <a:p>
            <a:pPr lvl="2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Consulter les livrables</a:t>
            </a:r>
          </a:p>
          <a:p>
            <a:pPr lvl="1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Mise à disposition des liens veilles et de contact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581220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C288E2-0EA8-80F2-E135-4A3F67EF8C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5304"/>
            <a:ext cx="10515600" cy="1066800"/>
          </a:xfrm>
        </p:spPr>
        <p:txBody>
          <a:bodyPr>
            <a:normAutofit fontScale="90000"/>
          </a:bodyPr>
          <a:lstStyle/>
          <a:p>
            <a:r>
              <a:rPr lang="fr-FR" dirty="0"/>
              <a:t>Contraintes et spécificités techniques et règlementaires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CE91F0D-5D80-0A4E-2697-18CA88D824C1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pPr lvl="0"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Choix techniques pour le portfolio </a:t>
            </a:r>
          </a:p>
          <a:p>
            <a:pPr lvl="1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Hébergement des données sur GITHUB </a:t>
            </a:r>
            <a:r>
              <a:rPr lang="fr-FR" sz="2000" dirty="0">
                <a:latin typeface="Montserrat"/>
                <a:ea typeface="Montserrat"/>
                <a:cs typeface="Montserrat"/>
                <a:sym typeface="Montserrat"/>
              </a:rPr>
              <a:t>« </a:t>
            </a:r>
            <a:r>
              <a:rPr lang="fr-FR" sz="1800" dirty="0">
                <a:latin typeface="Montserrat"/>
                <a:ea typeface="Montserrat"/>
                <a:cs typeface="Montserrat"/>
                <a:sym typeface="Montserrat"/>
              </a:rPr>
              <a:t>https://rom1du62.github.io/ »</a:t>
            </a:r>
            <a:endParaRPr lang="fr-FR" sz="2000" dirty="0">
              <a:latin typeface="Montserrat"/>
              <a:ea typeface="Montserrat"/>
              <a:cs typeface="Montserrat"/>
              <a:sym typeface="Montserrat"/>
            </a:endParaRPr>
          </a:p>
          <a:p>
            <a:pPr lvl="1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Structure en accès public</a:t>
            </a:r>
          </a:p>
          <a:p>
            <a:pPr lvl="1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Mise en place d’une navigation en HTML5</a:t>
            </a:r>
          </a:p>
          <a:p>
            <a:pPr lvl="1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RGPD : Pas de collecte d’information personnelle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9CD50C6-5911-B559-5516-376E413820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4852" y="4336025"/>
            <a:ext cx="2107369" cy="1679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3364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D1A6AC1-3F5C-FDA9-E306-E37F56457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Qualité et performance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0E6986F-83F2-7C73-64B8-2ED7D0EE42E5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>
            <a:normAutofit/>
          </a:bodyPr>
          <a:lstStyle/>
          <a:p>
            <a:pPr marL="457200" lvl="0" indent="-334327">
              <a:lnSpc>
                <a:spcPct val="150000"/>
              </a:lnSpc>
              <a:spcBef>
                <a:spcPts val="0"/>
              </a:spcBef>
              <a:buSzPct val="64285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Contraintes à prendre en compte : </a:t>
            </a:r>
          </a:p>
          <a:p>
            <a:pPr marL="914400" lvl="1" indent="-334327">
              <a:lnSpc>
                <a:spcPct val="150000"/>
              </a:lnSpc>
              <a:spcBef>
                <a:spcPts val="0"/>
              </a:spcBef>
              <a:buSzPct val="750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temps :  Avant fin 2025</a:t>
            </a:r>
          </a:p>
          <a:p>
            <a:pPr marL="914400" lvl="1" indent="-334327">
              <a:lnSpc>
                <a:spcPct val="150000"/>
              </a:lnSpc>
              <a:spcBef>
                <a:spcPts val="0"/>
              </a:spcBef>
              <a:buSzPct val="750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budget :  Pas de contrainte à date</a:t>
            </a:r>
          </a:p>
          <a:p>
            <a:pPr marL="914400" lvl="1" indent="-334327">
              <a:lnSpc>
                <a:spcPct val="150000"/>
              </a:lnSpc>
              <a:spcBef>
                <a:spcPts val="0"/>
              </a:spcBef>
              <a:buSzPct val="750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règles fournies par le client : Mise à disposition des livrables clients dans un dossier spécifique</a:t>
            </a:r>
          </a:p>
          <a:p>
            <a:pPr marL="914400" lvl="1" indent="-334327">
              <a:lnSpc>
                <a:spcPct val="150000"/>
              </a:lnSpc>
              <a:spcBef>
                <a:spcPts val="0"/>
              </a:spcBef>
              <a:buSzPct val="750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chartes  : Pas de charge imposée</a:t>
            </a:r>
          </a:p>
          <a:p>
            <a:pPr marL="914400" lvl="1" indent="-334327">
              <a:lnSpc>
                <a:spcPct val="150000"/>
              </a:lnSpc>
              <a:spcBef>
                <a:spcPts val="0"/>
              </a:spcBef>
              <a:buSzPct val="750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demandes particulières : </a:t>
            </a:r>
          </a:p>
          <a:p>
            <a:pPr marL="0" indent="0">
              <a:buNone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50217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0A402-802D-5004-9851-2B417D4C8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4CC9B5-6E70-F6E0-C270-DF631E4EA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Qualité et performance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DFC37E2-8B82-E3E6-C639-CDCBD4518BE2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186813" y="1825625"/>
            <a:ext cx="11838039" cy="4351338"/>
          </a:xfrm>
        </p:spPr>
        <p:txBody>
          <a:bodyPr>
            <a:normAutofit fontScale="70000" lnSpcReduction="20000"/>
          </a:bodyPr>
          <a:lstStyle/>
          <a:p>
            <a:pPr marL="0" lv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KPI à suivre pour vérifier le bon déroulé du projet. 1 au minimum dans chaque catégorie : </a:t>
            </a:r>
          </a:p>
          <a:p>
            <a:pPr marL="914400" lvl="0" indent="-317500">
              <a:lnSpc>
                <a:spcPct val="150000"/>
              </a:lnSpc>
              <a:spcBef>
                <a:spcPts val="0"/>
              </a:spcBef>
              <a:buSzPts val="1400"/>
              <a:buFont typeface="Montserrat"/>
              <a:buAutoNum type="arabicPeriod"/>
            </a:pPr>
            <a:r>
              <a:rPr lang="fr-FR" sz="2400" dirty="0">
                <a:latin typeface="Montserrat"/>
                <a:ea typeface="Montserrat"/>
                <a:cs typeface="Montserrat"/>
                <a:sym typeface="Montserrat"/>
              </a:rPr>
              <a:t>Coûts :  </a:t>
            </a:r>
          </a:p>
          <a:p>
            <a:pPr marL="1054100" lvl="1" indent="0">
              <a:lnSpc>
                <a:spcPct val="150000"/>
              </a:lnSpc>
              <a:spcBef>
                <a:spcPts val="0"/>
              </a:spcBef>
              <a:buSzPts val="1400"/>
              <a:buNone/>
            </a:pPr>
            <a:r>
              <a:rPr lang="fr-FR" sz="2000" b="1" dirty="0">
                <a:latin typeface="Montserrat"/>
                <a:ea typeface="Montserrat"/>
                <a:cs typeface="Montserrat"/>
                <a:sym typeface="Montserrat"/>
              </a:rPr>
              <a:t>Ecart Budgétaire (%) </a:t>
            </a:r>
            <a:r>
              <a:rPr lang="fr-FR" sz="2000" dirty="0">
                <a:latin typeface="Montserrat"/>
                <a:ea typeface="Montserrat"/>
                <a:cs typeface="Montserrat"/>
                <a:sym typeface="Montserrat"/>
              </a:rPr>
              <a:t>: (Budget Réel – Budget Prévu) / Budget Prévu x 100 </a:t>
            </a:r>
            <a:r>
              <a:rPr lang="fr-FR" sz="2000" dirty="0">
                <a:latin typeface="Montserrat"/>
                <a:ea typeface="Montserrat"/>
                <a:cs typeface="Montserrat"/>
                <a:sym typeface="Wingdings" panose="05000000000000000000" pitchFamily="2" charset="2"/>
              </a:rPr>
              <a:t> Suivre les dépassements</a:t>
            </a:r>
            <a:endParaRPr lang="fr-FR" sz="2000" dirty="0">
              <a:latin typeface="Montserrat"/>
              <a:ea typeface="Montserrat"/>
              <a:cs typeface="Montserrat"/>
              <a:sym typeface="Montserrat"/>
            </a:endParaRPr>
          </a:p>
          <a:p>
            <a:pPr marL="914400" lvl="0" indent="-317500">
              <a:lnSpc>
                <a:spcPct val="150000"/>
              </a:lnSpc>
              <a:spcBef>
                <a:spcPts val="0"/>
              </a:spcBef>
              <a:buSzPts val="1400"/>
              <a:buFont typeface="Montserrat"/>
              <a:buAutoNum type="arabicPeriod"/>
            </a:pPr>
            <a:r>
              <a:rPr lang="fr-FR" sz="2400" dirty="0">
                <a:latin typeface="Montserrat"/>
                <a:ea typeface="Montserrat"/>
                <a:cs typeface="Montserrat"/>
                <a:sym typeface="Montserrat"/>
              </a:rPr>
              <a:t>Délais : </a:t>
            </a:r>
          </a:p>
          <a:p>
            <a:pPr marL="1054100" lvl="1" indent="0">
              <a:lnSpc>
                <a:spcPct val="150000"/>
              </a:lnSpc>
              <a:spcBef>
                <a:spcPts val="0"/>
              </a:spcBef>
              <a:buSzPts val="1400"/>
              <a:buNone/>
            </a:pPr>
            <a:r>
              <a:rPr lang="fr-FR" sz="2000" b="1" dirty="0">
                <a:latin typeface="Montserrat"/>
                <a:ea typeface="Montserrat"/>
                <a:cs typeface="Montserrat"/>
                <a:sym typeface="Montserrat"/>
              </a:rPr>
              <a:t>Respect du planning(%Tâches livrés à temps) : </a:t>
            </a:r>
            <a:r>
              <a:rPr lang="fr-FR" sz="2000" dirty="0">
                <a:latin typeface="Montserrat"/>
                <a:ea typeface="Montserrat"/>
                <a:cs typeface="Montserrat"/>
                <a:sym typeface="Wingdings" panose="05000000000000000000" pitchFamily="2" charset="2"/>
              </a:rPr>
              <a:t>Nombre de livrable / nombre total </a:t>
            </a:r>
            <a:endParaRPr lang="fr-FR" sz="2000" dirty="0">
              <a:latin typeface="Montserrat"/>
              <a:ea typeface="Montserrat"/>
              <a:cs typeface="Montserrat"/>
              <a:sym typeface="Montserrat"/>
            </a:endParaRPr>
          </a:p>
          <a:p>
            <a:pPr marL="1054100" lvl="1" indent="0">
              <a:lnSpc>
                <a:spcPct val="150000"/>
              </a:lnSpc>
              <a:spcBef>
                <a:spcPts val="0"/>
              </a:spcBef>
              <a:buSzPts val="1400"/>
              <a:buNone/>
            </a:pPr>
            <a:r>
              <a:rPr lang="fr-FR" sz="2000" dirty="0">
                <a:latin typeface="Montserrat"/>
                <a:ea typeface="Montserrat"/>
                <a:cs typeface="Montserrat"/>
                <a:sym typeface="Montserrat"/>
              </a:rPr>
              <a:t>Dérive moyenne (en jours) Moyenne des écarts entre date prévues et dates réelles</a:t>
            </a:r>
          </a:p>
          <a:p>
            <a:pPr marL="914400" lvl="0" indent="-317500">
              <a:lnSpc>
                <a:spcPct val="150000"/>
              </a:lnSpc>
              <a:spcBef>
                <a:spcPts val="0"/>
              </a:spcBef>
              <a:buSzPts val="1400"/>
              <a:buFont typeface="Montserrat"/>
              <a:buAutoNum type="arabicPeriod"/>
            </a:pPr>
            <a:r>
              <a:rPr lang="fr-FR" sz="2400" dirty="0">
                <a:latin typeface="Montserrat"/>
                <a:ea typeface="Montserrat"/>
                <a:cs typeface="Montserrat"/>
                <a:sym typeface="Montserrat"/>
              </a:rPr>
              <a:t>Qualité : </a:t>
            </a:r>
          </a:p>
          <a:p>
            <a:pPr marL="1054100" lvl="1" indent="0">
              <a:lnSpc>
                <a:spcPct val="150000"/>
              </a:lnSpc>
              <a:spcBef>
                <a:spcPts val="0"/>
              </a:spcBef>
              <a:buSzPts val="1400"/>
              <a:buNone/>
            </a:pPr>
            <a:r>
              <a:rPr lang="fr-FR" sz="2000" b="1" dirty="0">
                <a:latin typeface="Montserrat"/>
                <a:ea typeface="Montserrat"/>
                <a:cs typeface="Montserrat"/>
                <a:sym typeface="Montserrat"/>
              </a:rPr>
              <a:t>Taux de Validation des livrables au premier passage </a:t>
            </a:r>
            <a:r>
              <a:rPr lang="fr-FR" sz="2000" dirty="0">
                <a:latin typeface="Montserrat"/>
                <a:ea typeface="Montserrat"/>
                <a:cs typeface="Montserrat"/>
                <a:sym typeface="Montserrat"/>
              </a:rPr>
              <a:t>: (Livrable accepté sans retour / Livrable présentés)</a:t>
            </a:r>
            <a:r>
              <a:rPr lang="fr-FR" sz="2000" dirty="0">
                <a:latin typeface="Montserrat"/>
                <a:ea typeface="Montserrat"/>
                <a:cs typeface="Montserrat"/>
                <a:sym typeface="Wingdings" panose="05000000000000000000" pitchFamily="2" charset="2"/>
              </a:rPr>
              <a:t>  Confirmer la qualité des livrables</a:t>
            </a:r>
            <a:endParaRPr lang="fr-FR" sz="2000" dirty="0">
              <a:latin typeface="Montserrat"/>
              <a:ea typeface="Montserrat"/>
              <a:cs typeface="Montserrat"/>
              <a:sym typeface="Montserrat"/>
            </a:endParaRPr>
          </a:p>
          <a:p>
            <a:pPr marL="914400" lvl="0" indent="-317500">
              <a:lnSpc>
                <a:spcPct val="150000"/>
              </a:lnSpc>
              <a:spcBef>
                <a:spcPts val="0"/>
              </a:spcBef>
              <a:buSzPts val="1400"/>
              <a:buFont typeface="Montserrat"/>
              <a:buAutoNum type="arabicPeriod"/>
            </a:pPr>
            <a:r>
              <a:rPr lang="fr-FR" sz="2400" dirty="0">
                <a:latin typeface="Montserrat"/>
                <a:ea typeface="Montserrat"/>
                <a:cs typeface="Montserrat"/>
                <a:sym typeface="Montserrat"/>
              </a:rPr>
              <a:t>Efficacité et avancement du projet : </a:t>
            </a:r>
          </a:p>
          <a:p>
            <a:pPr marL="1054100" lvl="1" indent="0">
              <a:lnSpc>
                <a:spcPct val="150000"/>
              </a:lnSpc>
              <a:spcBef>
                <a:spcPts val="0"/>
              </a:spcBef>
              <a:buSzPts val="1400"/>
              <a:buNone/>
            </a:pPr>
            <a:r>
              <a:rPr lang="fr-FR" sz="2000" b="1" dirty="0">
                <a:latin typeface="Montserrat"/>
                <a:ea typeface="Montserrat"/>
                <a:cs typeface="Montserrat"/>
                <a:sym typeface="Montserrat"/>
              </a:rPr>
              <a:t>Validation des jalons d’avancée du projet </a:t>
            </a:r>
            <a:r>
              <a:rPr lang="fr-FR" sz="2000" dirty="0">
                <a:latin typeface="Montserrat"/>
                <a:ea typeface="Montserrat"/>
                <a:cs typeface="Montserrat"/>
                <a:sym typeface="Montserrat"/>
              </a:rPr>
              <a:t>: Jalons validés / jalon prévu à date </a:t>
            </a:r>
            <a:r>
              <a:rPr lang="fr-FR" sz="2000" dirty="0">
                <a:latin typeface="Montserrat"/>
                <a:ea typeface="Montserrat"/>
                <a:cs typeface="Montserrat"/>
                <a:sym typeface="Wingdings" panose="05000000000000000000" pitchFamily="2" charset="2"/>
              </a:rPr>
              <a:t> Suivre l’efficacité d’avancement</a:t>
            </a:r>
            <a:endParaRPr lang="fr-FR" sz="2000" dirty="0">
              <a:latin typeface="Montserrat"/>
              <a:ea typeface="Montserrat"/>
              <a:cs typeface="Montserrat"/>
              <a:sym typeface="Montserrat"/>
            </a:endParaRP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28772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8CC2A4-058E-354B-8277-E550EBDF6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Rétroplanning</a:t>
            </a:r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2E55FEAF-CE0C-DDA7-67D8-6C62BB286A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0788766"/>
              </p:ext>
            </p:extLst>
          </p:nvPr>
        </p:nvGraphicFramePr>
        <p:xfrm>
          <a:off x="215900" y="1832543"/>
          <a:ext cx="117602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62800">
                  <a:extLst>
                    <a:ext uri="{9D8B030D-6E8A-4147-A177-3AD203B41FA5}">
                      <a16:colId xmlns:a16="http://schemas.microsoft.com/office/drawing/2014/main" val="378004580"/>
                    </a:ext>
                  </a:extLst>
                </a:gridCol>
                <a:gridCol w="1409700">
                  <a:extLst>
                    <a:ext uri="{9D8B030D-6E8A-4147-A177-3AD203B41FA5}">
                      <a16:colId xmlns:a16="http://schemas.microsoft.com/office/drawing/2014/main" val="649193089"/>
                    </a:ext>
                  </a:extLst>
                </a:gridCol>
                <a:gridCol w="1473200">
                  <a:extLst>
                    <a:ext uri="{9D8B030D-6E8A-4147-A177-3AD203B41FA5}">
                      <a16:colId xmlns:a16="http://schemas.microsoft.com/office/drawing/2014/main" val="1964025239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5216252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sz="1600" dirty="0"/>
                        <a:t>Libellé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Charge( (J/H)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Date Fin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0505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Montserrat"/>
                        </a:rPr>
                        <a:t>Construction d’un </a:t>
                      </a:r>
                      <a:r>
                        <a:rPr lang="fr-FR" sz="16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Montserrat"/>
                        </a:rPr>
                        <a:t>mindMapping</a:t>
                      </a:r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Montserrat"/>
                        </a:rPr>
                        <a:t> ‘’Compétences et livrables’’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03/11/2025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04/11/2025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19617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Montserrat"/>
                        </a:rPr>
                        <a:t>Mise à disposition d’un site regroupant les veilles pour le métier de Data </a:t>
                      </a:r>
                      <a:r>
                        <a:rPr lang="fr-FR" sz="16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Montserrat"/>
                        </a:rPr>
                        <a:t>Analyst</a:t>
                      </a:r>
                      <a:endParaRPr lang="fr-FR" sz="16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Montserra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05/11/2025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06/11/2025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2208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Rapport d’analyse du besoin métier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07/11/2025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07/11/2025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5872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Elaboration d’un cahier des charges type Portfolio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10/11/2025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12/11/2025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34577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Montserrat"/>
                        </a:rPr>
                        <a:t>Réalisation d’un Diagramme de Gantt sous Power BI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13/11/2025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4832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Montserrat"/>
                        </a:rPr>
                        <a:t>Mise à disposition d’une procédure éprouvée de mise en place de magnifique Graphique d’analyse data sous Power BI</a:t>
                      </a:r>
                    </a:p>
                    <a:p>
                      <a:endParaRPr lang="fr-FR" sz="16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14/11/2025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14/11/2025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7519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Montserrat"/>
                        </a:rPr>
                        <a:t>Préparation et Mise à disposition d’une vidéo pour formation sur Power BI</a:t>
                      </a:r>
                    </a:p>
                    <a:p>
                      <a:endParaRPr lang="fr-FR" sz="16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19/11/2025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9200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Montserrat"/>
                        </a:rPr>
                        <a:t>Livraison d’un portfolio finalisé </a:t>
                      </a:r>
                      <a:endParaRPr lang="fr-FR" sz="16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fr-FR" sz="16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Montserra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20/11/2025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21/11/2025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07464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6514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D2DCE4F-4DD0-01D4-0A88-8322070A3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Devis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9B0B2B2-36AC-2F1F-960B-F904B9589CFE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pPr lvl="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sz="2000" dirty="0">
                <a:latin typeface="Montserrat"/>
                <a:ea typeface="Montserrat"/>
                <a:cs typeface="Montserrat"/>
                <a:sym typeface="Montserrat"/>
              </a:rPr>
              <a:t>Liste synthétique et coût des différentes catégories du devis </a:t>
            </a:r>
          </a:p>
          <a:p>
            <a:pPr lvl="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endParaRPr lang="fr-FR" sz="1600" dirty="0">
              <a:latin typeface="Montserrat"/>
              <a:ea typeface="Montserrat"/>
              <a:cs typeface="Montserrat"/>
              <a:sym typeface="Montserrat"/>
            </a:endParaRPr>
          </a:p>
          <a:p>
            <a:pPr marL="914400" lvl="1" indent="-40640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endParaRPr lang="fr-FR" sz="1400" dirty="0">
              <a:latin typeface="Montserrat"/>
              <a:sym typeface="Montserrat"/>
            </a:endParaRPr>
          </a:p>
          <a:p>
            <a:pPr marL="457200" indent="-40640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sz="2000" dirty="0">
                <a:latin typeface="Montserrat"/>
                <a:sym typeface="Montserrat"/>
              </a:rPr>
              <a:t>Application d’un TJM(taux journalier moyen) de 950€ / jours pour 14 jours comprenant :</a:t>
            </a:r>
          </a:p>
          <a:p>
            <a:pPr marL="50800" indent="0">
              <a:spcBef>
                <a:spcPts val="0"/>
              </a:spcBef>
              <a:buClr>
                <a:schemeClr val="dk1"/>
              </a:buClr>
              <a:buSzPts val="2800"/>
              <a:buNone/>
            </a:pPr>
            <a:endParaRPr lang="fr-FR" sz="2000" dirty="0">
              <a:latin typeface="Montserrat"/>
              <a:sym typeface="Montserrat"/>
            </a:endParaRPr>
          </a:p>
          <a:p>
            <a:pPr marL="914400" lvl="1" indent="-40640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sz="1400" dirty="0">
                <a:latin typeface="Montserrat"/>
                <a:ea typeface="Montserrat"/>
                <a:cs typeface="Montserrat"/>
                <a:sym typeface="Montserrat"/>
              </a:rPr>
              <a:t>RH, achats matériels et immatériels ainsi que la marge commerciale : </a:t>
            </a:r>
          </a:p>
          <a:p>
            <a:pPr marL="914400" lvl="1" indent="-40640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endParaRPr lang="fr-FR" sz="1400" dirty="0">
              <a:latin typeface="Montserrat"/>
              <a:ea typeface="Montserrat"/>
              <a:cs typeface="Montserrat"/>
              <a:sym typeface="Montserrat"/>
            </a:endParaRPr>
          </a:p>
          <a:p>
            <a:pPr marL="914400" lvl="1" indent="-40640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sz="1400" dirty="0">
                <a:latin typeface="Montserrat"/>
                <a:ea typeface="Montserrat"/>
                <a:cs typeface="Montserrat"/>
                <a:sym typeface="Montserrat"/>
              </a:rPr>
              <a:t>A noter que la marge commerciale correspond à 2500 € pour les dépenses à la marge (licence, matériel) nécessaires à la réalisation du projet</a:t>
            </a:r>
          </a:p>
          <a:p>
            <a:pPr lvl="0">
              <a:buClr>
                <a:schemeClr val="dk1"/>
              </a:buClr>
              <a:buSzPts val="2800"/>
              <a:buFont typeface="Montserrat"/>
              <a:buChar char="•"/>
            </a:pPr>
            <a:endParaRPr lang="fr-FR" sz="1600" dirty="0">
              <a:latin typeface="Montserrat"/>
              <a:ea typeface="Montserrat"/>
              <a:cs typeface="Montserrat"/>
              <a:sym typeface="Montserrat"/>
            </a:endParaRPr>
          </a:p>
          <a:p>
            <a:pPr lvl="0"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sz="1600" dirty="0">
                <a:latin typeface="Montserrat"/>
                <a:ea typeface="Montserrat"/>
                <a:cs typeface="Montserrat"/>
                <a:sym typeface="Montserrat"/>
              </a:rPr>
              <a:t>Prix final :  15 800 € HT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6982383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531</TotalTime>
  <Words>657</Words>
  <Application>Microsoft Office PowerPoint</Application>
  <PresentationFormat>Grand écran</PresentationFormat>
  <Paragraphs>123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Montserrat</vt:lpstr>
      <vt:lpstr>Thème Office</vt:lpstr>
      <vt:lpstr>Cahier des charges</vt:lpstr>
      <vt:lpstr>Sommaire</vt:lpstr>
      <vt:lpstr>Présentation du projet</vt:lpstr>
      <vt:lpstr>Enjeux et objectifs</vt:lpstr>
      <vt:lpstr>Equipe projet</vt:lpstr>
      <vt:lpstr>Spécifications ergonomiques 1</vt:lpstr>
      <vt:lpstr>Spécifications fonctionnelles</vt:lpstr>
      <vt:lpstr>Contraintes et spécificités techniques et règlementaires</vt:lpstr>
      <vt:lpstr>Qualité et performance</vt:lpstr>
      <vt:lpstr>Qualité et performance</vt:lpstr>
      <vt:lpstr>Rétroplanning</vt:lpstr>
      <vt:lpstr>Devis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Romain RAMAT</dc:creator>
  <cp:lastModifiedBy>Romain RAMAT</cp:lastModifiedBy>
  <cp:revision>8</cp:revision>
  <dcterms:created xsi:type="dcterms:W3CDTF">2025-11-02T13:50:43Z</dcterms:created>
  <dcterms:modified xsi:type="dcterms:W3CDTF">2025-11-17T11:18:48Z</dcterms:modified>
</cp:coreProperties>
</file>