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notesMasterIdLst>
    <p:notesMasterId r:id="rId17"/>
  </p:notesMasterIdLst>
  <p:sldIdLst>
    <p:sldId id="256" r:id="rId2"/>
    <p:sldId id="257" r:id="rId3"/>
    <p:sldId id="277" r:id="rId4"/>
    <p:sldId id="272" r:id="rId5"/>
    <p:sldId id="258" r:id="rId6"/>
    <p:sldId id="267" r:id="rId7"/>
    <p:sldId id="274" r:id="rId8"/>
    <p:sldId id="276" r:id="rId9"/>
    <p:sldId id="275" r:id="rId10"/>
    <p:sldId id="259" r:id="rId11"/>
    <p:sldId id="263" r:id="rId12"/>
    <p:sldId id="260" r:id="rId13"/>
    <p:sldId id="264" r:id="rId14"/>
    <p:sldId id="265" r:id="rId15"/>
    <p:sldId id="266" r:id="rId1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ACE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7" d="100"/>
          <a:sy n="97" d="100"/>
        </p:scale>
        <p:origin x="1110" y="3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9640B0F-AD0A-4957-BBAC-7298D5BCFE1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4E0F538-49B6-46B2-B7A5-F15B4B7D06A8}">
      <dgm:prSet/>
      <dgm:spPr/>
      <dgm:t>
        <a:bodyPr/>
        <a:lstStyle/>
        <a:p>
          <a:r>
            <a:rPr lang="fr-FR"/>
            <a:t>Information sur les données :</a:t>
          </a:r>
          <a:endParaRPr lang="en-US"/>
        </a:p>
      </dgm:t>
    </dgm:pt>
    <dgm:pt modelId="{88462729-7EF7-4B25-85F5-A602F421F947}" type="parTrans" cxnId="{1D73077D-CEEE-4F23-B994-9EB1BE356C72}">
      <dgm:prSet/>
      <dgm:spPr/>
      <dgm:t>
        <a:bodyPr/>
        <a:lstStyle/>
        <a:p>
          <a:endParaRPr lang="en-US"/>
        </a:p>
      </dgm:t>
    </dgm:pt>
    <dgm:pt modelId="{40E6815A-BD96-4E9F-86E1-F0438950644C}" type="sibTrans" cxnId="{1D73077D-CEEE-4F23-B994-9EB1BE356C72}">
      <dgm:prSet/>
      <dgm:spPr/>
      <dgm:t>
        <a:bodyPr/>
        <a:lstStyle/>
        <a:p>
          <a:endParaRPr lang="en-US"/>
        </a:p>
      </dgm:t>
    </dgm:pt>
    <dgm:pt modelId="{C5E3BA29-73F1-400D-86A1-299B7AEBB2AD}">
      <dgm:prSet/>
      <dgm:spPr/>
      <dgm:t>
        <a:bodyPr/>
        <a:lstStyle/>
        <a:p>
          <a:r>
            <a:rPr lang="fr-FR" dirty="0"/>
            <a:t>Contexte et Présentation des manipulations sur le jeu de données</a:t>
          </a:r>
          <a:endParaRPr lang="en-US" dirty="0"/>
        </a:p>
      </dgm:t>
    </dgm:pt>
    <dgm:pt modelId="{FF9E780A-8EE1-442B-8357-38F854D7CB95}" type="parTrans" cxnId="{74C16C28-3F9F-4837-9EE9-37AA3C5B587D}">
      <dgm:prSet/>
      <dgm:spPr/>
      <dgm:t>
        <a:bodyPr/>
        <a:lstStyle/>
        <a:p>
          <a:endParaRPr lang="en-US"/>
        </a:p>
      </dgm:t>
    </dgm:pt>
    <dgm:pt modelId="{57A8BD56-6AF7-478D-A6C5-60062005BAC9}" type="sibTrans" cxnId="{74C16C28-3F9F-4837-9EE9-37AA3C5B587D}">
      <dgm:prSet/>
      <dgm:spPr/>
      <dgm:t>
        <a:bodyPr/>
        <a:lstStyle/>
        <a:p>
          <a:endParaRPr lang="en-US"/>
        </a:p>
      </dgm:t>
    </dgm:pt>
    <dgm:pt modelId="{6A8ABA22-5223-4B7F-A1FA-24F2D49631C0}">
      <dgm:prSet/>
      <dgm:spPr/>
      <dgm:t>
        <a:bodyPr/>
        <a:lstStyle/>
        <a:p>
          <a:r>
            <a:rPr lang="fr-FR"/>
            <a:t>Indicateurs de ventes :</a:t>
          </a:r>
          <a:endParaRPr lang="en-US"/>
        </a:p>
      </dgm:t>
    </dgm:pt>
    <dgm:pt modelId="{3F89F837-5EED-44F4-8259-5D0285523EC6}" type="parTrans" cxnId="{7257B09A-3FE5-4C61-9097-C88FA509E7FC}">
      <dgm:prSet/>
      <dgm:spPr/>
      <dgm:t>
        <a:bodyPr/>
        <a:lstStyle/>
        <a:p>
          <a:endParaRPr lang="en-US"/>
        </a:p>
      </dgm:t>
    </dgm:pt>
    <dgm:pt modelId="{07DA4516-E707-47A9-A48B-7C5780C545BB}" type="sibTrans" cxnId="{7257B09A-3FE5-4C61-9097-C88FA509E7FC}">
      <dgm:prSet/>
      <dgm:spPr/>
      <dgm:t>
        <a:bodyPr/>
        <a:lstStyle/>
        <a:p>
          <a:endParaRPr lang="en-US"/>
        </a:p>
      </dgm:t>
    </dgm:pt>
    <dgm:pt modelId="{382B82AB-AC91-4C59-B4D2-2ADD2F8B6955}">
      <dgm:prSet/>
      <dgm:spPr/>
      <dgm:t>
        <a:bodyPr/>
        <a:lstStyle/>
        <a:p>
          <a:r>
            <a:rPr lang="fr-FR" dirty="0"/>
            <a:t>Chiffre d’affaires avec la moyenne mobile</a:t>
          </a:r>
          <a:endParaRPr lang="en-US" dirty="0"/>
        </a:p>
      </dgm:t>
    </dgm:pt>
    <dgm:pt modelId="{4C0BC1A1-06FC-47B8-962B-A3618F5877A3}" type="parTrans" cxnId="{820F2BCC-C291-4D28-AA27-BCB2A0B12CBD}">
      <dgm:prSet/>
      <dgm:spPr/>
      <dgm:t>
        <a:bodyPr/>
        <a:lstStyle/>
        <a:p>
          <a:endParaRPr lang="en-US"/>
        </a:p>
      </dgm:t>
    </dgm:pt>
    <dgm:pt modelId="{977EF80A-2C6B-412E-8D22-2E0E48E2272C}" type="sibTrans" cxnId="{820F2BCC-C291-4D28-AA27-BCB2A0B12CBD}">
      <dgm:prSet/>
      <dgm:spPr/>
      <dgm:t>
        <a:bodyPr/>
        <a:lstStyle/>
        <a:p>
          <a:endParaRPr lang="en-US"/>
        </a:p>
      </dgm:t>
    </dgm:pt>
    <dgm:pt modelId="{77AE1AC2-080A-41A8-BDD0-4B45CBF7CCCA}">
      <dgm:prSet/>
      <dgm:spPr/>
      <dgm:t>
        <a:bodyPr/>
        <a:lstStyle/>
        <a:p>
          <a:r>
            <a:rPr lang="fr-FR"/>
            <a:t>Chiffre d’affaires par catégorie, </a:t>
          </a:r>
          <a:endParaRPr lang="en-US"/>
        </a:p>
      </dgm:t>
    </dgm:pt>
    <dgm:pt modelId="{B0E73543-578B-4B15-B0D8-27761F7DB137}" type="parTrans" cxnId="{13F7CB86-756D-4255-975A-E948E6045B77}">
      <dgm:prSet/>
      <dgm:spPr/>
      <dgm:t>
        <a:bodyPr/>
        <a:lstStyle/>
        <a:p>
          <a:endParaRPr lang="en-US"/>
        </a:p>
      </dgm:t>
    </dgm:pt>
    <dgm:pt modelId="{8B620739-FAD5-4CDB-A3CC-066BC2829C11}" type="sibTrans" cxnId="{13F7CB86-756D-4255-975A-E948E6045B77}">
      <dgm:prSet/>
      <dgm:spPr/>
      <dgm:t>
        <a:bodyPr/>
        <a:lstStyle/>
        <a:p>
          <a:endParaRPr lang="en-US"/>
        </a:p>
      </dgm:t>
    </dgm:pt>
    <dgm:pt modelId="{BBE7FD04-2B4D-446A-A7DC-5756AD16DA54}">
      <dgm:prSet/>
      <dgm:spPr/>
      <dgm:t>
        <a:bodyPr/>
        <a:lstStyle/>
        <a:p>
          <a:r>
            <a:rPr lang="fr-FR"/>
            <a:t>Nombre de clients par mois, </a:t>
          </a:r>
          <a:endParaRPr lang="en-US"/>
        </a:p>
      </dgm:t>
    </dgm:pt>
    <dgm:pt modelId="{C64398CB-81D2-4AAA-89A0-6EE73DF0DB5F}" type="parTrans" cxnId="{CD5AA2A1-CE33-403A-9714-2344416185E2}">
      <dgm:prSet/>
      <dgm:spPr/>
      <dgm:t>
        <a:bodyPr/>
        <a:lstStyle/>
        <a:p>
          <a:endParaRPr lang="en-US"/>
        </a:p>
      </dgm:t>
    </dgm:pt>
    <dgm:pt modelId="{C3E6CB10-9F45-4A25-A132-7D9705D95AF0}" type="sibTrans" cxnId="{CD5AA2A1-CE33-403A-9714-2344416185E2}">
      <dgm:prSet/>
      <dgm:spPr/>
      <dgm:t>
        <a:bodyPr/>
        <a:lstStyle/>
        <a:p>
          <a:endParaRPr lang="en-US"/>
        </a:p>
      </dgm:t>
    </dgm:pt>
    <dgm:pt modelId="{A9FB4A4E-AD6F-48AA-A177-4DF74745186B}">
      <dgm:prSet/>
      <dgm:spPr/>
      <dgm:t>
        <a:bodyPr/>
        <a:lstStyle/>
        <a:p>
          <a:r>
            <a:rPr lang="fr-FR"/>
            <a:t>Nombre de transactions, </a:t>
          </a:r>
          <a:endParaRPr lang="en-US"/>
        </a:p>
      </dgm:t>
    </dgm:pt>
    <dgm:pt modelId="{DD746225-E61B-4530-B91A-AD7F9776C8B4}" type="parTrans" cxnId="{C44BAF45-A27E-4BA1-99EE-AF72F0EF83A7}">
      <dgm:prSet/>
      <dgm:spPr/>
      <dgm:t>
        <a:bodyPr/>
        <a:lstStyle/>
        <a:p>
          <a:endParaRPr lang="en-US"/>
        </a:p>
      </dgm:t>
    </dgm:pt>
    <dgm:pt modelId="{20B2AD53-BD99-4917-98DD-FB81AD3E1E8D}" type="sibTrans" cxnId="{C44BAF45-A27E-4BA1-99EE-AF72F0EF83A7}">
      <dgm:prSet/>
      <dgm:spPr/>
      <dgm:t>
        <a:bodyPr/>
        <a:lstStyle/>
        <a:p>
          <a:endParaRPr lang="en-US"/>
        </a:p>
      </dgm:t>
    </dgm:pt>
    <dgm:pt modelId="{FF7695EB-370B-454F-9887-548CA072FA82}">
      <dgm:prSet/>
      <dgm:spPr/>
      <dgm:t>
        <a:bodyPr/>
        <a:lstStyle/>
        <a:p>
          <a:r>
            <a:rPr lang="fr-FR"/>
            <a:t>Nombre de produits vendus</a:t>
          </a:r>
          <a:endParaRPr lang="en-US"/>
        </a:p>
      </dgm:t>
    </dgm:pt>
    <dgm:pt modelId="{613425E0-216A-4C42-8E08-4C528A4C0850}" type="parTrans" cxnId="{153018E5-2A94-4CDA-B7C5-CC36C70E7231}">
      <dgm:prSet/>
      <dgm:spPr/>
      <dgm:t>
        <a:bodyPr/>
        <a:lstStyle/>
        <a:p>
          <a:endParaRPr lang="en-US"/>
        </a:p>
      </dgm:t>
    </dgm:pt>
    <dgm:pt modelId="{C1683869-DF26-4C0B-9490-3E7DC8C2550B}" type="sibTrans" cxnId="{153018E5-2A94-4CDA-B7C5-CC36C70E7231}">
      <dgm:prSet/>
      <dgm:spPr/>
      <dgm:t>
        <a:bodyPr/>
        <a:lstStyle/>
        <a:p>
          <a:endParaRPr lang="en-US"/>
        </a:p>
      </dgm:t>
    </dgm:pt>
    <dgm:pt modelId="{12EFEEF0-84FB-4AB2-9C7C-119A758915F4}">
      <dgm:prSet/>
      <dgm:spPr/>
      <dgm:t>
        <a:bodyPr/>
        <a:lstStyle/>
        <a:p>
          <a:r>
            <a:rPr lang="fr-FR"/>
            <a:t>Top, Flop, Répartition par catégorie</a:t>
          </a:r>
          <a:endParaRPr lang="en-US"/>
        </a:p>
      </dgm:t>
    </dgm:pt>
    <dgm:pt modelId="{846F049A-DA89-4CA6-8D37-41408845D8AC}" type="parTrans" cxnId="{DDB36A7C-D217-43D1-81DA-129E4A06EA2D}">
      <dgm:prSet/>
      <dgm:spPr/>
      <dgm:t>
        <a:bodyPr/>
        <a:lstStyle/>
        <a:p>
          <a:endParaRPr lang="en-US"/>
        </a:p>
      </dgm:t>
    </dgm:pt>
    <dgm:pt modelId="{F5A40839-A6D5-490E-954B-37A2F6F4437D}" type="sibTrans" cxnId="{DDB36A7C-D217-43D1-81DA-129E4A06EA2D}">
      <dgm:prSet/>
      <dgm:spPr/>
      <dgm:t>
        <a:bodyPr/>
        <a:lstStyle/>
        <a:p>
          <a:endParaRPr lang="en-US"/>
        </a:p>
      </dgm:t>
    </dgm:pt>
    <dgm:pt modelId="{FD6030D3-97C3-45F0-AD67-60FDF3FE6FC2}">
      <dgm:prSet/>
      <dgm:spPr/>
      <dgm:t>
        <a:bodyPr/>
        <a:lstStyle/>
        <a:p>
          <a:r>
            <a:rPr lang="fr-FR" dirty="0"/>
            <a:t>Analyses Statistique des comportements clientèle en ligne</a:t>
          </a:r>
          <a:endParaRPr lang="en-US" dirty="0"/>
        </a:p>
      </dgm:t>
    </dgm:pt>
    <dgm:pt modelId="{CBACBD01-9E06-4637-8B67-326F83EEA851}" type="parTrans" cxnId="{9A28C509-CD8A-4334-AEC8-4AD1644133B1}">
      <dgm:prSet/>
      <dgm:spPr/>
      <dgm:t>
        <a:bodyPr/>
        <a:lstStyle/>
        <a:p>
          <a:endParaRPr lang="en-US"/>
        </a:p>
      </dgm:t>
    </dgm:pt>
    <dgm:pt modelId="{D0CBDD63-87E2-44F6-998F-6E2C3F59F25B}" type="sibTrans" cxnId="{9A28C509-CD8A-4334-AEC8-4AD1644133B1}">
      <dgm:prSet/>
      <dgm:spPr/>
      <dgm:t>
        <a:bodyPr/>
        <a:lstStyle/>
        <a:p>
          <a:endParaRPr lang="en-US"/>
        </a:p>
      </dgm:t>
    </dgm:pt>
    <dgm:pt modelId="{E6531610-1312-4C45-BF26-E28FE2BBEB7D}">
      <dgm:prSet/>
      <dgm:spPr/>
      <dgm:t>
        <a:bodyPr/>
        <a:lstStyle/>
        <a:p>
          <a:r>
            <a:rPr lang="fr-FR"/>
            <a:t>Lien entre genre d'un client et les catégories des livres achetés</a:t>
          </a:r>
          <a:endParaRPr lang="en-US"/>
        </a:p>
      </dgm:t>
    </dgm:pt>
    <dgm:pt modelId="{AB142D28-1533-46F1-8C4B-CE10373034BB}" type="parTrans" cxnId="{48D52AF2-3930-432E-A4C4-D134BA51AD51}">
      <dgm:prSet/>
      <dgm:spPr/>
      <dgm:t>
        <a:bodyPr/>
        <a:lstStyle/>
        <a:p>
          <a:endParaRPr lang="en-US"/>
        </a:p>
      </dgm:t>
    </dgm:pt>
    <dgm:pt modelId="{68837772-2FBA-49B7-A2C1-7A0D84ABD45B}" type="sibTrans" cxnId="{48D52AF2-3930-432E-A4C4-D134BA51AD51}">
      <dgm:prSet/>
      <dgm:spPr/>
      <dgm:t>
        <a:bodyPr/>
        <a:lstStyle/>
        <a:p>
          <a:endParaRPr lang="en-US"/>
        </a:p>
      </dgm:t>
    </dgm:pt>
    <dgm:pt modelId="{76035391-17B7-4F36-8D53-25C9495E1CB9}">
      <dgm:prSet/>
      <dgm:spPr/>
      <dgm:t>
        <a:bodyPr/>
        <a:lstStyle/>
        <a:p>
          <a:r>
            <a:rPr lang="fr-FR"/>
            <a:t>Lien entre âge du client et le montant de ses achats</a:t>
          </a:r>
          <a:endParaRPr lang="en-US"/>
        </a:p>
      </dgm:t>
    </dgm:pt>
    <dgm:pt modelId="{21C756C3-88E9-4572-A599-CE7D3DB69DB1}" type="parTrans" cxnId="{F021856F-AF7C-410F-A7E2-502AB23E846E}">
      <dgm:prSet/>
      <dgm:spPr/>
      <dgm:t>
        <a:bodyPr/>
        <a:lstStyle/>
        <a:p>
          <a:endParaRPr lang="en-US"/>
        </a:p>
      </dgm:t>
    </dgm:pt>
    <dgm:pt modelId="{78E1A112-DB0D-4145-92B0-DD20C61A7582}" type="sibTrans" cxnId="{F021856F-AF7C-410F-A7E2-502AB23E846E}">
      <dgm:prSet/>
      <dgm:spPr/>
      <dgm:t>
        <a:bodyPr/>
        <a:lstStyle/>
        <a:p>
          <a:endParaRPr lang="en-US"/>
        </a:p>
      </dgm:t>
    </dgm:pt>
    <dgm:pt modelId="{2E8BDE4D-4CBF-4210-8475-823430D4B31C}">
      <dgm:prSet/>
      <dgm:spPr/>
      <dgm:t>
        <a:bodyPr/>
        <a:lstStyle/>
        <a:p>
          <a:r>
            <a:rPr lang="fr-FR"/>
            <a:t>Lien entre âge du client et ses fréquences d'achats</a:t>
          </a:r>
          <a:endParaRPr lang="en-US"/>
        </a:p>
      </dgm:t>
    </dgm:pt>
    <dgm:pt modelId="{8C27FD6B-F8C8-4AB5-87FD-D68D5179807D}" type="parTrans" cxnId="{62C74E7A-3E48-4EE2-B140-1A95B8D9D136}">
      <dgm:prSet/>
      <dgm:spPr/>
      <dgm:t>
        <a:bodyPr/>
        <a:lstStyle/>
        <a:p>
          <a:endParaRPr lang="en-US"/>
        </a:p>
      </dgm:t>
    </dgm:pt>
    <dgm:pt modelId="{5543A980-CC47-449B-89BD-DA428D17BBFB}" type="sibTrans" cxnId="{62C74E7A-3E48-4EE2-B140-1A95B8D9D136}">
      <dgm:prSet/>
      <dgm:spPr/>
      <dgm:t>
        <a:bodyPr/>
        <a:lstStyle/>
        <a:p>
          <a:endParaRPr lang="en-US"/>
        </a:p>
      </dgm:t>
    </dgm:pt>
    <dgm:pt modelId="{69DD291E-ECFF-4E7E-8A91-64231C338AF4}">
      <dgm:prSet/>
      <dgm:spPr/>
      <dgm:t>
        <a:bodyPr/>
        <a:lstStyle/>
        <a:p>
          <a:r>
            <a:rPr lang="fr-FR"/>
            <a:t>Lien entre âge du client et la taille du panier moyen</a:t>
          </a:r>
          <a:endParaRPr lang="en-US"/>
        </a:p>
      </dgm:t>
    </dgm:pt>
    <dgm:pt modelId="{6BF1BEE7-9E55-4BDF-A7A6-4F4C1165FDB5}" type="parTrans" cxnId="{37922F12-9678-41E9-AA96-28FED49BDF33}">
      <dgm:prSet/>
      <dgm:spPr/>
      <dgm:t>
        <a:bodyPr/>
        <a:lstStyle/>
        <a:p>
          <a:endParaRPr lang="en-US"/>
        </a:p>
      </dgm:t>
    </dgm:pt>
    <dgm:pt modelId="{5D2B0236-FB18-495D-9842-0E0FB43BFDA9}" type="sibTrans" cxnId="{37922F12-9678-41E9-AA96-28FED49BDF33}">
      <dgm:prSet/>
      <dgm:spPr/>
      <dgm:t>
        <a:bodyPr/>
        <a:lstStyle/>
        <a:p>
          <a:endParaRPr lang="en-US"/>
        </a:p>
      </dgm:t>
    </dgm:pt>
    <dgm:pt modelId="{DD5B6C51-17F9-422C-B4BD-1695F7FFBE30}">
      <dgm:prSet/>
      <dgm:spPr/>
      <dgm:t>
        <a:bodyPr/>
        <a:lstStyle/>
        <a:p>
          <a:r>
            <a:rPr lang="fr-FR"/>
            <a:t>Lien entre âge du client et les catégories des livres achetés</a:t>
          </a:r>
          <a:endParaRPr lang="en-US"/>
        </a:p>
      </dgm:t>
    </dgm:pt>
    <dgm:pt modelId="{CE31B283-108C-4192-8525-A326F46C5894}" type="parTrans" cxnId="{BCDC2E8A-403E-447F-9924-345E01BA030E}">
      <dgm:prSet/>
      <dgm:spPr/>
      <dgm:t>
        <a:bodyPr/>
        <a:lstStyle/>
        <a:p>
          <a:endParaRPr lang="en-US"/>
        </a:p>
      </dgm:t>
    </dgm:pt>
    <dgm:pt modelId="{D74490C0-90C1-48F3-8A78-71A4A554E321}" type="sibTrans" cxnId="{BCDC2E8A-403E-447F-9924-345E01BA030E}">
      <dgm:prSet/>
      <dgm:spPr/>
      <dgm:t>
        <a:bodyPr/>
        <a:lstStyle/>
        <a:p>
          <a:endParaRPr lang="en-US"/>
        </a:p>
      </dgm:t>
    </dgm:pt>
    <dgm:pt modelId="{ABC88874-59BE-4284-B719-45E95C570DA0}" type="pres">
      <dgm:prSet presAssocID="{99640B0F-AD0A-4957-BBAC-7298D5BCFE18}" presName="linear" presStyleCnt="0">
        <dgm:presLayoutVars>
          <dgm:animLvl val="lvl"/>
          <dgm:resizeHandles val="exact"/>
        </dgm:presLayoutVars>
      </dgm:prSet>
      <dgm:spPr/>
    </dgm:pt>
    <dgm:pt modelId="{2FA2EAEE-C8DC-489A-A6CD-E0BEA92A940D}" type="pres">
      <dgm:prSet presAssocID="{B4E0F538-49B6-46B2-B7A5-F15B4B7D06A8}" presName="parentText" presStyleLbl="node1" presStyleIdx="0" presStyleCnt="3">
        <dgm:presLayoutVars>
          <dgm:chMax val="0"/>
          <dgm:bulletEnabled val="1"/>
        </dgm:presLayoutVars>
      </dgm:prSet>
      <dgm:spPr/>
    </dgm:pt>
    <dgm:pt modelId="{84DBE7C1-C283-4A14-94BC-4C39718E85BB}" type="pres">
      <dgm:prSet presAssocID="{B4E0F538-49B6-46B2-B7A5-F15B4B7D06A8}" presName="childText" presStyleLbl="revTx" presStyleIdx="0" presStyleCnt="3">
        <dgm:presLayoutVars>
          <dgm:bulletEnabled val="1"/>
        </dgm:presLayoutVars>
      </dgm:prSet>
      <dgm:spPr/>
    </dgm:pt>
    <dgm:pt modelId="{02C28F0B-097E-4E49-8EFA-3370DAB30B42}" type="pres">
      <dgm:prSet presAssocID="{6A8ABA22-5223-4B7F-A1FA-24F2D49631C0}" presName="parentText" presStyleLbl="node1" presStyleIdx="1" presStyleCnt="3">
        <dgm:presLayoutVars>
          <dgm:chMax val="0"/>
          <dgm:bulletEnabled val="1"/>
        </dgm:presLayoutVars>
      </dgm:prSet>
      <dgm:spPr/>
    </dgm:pt>
    <dgm:pt modelId="{237AE290-8897-4710-B012-7C295237D311}" type="pres">
      <dgm:prSet presAssocID="{6A8ABA22-5223-4B7F-A1FA-24F2D49631C0}" presName="childText" presStyleLbl="revTx" presStyleIdx="1" presStyleCnt="3">
        <dgm:presLayoutVars>
          <dgm:bulletEnabled val="1"/>
        </dgm:presLayoutVars>
      </dgm:prSet>
      <dgm:spPr/>
    </dgm:pt>
    <dgm:pt modelId="{242AB3D2-86D9-4ADB-B552-2A478154B6E3}" type="pres">
      <dgm:prSet presAssocID="{FD6030D3-97C3-45F0-AD67-60FDF3FE6FC2}" presName="parentText" presStyleLbl="node1" presStyleIdx="2" presStyleCnt="3">
        <dgm:presLayoutVars>
          <dgm:chMax val="0"/>
          <dgm:bulletEnabled val="1"/>
        </dgm:presLayoutVars>
      </dgm:prSet>
      <dgm:spPr/>
    </dgm:pt>
    <dgm:pt modelId="{577E6B22-1D87-4C84-9F48-B26855F6186A}" type="pres">
      <dgm:prSet presAssocID="{FD6030D3-97C3-45F0-AD67-60FDF3FE6FC2}" presName="childText" presStyleLbl="revTx" presStyleIdx="2" presStyleCnt="3">
        <dgm:presLayoutVars>
          <dgm:bulletEnabled val="1"/>
        </dgm:presLayoutVars>
      </dgm:prSet>
      <dgm:spPr/>
    </dgm:pt>
  </dgm:ptLst>
  <dgm:cxnLst>
    <dgm:cxn modelId="{9A28C509-CD8A-4334-AEC8-4AD1644133B1}" srcId="{99640B0F-AD0A-4957-BBAC-7298D5BCFE18}" destId="{FD6030D3-97C3-45F0-AD67-60FDF3FE6FC2}" srcOrd="2" destOrd="0" parTransId="{CBACBD01-9E06-4637-8B67-326F83EEA851}" sibTransId="{D0CBDD63-87E2-44F6-998F-6E2C3F59F25B}"/>
    <dgm:cxn modelId="{37922F12-9678-41E9-AA96-28FED49BDF33}" srcId="{FD6030D3-97C3-45F0-AD67-60FDF3FE6FC2}" destId="{69DD291E-ECFF-4E7E-8A91-64231C338AF4}" srcOrd="3" destOrd="0" parTransId="{6BF1BEE7-9E55-4BDF-A7A6-4F4C1165FDB5}" sibTransId="{5D2B0236-FB18-495D-9842-0E0FB43BFDA9}"/>
    <dgm:cxn modelId="{2261E520-B781-4A04-BB5E-27BE6DC312C9}" type="presOf" srcId="{E6531610-1312-4C45-BF26-E28FE2BBEB7D}" destId="{577E6B22-1D87-4C84-9F48-B26855F6186A}" srcOrd="0" destOrd="0" presId="urn:microsoft.com/office/officeart/2005/8/layout/vList2"/>
    <dgm:cxn modelId="{74C16C28-3F9F-4837-9EE9-37AA3C5B587D}" srcId="{B4E0F538-49B6-46B2-B7A5-F15B4B7D06A8}" destId="{C5E3BA29-73F1-400D-86A1-299B7AEBB2AD}" srcOrd="0" destOrd="0" parTransId="{FF9E780A-8EE1-442B-8357-38F854D7CB95}" sibTransId="{57A8BD56-6AF7-478D-A6C5-60062005BAC9}"/>
    <dgm:cxn modelId="{796E602A-091F-4A29-8FA5-25622309E1FC}" type="presOf" srcId="{77AE1AC2-080A-41A8-BDD0-4B45CBF7CCCA}" destId="{237AE290-8897-4710-B012-7C295237D311}" srcOrd="0" destOrd="1" presId="urn:microsoft.com/office/officeart/2005/8/layout/vList2"/>
    <dgm:cxn modelId="{1AA70240-C78B-4A1E-87E2-64660D94206B}" type="presOf" srcId="{2E8BDE4D-4CBF-4210-8475-823430D4B31C}" destId="{577E6B22-1D87-4C84-9F48-B26855F6186A}" srcOrd="0" destOrd="2" presId="urn:microsoft.com/office/officeart/2005/8/layout/vList2"/>
    <dgm:cxn modelId="{6F4D7440-1823-48A3-90A6-84B2ED482200}" type="presOf" srcId="{A9FB4A4E-AD6F-48AA-A177-4DF74745186B}" destId="{237AE290-8897-4710-B012-7C295237D311}" srcOrd="0" destOrd="3" presId="urn:microsoft.com/office/officeart/2005/8/layout/vList2"/>
    <dgm:cxn modelId="{37A5905E-69ED-4C85-9921-09FE0C018179}" type="presOf" srcId="{BBE7FD04-2B4D-446A-A7DC-5756AD16DA54}" destId="{237AE290-8897-4710-B012-7C295237D311}" srcOrd="0" destOrd="2" presId="urn:microsoft.com/office/officeart/2005/8/layout/vList2"/>
    <dgm:cxn modelId="{C44BAF45-A27E-4BA1-99EE-AF72F0EF83A7}" srcId="{6A8ABA22-5223-4B7F-A1FA-24F2D49631C0}" destId="{A9FB4A4E-AD6F-48AA-A177-4DF74745186B}" srcOrd="3" destOrd="0" parTransId="{DD746225-E61B-4530-B91A-AD7F9776C8B4}" sibTransId="{20B2AD53-BD99-4917-98DD-FB81AD3E1E8D}"/>
    <dgm:cxn modelId="{F021856F-AF7C-410F-A7E2-502AB23E846E}" srcId="{FD6030D3-97C3-45F0-AD67-60FDF3FE6FC2}" destId="{76035391-17B7-4F36-8D53-25C9495E1CB9}" srcOrd="1" destOrd="0" parTransId="{21C756C3-88E9-4572-A599-CE7D3DB69DB1}" sibTransId="{78E1A112-DB0D-4145-92B0-DD20C61A7582}"/>
    <dgm:cxn modelId="{62C74E7A-3E48-4EE2-B140-1A95B8D9D136}" srcId="{FD6030D3-97C3-45F0-AD67-60FDF3FE6FC2}" destId="{2E8BDE4D-4CBF-4210-8475-823430D4B31C}" srcOrd="2" destOrd="0" parTransId="{8C27FD6B-F8C8-4AB5-87FD-D68D5179807D}" sibTransId="{5543A980-CC47-449B-89BD-DA428D17BBFB}"/>
    <dgm:cxn modelId="{DDB36A7C-D217-43D1-81DA-129E4A06EA2D}" srcId="{FF7695EB-370B-454F-9887-548CA072FA82}" destId="{12EFEEF0-84FB-4AB2-9C7C-119A758915F4}" srcOrd="0" destOrd="0" parTransId="{846F049A-DA89-4CA6-8D37-41408845D8AC}" sibTransId="{F5A40839-A6D5-490E-954B-37A2F6F4437D}"/>
    <dgm:cxn modelId="{1D73077D-CEEE-4F23-B994-9EB1BE356C72}" srcId="{99640B0F-AD0A-4957-BBAC-7298D5BCFE18}" destId="{B4E0F538-49B6-46B2-B7A5-F15B4B7D06A8}" srcOrd="0" destOrd="0" parTransId="{88462729-7EF7-4B25-85F5-A602F421F947}" sibTransId="{40E6815A-BD96-4E9F-86E1-F0438950644C}"/>
    <dgm:cxn modelId="{C929A17F-3CF7-42EF-B348-54118B009B87}" type="presOf" srcId="{B4E0F538-49B6-46B2-B7A5-F15B4B7D06A8}" destId="{2FA2EAEE-C8DC-489A-A6CD-E0BEA92A940D}" srcOrd="0" destOrd="0" presId="urn:microsoft.com/office/officeart/2005/8/layout/vList2"/>
    <dgm:cxn modelId="{E9AB4780-3F9C-447F-83E6-9AA2ABBA6E3B}" type="presOf" srcId="{FF7695EB-370B-454F-9887-548CA072FA82}" destId="{237AE290-8897-4710-B012-7C295237D311}" srcOrd="0" destOrd="4" presId="urn:microsoft.com/office/officeart/2005/8/layout/vList2"/>
    <dgm:cxn modelId="{37106483-714C-4FE9-B322-BD6AF68741D5}" type="presOf" srcId="{99640B0F-AD0A-4957-BBAC-7298D5BCFE18}" destId="{ABC88874-59BE-4284-B719-45E95C570DA0}" srcOrd="0" destOrd="0" presId="urn:microsoft.com/office/officeart/2005/8/layout/vList2"/>
    <dgm:cxn modelId="{13F7CB86-756D-4255-975A-E948E6045B77}" srcId="{6A8ABA22-5223-4B7F-A1FA-24F2D49631C0}" destId="{77AE1AC2-080A-41A8-BDD0-4B45CBF7CCCA}" srcOrd="1" destOrd="0" parTransId="{B0E73543-578B-4B15-B0D8-27761F7DB137}" sibTransId="{8B620739-FAD5-4CDB-A3CC-066BC2829C11}"/>
    <dgm:cxn modelId="{B617B988-4CAC-4ECE-8897-6CE71C27AA83}" type="presOf" srcId="{76035391-17B7-4F36-8D53-25C9495E1CB9}" destId="{577E6B22-1D87-4C84-9F48-B26855F6186A}" srcOrd="0" destOrd="1" presId="urn:microsoft.com/office/officeart/2005/8/layout/vList2"/>
    <dgm:cxn modelId="{BCDC2E8A-403E-447F-9924-345E01BA030E}" srcId="{FD6030D3-97C3-45F0-AD67-60FDF3FE6FC2}" destId="{DD5B6C51-17F9-422C-B4BD-1695F7FFBE30}" srcOrd="4" destOrd="0" parTransId="{CE31B283-108C-4192-8525-A326F46C5894}" sibTransId="{D74490C0-90C1-48F3-8A78-71A4A554E321}"/>
    <dgm:cxn modelId="{78D8458A-B3F2-48F2-BF61-EB3A7D53E3C3}" type="presOf" srcId="{C5E3BA29-73F1-400D-86A1-299B7AEBB2AD}" destId="{84DBE7C1-C283-4A14-94BC-4C39718E85BB}" srcOrd="0" destOrd="0" presId="urn:microsoft.com/office/officeart/2005/8/layout/vList2"/>
    <dgm:cxn modelId="{4029F699-E2A6-4FB1-89A6-126A1F8DD45B}" type="presOf" srcId="{12EFEEF0-84FB-4AB2-9C7C-119A758915F4}" destId="{237AE290-8897-4710-B012-7C295237D311}" srcOrd="0" destOrd="5" presId="urn:microsoft.com/office/officeart/2005/8/layout/vList2"/>
    <dgm:cxn modelId="{7257B09A-3FE5-4C61-9097-C88FA509E7FC}" srcId="{99640B0F-AD0A-4957-BBAC-7298D5BCFE18}" destId="{6A8ABA22-5223-4B7F-A1FA-24F2D49631C0}" srcOrd="1" destOrd="0" parTransId="{3F89F837-5EED-44F4-8259-5D0285523EC6}" sibTransId="{07DA4516-E707-47A9-A48B-7C5780C545BB}"/>
    <dgm:cxn modelId="{CB726A9B-1F6B-4611-B90D-F94D5050C48C}" type="presOf" srcId="{DD5B6C51-17F9-422C-B4BD-1695F7FFBE30}" destId="{577E6B22-1D87-4C84-9F48-B26855F6186A}" srcOrd="0" destOrd="4" presId="urn:microsoft.com/office/officeart/2005/8/layout/vList2"/>
    <dgm:cxn modelId="{CD5AA2A1-CE33-403A-9714-2344416185E2}" srcId="{6A8ABA22-5223-4B7F-A1FA-24F2D49631C0}" destId="{BBE7FD04-2B4D-446A-A7DC-5756AD16DA54}" srcOrd="2" destOrd="0" parTransId="{C64398CB-81D2-4AAA-89A0-6EE73DF0DB5F}" sibTransId="{C3E6CB10-9F45-4A25-A132-7D9705D95AF0}"/>
    <dgm:cxn modelId="{462F99AA-69E0-49C1-B5E7-B63C977DB445}" type="presOf" srcId="{69DD291E-ECFF-4E7E-8A91-64231C338AF4}" destId="{577E6B22-1D87-4C84-9F48-B26855F6186A}" srcOrd="0" destOrd="3" presId="urn:microsoft.com/office/officeart/2005/8/layout/vList2"/>
    <dgm:cxn modelId="{43B212B9-CB01-4D67-BE4C-AA7FD2D46D04}" type="presOf" srcId="{FD6030D3-97C3-45F0-AD67-60FDF3FE6FC2}" destId="{242AB3D2-86D9-4ADB-B552-2A478154B6E3}" srcOrd="0" destOrd="0" presId="urn:microsoft.com/office/officeart/2005/8/layout/vList2"/>
    <dgm:cxn modelId="{515C79BA-7633-4057-9913-E1CF62AA617D}" type="presOf" srcId="{6A8ABA22-5223-4B7F-A1FA-24F2D49631C0}" destId="{02C28F0B-097E-4E49-8EFA-3370DAB30B42}" srcOrd="0" destOrd="0" presId="urn:microsoft.com/office/officeart/2005/8/layout/vList2"/>
    <dgm:cxn modelId="{E22E31C2-CC49-40DD-B289-8C5CCCE915F4}" type="presOf" srcId="{382B82AB-AC91-4C59-B4D2-2ADD2F8B6955}" destId="{237AE290-8897-4710-B012-7C295237D311}" srcOrd="0" destOrd="0" presId="urn:microsoft.com/office/officeart/2005/8/layout/vList2"/>
    <dgm:cxn modelId="{820F2BCC-C291-4D28-AA27-BCB2A0B12CBD}" srcId="{6A8ABA22-5223-4B7F-A1FA-24F2D49631C0}" destId="{382B82AB-AC91-4C59-B4D2-2ADD2F8B6955}" srcOrd="0" destOrd="0" parTransId="{4C0BC1A1-06FC-47B8-962B-A3618F5877A3}" sibTransId="{977EF80A-2C6B-412E-8D22-2E0E48E2272C}"/>
    <dgm:cxn modelId="{153018E5-2A94-4CDA-B7C5-CC36C70E7231}" srcId="{6A8ABA22-5223-4B7F-A1FA-24F2D49631C0}" destId="{FF7695EB-370B-454F-9887-548CA072FA82}" srcOrd="4" destOrd="0" parTransId="{613425E0-216A-4C42-8E08-4C528A4C0850}" sibTransId="{C1683869-DF26-4C0B-9490-3E7DC8C2550B}"/>
    <dgm:cxn modelId="{48D52AF2-3930-432E-A4C4-D134BA51AD51}" srcId="{FD6030D3-97C3-45F0-AD67-60FDF3FE6FC2}" destId="{E6531610-1312-4C45-BF26-E28FE2BBEB7D}" srcOrd="0" destOrd="0" parTransId="{AB142D28-1533-46F1-8C4B-CE10373034BB}" sibTransId="{68837772-2FBA-49B7-A2C1-7A0D84ABD45B}"/>
    <dgm:cxn modelId="{470A37F1-FD28-42F1-A2FB-89A5FE847B6C}" type="presParOf" srcId="{ABC88874-59BE-4284-B719-45E95C570DA0}" destId="{2FA2EAEE-C8DC-489A-A6CD-E0BEA92A940D}" srcOrd="0" destOrd="0" presId="urn:microsoft.com/office/officeart/2005/8/layout/vList2"/>
    <dgm:cxn modelId="{5DEA73A6-26BB-432C-A2ED-78A9F112FDC9}" type="presParOf" srcId="{ABC88874-59BE-4284-B719-45E95C570DA0}" destId="{84DBE7C1-C283-4A14-94BC-4C39718E85BB}" srcOrd="1" destOrd="0" presId="urn:microsoft.com/office/officeart/2005/8/layout/vList2"/>
    <dgm:cxn modelId="{6BFF2F6B-172C-437E-A781-5D72F35C1FB0}" type="presParOf" srcId="{ABC88874-59BE-4284-B719-45E95C570DA0}" destId="{02C28F0B-097E-4E49-8EFA-3370DAB30B42}" srcOrd="2" destOrd="0" presId="urn:microsoft.com/office/officeart/2005/8/layout/vList2"/>
    <dgm:cxn modelId="{25573CE3-0489-4B0E-B1B8-499A6C6175A6}" type="presParOf" srcId="{ABC88874-59BE-4284-B719-45E95C570DA0}" destId="{237AE290-8897-4710-B012-7C295237D311}" srcOrd="3" destOrd="0" presId="urn:microsoft.com/office/officeart/2005/8/layout/vList2"/>
    <dgm:cxn modelId="{6C3F88A9-EB72-4BDC-9680-4D4B9DF1D62F}" type="presParOf" srcId="{ABC88874-59BE-4284-B719-45E95C570DA0}" destId="{242AB3D2-86D9-4ADB-B552-2A478154B6E3}" srcOrd="4" destOrd="0" presId="urn:microsoft.com/office/officeart/2005/8/layout/vList2"/>
    <dgm:cxn modelId="{1097B7DC-01CB-4C3B-BA1B-0BDA94AFD1C8}" type="presParOf" srcId="{ABC88874-59BE-4284-B719-45E95C570DA0}" destId="{577E6B22-1D87-4C84-9F48-B26855F6186A}"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A2EAEE-C8DC-489A-A6CD-E0BEA92A940D}">
      <dsp:nvSpPr>
        <dsp:cNvPr id="0" name=""/>
        <dsp:cNvSpPr/>
      </dsp:nvSpPr>
      <dsp:spPr>
        <a:xfrm>
          <a:off x="0" y="10842"/>
          <a:ext cx="10691265" cy="5148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fr-FR" sz="2200" kern="1200"/>
            <a:t>Information sur les données :</a:t>
          </a:r>
          <a:endParaRPr lang="en-US" sz="2200" kern="1200"/>
        </a:p>
      </dsp:txBody>
      <dsp:txXfrm>
        <a:off x="25130" y="35972"/>
        <a:ext cx="10641005" cy="464540"/>
      </dsp:txXfrm>
    </dsp:sp>
    <dsp:sp modelId="{84DBE7C1-C283-4A14-94BC-4C39718E85BB}">
      <dsp:nvSpPr>
        <dsp:cNvPr id="0" name=""/>
        <dsp:cNvSpPr/>
      </dsp:nvSpPr>
      <dsp:spPr>
        <a:xfrm>
          <a:off x="0" y="525642"/>
          <a:ext cx="10691265" cy="364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9448"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fr-FR" sz="1700" kern="1200" dirty="0"/>
            <a:t>Contexte et Présentation des manipulations sur le jeu de données</a:t>
          </a:r>
          <a:endParaRPr lang="en-US" sz="1700" kern="1200" dirty="0"/>
        </a:p>
      </dsp:txBody>
      <dsp:txXfrm>
        <a:off x="0" y="525642"/>
        <a:ext cx="10691265" cy="364320"/>
      </dsp:txXfrm>
    </dsp:sp>
    <dsp:sp modelId="{02C28F0B-097E-4E49-8EFA-3370DAB30B42}">
      <dsp:nvSpPr>
        <dsp:cNvPr id="0" name=""/>
        <dsp:cNvSpPr/>
      </dsp:nvSpPr>
      <dsp:spPr>
        <a:xfrm>
          <a:off x="0" y="889962"/>
          <a:ext cx="10691265" cy="5148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fr-FR" sz="2200" kern="1200"/>
            <a:t>Indicateurs de ventes :</a:t>
          </a:r>
          <a:endParaRPr lang="en-US" sz="2200" kern="1200"/>
        </a:p>
      </dsp:txBody>
      <dsp:txXfrm>
        <a:off x="25130" y="915092"/>
        <a:ext cx="10641005" cy="464540"/>
      </dsp:txXfrm>
    </dsp:sp>
    <dsp:sp modelId="{237AE290-8897-4710-B012-7C295237D311}">
      <dsp:nvSpPr>
        <dsp:cNvPr id="0" name=""/>
        <dsp:cNvSpPr/>
      </dsp:nvSpPr>
      <dsp:spPr>
        <a:xfrm>
          <a:off x="0" y="1404763"/>
          <a:ext cx="10691265" cy="16849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9448"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fr-FR" sz="1700" kern="1200" dirty="0"/>
            <a:t>Chiffre d’affaires avec la moyenne mobile</a:t>
          </a:r>
          <a:endParaRPr lang="en-US" sz="1700" kern="1200" dirty="0"/>
        </a:p>
        <a:p>
          <a:pPr marL="171450" lvl="1" indent="-171450" algn="l" defTabSz="755650">
            <a:lnSpc>
              <a:spcPct val="90000"/>
            </a:lnSpc>
            <a:spcBef>
              <a:spcPct val="0"/>
            </a:spcBef>
            <a:spcAft>
              <a:spcPct val="20000"/>
            </a:spcAft>
            <a:buChar char="•"/>
          </a:pPr>
          <a:r>
            <a:rPr lang="fr-FR" sz="1700" kern="1200"/>
            <a:t>Chiffre d’affaires par catégorie, </a:t>
          </a:r>
          <a:endParaRPr lang="en-US" sz="1700" kern="1200"/>
        </a:p>
        <a:p>
          <a:pPr marL="171450" lvl="1" indent="-171450" algn="l" defTabSz="755650">
            <a:lnSpc>
              <a:spcPct val="90000"/>
            </a:lnSpc>
            <a:spcBef>
              <a:spcPct val="0"/>
            </a:spcBef>
            <a:spcAft>
              <a:spcPct val="20000"/>
            </a:spcAft>
            <a:buChar char="•"/>
          </a:pPr>
          <a:r>
            <a:rPr lang="fr-FR" sz="1700" kern="1200"/>
            <a:t>Nombre de clients par mois, </a:t>
          </a:r>
          <a:endParaRPr lang="en-US" sz="1700" kern="1200"/>
        </a:p>
        <a:p>
          <a:pPr marL="171450" lvl="1" indent="-171450" algn="l" defTabSz="755650">
            <a:lnSpc>
              <a:spcPct val="90000"/>
            </a:lnSpc>
            <a:spcBef>
              <a:spcPct val="0"/>
            </a:spcBef>
            <a:spcAft>
              <a:spcPct val="20000"/>
            </a:spcAft>
            <a:buChar char="•"/>
          </a:pPr>
          <a:r>
            <a:rPr lang="fr-FR" sz="1700" kern="1200"/>
            <a:t>Nombre de transactions, </a:t>
          </a:r>
          <a:endParaRPr lang="en-US" sz="1700" kern="1200"/>
        </a:p>
        <a:p>
          <a:pPr marL="171450" lvl="1" indent="-171450" algn="l" defTabSz="755650">
            <a:lnSpc>
              <a:spcPct val="90000"/>
            </a:lnSpc>
            <a:spcBef>
              <a:spcPct val="0"/>
            </a:spcBef>
            <a:spcAft>
              <a:spcPct val="20000"/>
            </a:spcAft>
            <a:buChar char="•"/>
          </a:pPr>
          <a:r>
            <a:rPr lang="fr-FR" sz="1700" kern="1200"/>
            <a:t>Nombre de produits vendus</a:t>
          </a:r>
          <a:endParaRPr lang="en-US" sz="1700" kern="1200"/>
        </a:p>
        <a:p>
          <a:pPr marL="342900" lvl="2" indent="-171450" algn="l" defTabSz="755650">
            <a:lnSpc>
              <a:spcPct val="90000"/>
            </a:lnSpc>
            <a:spcBef>
              <a:spcPct val="0"/>
            </a:spcBef>
            <a:spcAft>
              <a:spcPct val="20000"/>
            </a:spcAft>
            <a:buChar char="•"/>
          </a:pPr>
          <a:r>
            <a:rPr lang="fr-FR" sz="1700" kern="1200"/>
            <a:t>Top, Flop, Répartition par catégorie</a:t>
          </a:r>
          <a:endParaRPr lang="en-US" sz="1700" kern="1200"/>
        </a:p>
      </dsp:txBody>
      <dsp:txXfrm>
        <a:off x="0" y="1404763"/>
        <a:ext cx="10691265" cy="1684980"/>
      </dsp:txXfrm>
    </dsp:sp>
    <dsp:sp modelId="{242AB3D2-86D9-4ADB-B552-2A478154B6E3}">
      <dsp:nvSpPr>
        <dsp:cNvPr id="0" name=""/>
        <dsp:cNvSpPr/>
      </dsp:nvSpPr>
      <dsp:spPr>
        <a:xfrm>
          <a:off x="0" y="3089743"/>
          <a:ext cx="10691265" cy="5148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fr-FR" sz="2200" kern="1200" dirty="0"/>
            <a:t>Analyses Statistique des comportements clientèle en ligne</a:t>
          </a:r>
          <a:endParaRPr lang="en-US" sz="2200" kern="1200" dirty="0"/>
        </a:p>
      </dsp:txBody>
      <dsp:txXfrm>
        <a:off x="25130" y="3114873"/>
        <a:ext cx="10641005" cy="464540"/>
      </dsp:txXfrm>
    </dsp:sp>
    <dsp:sp modelId="{577E6B22-1D87-4C84-9F48-B26855F6186A}">
      <dsp:nvSpPr>
        <dsp:cNvPr id="0" name=""/>
        <dsp:cNvSpPr/>
      </dsp:nvSpPr>
      <dsp:spPr>
        <a:xfrm>
          <a:off x="0" y="3604543"/>
          <a:ext cx="10691265" cy="1388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9448"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fr-FR" sz="1700" kern="1200"/>
            <a:t>Lien entre genre d'un client et les catégories des livres achetés</a:t>
          </a:r>
          <a:endParaRPr lang="en-US" sz="1700" kern="1200"/>
        </a:p>
        <a:p>
          <a:pPr marL="171450" lvl="1" indent="-171450" algn="l" defTabSz="755650">
            <a:lnSpc>
              <a:spcPct val="90000"/>
            </a:lnSpc>
            <a:spcBef>
              <a:spcPct val="0"/>
            </a:spcBef>
            <a:spcAft>
              <a:spcPct val="20000"/>
            </a:spcAft>
            <a:buChar char="•"/>
          </a:pPr>
          <a:r>
            <a:rPr lang="fr-FR" sz="1700" kern="1200"/>
            <a:t>Lien entre âge du client et le montant de ses achats</a:t>
          </a:r>
          <a:endParaRPr lang="en-US" sz="1700" kern="1200"/>
        </a:p>
        <a:p>
          <a:pPr marL="171450" lvl="1" indent="-171450" algn="l" defTabSz="755650">
            <a:lnSpc>
              <a:spcPct val="90000"/>
            </a:lnSpc>
            <a:spcBef>
              <a:spcPct val="0"/>
            </a:spcBef>
            <a:spcAft>
              <a:spcPct val="20000"/>
            </a:spcAft>
            <a:buChar char="•"/>
          </a:pPr>
          <a:r>
            <a:rPr lang="fr-FR" sz="1700" kern="1200"/>
            <a:t>Lien entre âge du client et ses fréquences d'achats</a:t>
          </a:r>
          <a:endParaRPr lang="en-US" sz="1700" kern="1200"/>
        </a:p>
        <a:p>
          <a:pPr marL="171450" lvl="1" indent="-171450" algn="l" defTabSz="755650">
            <a:lnSpc>
              <a:spcPct val="90000"/>
            </a:lnSpc>
            <a:spcBef>
              <a:spcPct val="0"/>
            </a:spcBef>
            <a:spcAft>
              <a:spcPct val="20000"/>
            </a:spcAft>
            <a:buChar char="•"/>
          </a:pPr>
          <a:r>
            <a:rPr lang="fr-FR" sz="1700" kern="1200"/>
            <a:t>Lien entre âge du client et la taille du panier moyen</a:t>
          </a:r>
          <a:endParaRPr lang="en-US" sz="1700" kern="1200"/>
        </a:p>
        <a:p>
          <a:pPr marL="171450" lvl="1" indent="-171450" algn="l" defTabSz="755650">
            <a:lnSpc>
              <a:spcPct val="90000"/>
            </a:lnSpc>
            <a:spcBef>
              <a:spcPct val="0"/>
            </a:spcBef>
            <a:spcAft>
              <a:spcPct val="20000"/>
            </a:spcAft>
            <a:buChar char="•"/>
          </a:pPr>
          <a:r>
            <a:rPr lang="fr-FR" sz="1700" kern="1200"/>
            <a:t>Lien entre âge du client et les catégories des livres achetés</a:t>
          </a:r>
          <a:endParaRPr lang="en-US" sz="1700" kern="1200"/>
        </a:p>
      </dsp:txBody>
      <dsp:txXfrm>
        <a:off x="0" y="3604543"/>
        <a:ext cx="10691265" cy="138897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0A34D2-2A1D-494A-BCDF-8DCDEE53A946}" type="datetimeFigureOut">
              <a:rPr lang="fr-FR" smtClean="0"/>
              <a:t>22/05/2025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DE6878-DBD5-4A8F-AA79-1E301AFE1198}" type="slidenum">
              <a:rPr lang="fr-FR" smtClean="0"/>
              <a:t>‹N°›</a:t>
            </a:fld>
            <a:endParaRPr lang="fr-FR"/>
          </a:p>
        </p:txBody>
      </p:sp>
    </p:spTree>
    <p:extLst>
      <p:ext uri="{BB962C8B-B14F-4D97-AF65-F5344CB8AC3E}">
        <p14:creationId xmlns:p14="http://schemas.microsoft.com/office/powerpoint/2010/main" val="1290637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BDE6878-DBD5-4A8F-AA79-1E301AFE1198}" type="slidenum">
              <a:rPr lang="fr-FR" smtClean="0"/>
              <a:t>15</a:t>
            </a:fld>
            <a:endParaRPr lang="fr-FR"/>
          </a:p>
        </p:txBody>
      </p:sp>
    </p:spTree>
    <p:extLst>
      <p:ext uri="{BB962C8B-B14F-4D97-AF65-F5344CB8AC3E}">
        <p14:creationId xmlns:p14="http://schemas.microsoft.com/office/powerpoint/2010/main" val="25854872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5/22/2025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‹N°›</a:t>
            </a:fld>
            <a:endParaRPr lang="en-US"/>
          </a:p>
        </p:txBody>
      </p:sp>
    </p:spTree>
    <p:extLst>
      <p:ext uri="{BB962C8B-B14F-4D97-AF65-F5344CB8AC3E}">
        <p14:creationId xmlns:p14="http://schemas.microsoft.com/office/powerpoint/2010/main" val="1530002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a:xfrm>
            <a:off x="381458" y="124275"/>
            <a:ext cx="10691265" cy="660729"/>
          </a:xfrm>
        </p:spPr>
        <p:txBody>
          <a:bodyPr>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a:xfrm>
            <a:off x="700635" y="957532"/>
            <a:ext cx="10691265" cy="500435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5/22/2025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‹N°›</a:t>
            </a:fld>
            <a:endParaRPr lang="en-US"/>
          </a:p>
        </p:txBody>
      </p:sp>
    </p:spTree>
    <p:extLst>
      <p:ext uri="{BB962C8B-B14F-4D97-AF65-F5344CB8AC3E}">
        <p14:creationId xmlns:p14="http://schemas.microsoft.com/office/powerpoint/2010/main" val="21782828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5/22/2025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‹N°›</a:t>
            </a:fld>
            <a:endParaRPr lang="en-US"/>
          </a:p>
        </p:txBody>
      </p:sp>
      <p:sp>
        <p:nvSpPr>
          <p:cNvPr id="7" name="Title 1">
            <a:extLst>
              <a:ext uri="{FF2B5EF4-FFF2-40B4-BE49-F238E27FC236}">
                <a16:creationId xmlns:a16="http://schemas.microsoft.com/office/drawing/2014/main" id="{DC5FFC7F-2326-350D-2D5F-75A2565FDD44}"/>
              </a:ext>
            </a:extLst>
          </p:cNvPr>
          <p:cNvSpPr txBox="1">
            <a:spLocks/>
          </p:cNvSpPr>
          <p:nvPr userDrawn="1"/>
        </p:nvSpPr>
        <p:spPr>
          <a:xfrm>
            <a:off x="381458" y="124275"/>
            <a:ext cx="10691265" cy="660729"/>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3600" kern="1200" cap="all" spc="30" baseline="0">
                <a:solidFill>
                  <a:schemeClr val="tx1"/>
                </a:solidFill>
                <a:latin typeface="+mj-lt"/>
                <a:ea typeface="+mj-ea"/>
                <a:cs typeface="+mj-cs"/>
              </a:defRPr>
            </a:lvl1pPr>
          </a:lstStyle>
          <a:p>
            <a:r>
              <a:rPr lang="en-US"/>
              <a:t>Click to edit Master title style</a:t>
            </a:r>
            <a:endParaRPr lang="en-US" dirty="0"/>
          </a:p>
        </p:txBody>
      </p:sp>
    </p:spTree>
    <p:extLst>
      <p:ext uri="{BB962C8B-B14F-4D97-AF65-F5344CB8AC3E}">
        <p14:creationId xmlns:p14="http://schemas.microsoft.com/office/powerpoint/2010/main" val="30244541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5/22/2025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‹N°›</a:t>
            </a:fld>
            <a:endParaRPr lang="en-US"/>
          </a:p>
        </p:txBody>
      </p:sp>
      <p:sp>
        <p:nvSpPr>
          <p:cNvPr id="8" name="Title 1">
            <a:extLst>
              <a:ext uri="{FF2B5EF4-FFF2-40B4-BE49-F238E27FC236}">
                <a16:creationId xmlns:a16="http://schemas.microsoft.com/office/drawing/2014/main" id="{31FCE38D-C966-5BD9-BB1F-AB4371780D97}"/>
              </a:ext>
            </a:extLst>
          </p:cNvPr>
          <p:cNvSpPr txBox="1">
            <a:spLocks/>
          </p:cNvSpPr>
          <p:nvPr userDrawn="1"/>
        </p:nvSpPr>
        <p:spPr>
          <a:xfrm>
            <a:off x="381458" y="124275"/>
            <a:ext cx="10691265" cy="660729"/>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3600" kern="1200" cap="all" spc="30" baseline="0">
                <a:solidFill>
                  <a:schemeClr val="tx1"/>
                </a:solidFill>
                <a:latin typeface="+mj-lt"/>
                <a:ea typeface="+mj-ea"/>
                <a:cs typeface="+mj-cs"/>
              </a:defRPr>
            </a:lvl1pPr>
          </a:lstStyle>
          <a:p>
            <a:r>
              <a:rPr lang="en-US"/>
              <a:t>Click to edit Master title style</a:t>
            </a:r>
            <a:endParaRPr lang="en-US" dirty="0"/>
          </a:p>
        </p:txBody>
      </p:sp>
    </p:spTree>
    <p:extLst>
      <p:ext uri="{BB962C8B-B14F-4D97-AF65-F5344CB8AC3E}">
        <p14:creationId xmlns:p14="http://schemas.microsoft.com/office/powerpoint/2010/main" val="642481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928403"/>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1614567"/>
            <a:ext cx="5212080" cy="43150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096000" y="928403"/>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096000" y="1614567"/>
            <a:ext cx="5212080" cy="43150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5/22/2025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‹N°›</a:t>
            </a:fld>
            <a:endParaRPr lang="en-US"/>
          </a:p>
        </p:txBody>
      </p:sp>
      <p:sp>
        <p:nvSpPr>
          <p:cNvPr id="10" name="Title 1">
            <a:extLst>
              <a:ext uri="{FF2B5EF4-FFF2-40B4-BE49-F238E27FC236}">
                <a16:creationId xmlns:a16="http://schemas.microsoft.com/office/drawing/2014/main" id="{70A09999-6048-32AF-0D10-209BBFA44CFD}"/>
              </a:ext>
            </a:extLst>
          </p:cNvPr>
          <p:cNvSpPr txBox="1">
            <a:spLocks/>
          </p:cNvSpPr>
          <p:nvPr userDrawn="1"/>
        </p:nvSpPr>
        <p:spPr>
          <a:xfrm>
            <a:off x="381458" y="124275"/>
            <a:ext cx="10691265" cy="660729"/>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3600" kern="1200" cap="all" spc="30" baseline="0">
                <a:solidFill>
                  <a:schemeClr val="tx1"/>
                </a:solidFill>
                <a:latin typeface="+mj-lt"/>
                <a:ea typeface="+mj-ea"/>
                <a:cs typeface="+mj-cs"/>
              </a:defRPr>
            </a:lvl1pPr>
          </a:lstStyle>
          <a:p>
            <a:r>
              <a:rPr lang="en-US"/>
              <a:t>Click to edit Master title style</a:t>
            </a:r>
            <a:endParaRPr lang="en-US" dirty="0"/>
          </a:p>
        </p:txBody>
      </p:sp>
    </p:spTree>
    <p:extLst>
      <p:ext uri="{BB962C8B-B14F-4D97-AF65-F5344CB8AC3E}">
        <p14:creationId xmlns:p14="http://schemas.microsoft.com/office/powerpoint/2010/main" val="1509726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5/22/2025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‹N°›</a:t>
            </a:fld>
            <a:endParaRPr lang="en-US"/>
          </a:p>
        </p:txBody>
      </p:sp>
      <p:sp>
        <p:nvSpPr>
          <p:cNvPr id="6" name="Title 1">
            <a:extLst>
              <a:ext uri="{FF2B5EF4-FFF2-40B4-BE49-F238E27FC236}">
                <a16:creationId xmlns:a16="http://schemas.microsoft.com/office/drawing/2014/main" id="{88C907F2-2AB8-D581-0045-6D125C24858D}"/>
              </a:ext>
            </a:extLst>
          </p:cNvPr>
          <p:cNvSpPr txBox="1">
            <a:spLocks/>
          </p:cNvSpPr>
          <p:nvPr userDrawn="1"/>
        </p:nvSpPr>
        <p:spPr>
          <a:xfrm>
            <a:off x="381458" y="124275"/>
            <a:ext cx="10691265" cy="660729"/>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3600" kern="1200" cap="all" spc="30" baseline="0">
                <a:solidFill>
                  <a:schemeClr val="tx1"/>
                </a:solidFill>
                <a:latin typeface="+mj-lt"/>
                <a:ea typeface="+mj-ea"/>
                <a:cs typeface="+mj-cs"/>
              </a:defRPr>
            </a:lvl1pPr>
          </a:lstStyle>
          <a:p>
            <a:r>
              <a:rPr lang="en-US"/>
              <a:t>Click to edit Master title style</a:t>
            </a:r>
            <a:endParaRPr lang="en-US" dirty="0"/>
          </a:p>
        </p:txBody>
      </p:sp>
    </p:spTree>
    <p:extLst>
      <p:ext uri="{BB962C8B-B14F-4D97-AF65-F5344CB8AC3E}">
        <p14:creationId xmlns:p14="http://schemas.microsoft.com/office/powerpoint/2010/main" val="2778874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5/22/2025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‹N°›</a:t>
            </a:fld>
            <a:endParaRPr lang="en-US"/>
          </a:p>
        </p:txBody>
      </p:sp>
    </p:spTree>
    <p:extLst>
      <p:ext uri="{BB962C8B-B14F-4D97-AF65-F5344CB8AC3E}">
        <p14:creationId xmlns:p14="http://schemas.microsoft.com/office/powerpoint/2010/main" val="18691070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5/22/2025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‹N°›</a:t>
            </a:fld>
            <a:endParaRPr lang="en-US"/>
          </a:p>
        </p:txBody>
      </p:sp>
    </p:spTree>
    <p:extLst>
      <p:ext uri="{BB962C8B-B14F-4D97-AF65-F5344CB8AC3E}">
        <p14:creationId xmlns:p14="http://schemas.microsoft.com/office/powerpoint/2010/main" val="196674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5/22/2025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‹N°›</a:t>
            </a:fld>
            <a:endParaRPr lang="en-US"/>
          </a:p>
        </p:txBody>
      </p:sp>
    </p:spTree>
    <p:extLst>
      <p:ext uri="{BB962C8B-B14F-4D97-AF65-F5344CB8AC3E}">
        <p14:creationId xmlns:p14="http://schemas.microsoft.com/office/powerpoint/2010/main" val="3537526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5/22/2025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‹N°›</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5397979"/>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s://www.bing.com/ck/a?!&amp;&amp;p=1d17285e54a446449d3b8500c915d055fc5396975bf541ad33e1565db780972bJmltdHM9MTc0NjgzNTIwMA&amp;ptn=3&amp;ver=2&amp;hsh=4&amp;fclid=33d41a8b-f8db-6839-229d-0f28f96269d4&amp;u=a1L2ltYWdlcy9zZWFyY2g_cT1saXZyZSUyMGljb25lJkZPUk09SVFGUkJBJmlkPTI5NjdBNThFNEE2RTJGREIwOTAxNUNGRThCMjE3M0RBQjlENjFCNzk&amp;ntb=1"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9A6C826-302C-D8A6-72A1-062C0B0BE7E4}"/>
              </a:ext>
            </a:extLst>
          </p:cNvPr>
          <p:cNvSpPr>
            <a:spLocks noGrp="1"/>
          </p:cNvSpPr>
          <p:nvPr>
            <p:ph type="ctrTitle"/>
          </p:nvPr>
        </p:nvSpPr>
        <p:spPr>
          <a:xfrm>
            <a:off x="703400" y="908651"/>
            <a:ext cx="4937004" cy="4058682"/>
          </a:xfrm>
        </p:spPr>
        <p:txBody>
          <a:bodyPr anchor="t">
            <a:normAutofit/>
          </a:bodyPr>
          <a:lstStyle/>
          <a:p>
            <a:r>
              <a:rPr lang="fr-FR" sz="6500" dirty="0"/>
              <a:t>Librairie </a:t>
            </a:r>
            <a:br>
              <a:rPr lang="fr-FR" sz="6500" dirty="0"/>
            </a:br>
            <a:r>
              <a:rPr lang="fr-FR" sz="6500" dirty="0"/>
              <a:t>LAPAGE</a:t>
            </a:r>
          </a:p>
        </p:txBody>
      </p:sp>
      <p:sp>
        <p:nvSpPr>
          <p:cNvPr id="3" name="Sous-titre 2">
            <a:extLst>
              <a:ext uri="{FF2B5EF4-FFF2-40B4-BE49-F238E27FC236}">
                <a16:creationId xmlns:a16="http://schemas.microsoft.com/office/drawing/2014/main" id="{A0E480AD-C941-39F1-4588-19C6F55A7C5E}"/>
              </a:ext>
            </a:extLst>
          </p:cNvPr>
          <p:cNvSpPr>
            <a:spLocks noGrp="1"/>
          </p:cNvSpPr>
          <p:nvPr>
            <p:ph type="subTitle" idx="1"/>
          </p:nvPr>
        </p:nvSpPr>
        <p:spPr>
          <a:xfrm>
            <a:off x="703400" y="5103862"/>
            <a:ext cx="4172757" cy="845487"/>
          </a:xfrm>
        </p:spPr>
        <p:txBody>
          <a:bodyPr anchor="b">
            <a:normAutofit/>
          </a:bodyPr>
          <a:lstStyle/>
          <a:p>
            <a:r>
              <a:rPr lang="fr-FR" dirty="0"/>
              <a:t>Romain RAMAT 24/05/2025</a:t>
            </a:r>
          </a:p>
          <a:p>
            <a:endParaRPr lang="fr-FR" dirty="0"/>
          </a:p>
        </p:txBody>
      </p:sp>
      <p:cxnSp>
        <p:nvCxnSpPr>
          <p:cNvPr id="11" name="Straight Connector 10">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descr="Gros plan de pages de livre">
            <a:extLst>
              <a:ext uri="{FF2B5EF4-FFF2-40B4-BE49-F238E27FC236}">
                <a16:creationId xmlns:a16="http://schemas.microsoft.com/office/drawing/2014/main" id="{3C3762AC-705B-2210-8233-6D3E97D4A88A}"/>
              </a:ext>
            </a:extLst>
          </p:cNvPr>
          <p:cNvPicPr>
            <a:picLocks noChangeAspect="1"/>
          </p:cNvPicPr>
          <p:nvPr/>
        </p:nvPicPr>
        <p:blipFill>
          <a:blip r:embed="rId2"/>
          <a:srcRect l="28216" r="7635"/>
          <a:stretch/>
        </p:blipFill>
        <p:spPr>
          <a:xfrm>
            <a:off x="6326272" y="10"/>
            <a:ext cx="5865727" cy="6857990"/>
          </a:xfrm>
          <a:prstGeom prst="rect">
            <a:avLst/>
          </a:prstGeom>
        </p:spPr>
      </p:pic>
    </p:spTree>
    <p:extLst>
      <p:ext uri="{BB962C8B-B14F-4D97-AF65-F5344CB8AC3E}">
        <p14:creationId xmlns:p14="http://schemas.microsoft.com/office/powerpoint/2010/main" val="1276609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868C28C-E629-1370-5F43-D216189AFC0A}"/>
              </a:ext>
            </a:extLst>
          </p:cNvPr>
          <p:cNvSpPr>
            <a:spLocks noGrp="1"/>
          </p:cNvSpPr>
          <p:nvPr>
            <p:ph type="title"/>
          </p:nvPr>
        </p:nvSpPr>
        <p:spPr/>
        <p:txBody>
          <a:bodyPr>
            <a:normAutofit/>
          </a:bodyPr>
          <a:lstStyle/>
          <a:p>
            <a:r>
              <a:rPr lang="fr-FR" dirty="0"/>
              <a:t>Sommaire</a:t>
            </a:r>
          </a:p>
        </p:txBody>
      </p:sp>
      <p:graphicFrame>
        <p:nvGraphicFramePr>
          <p:cNvPr id="5" name="Espace réservé du contenu 2">
            <a:extLst>
              <a:ext uri="{FF2B5EF4-FFF2-40B4-BE49-F238E27FC236}">
                <a16:creationId xmlns:a16="http://schemas.microsoft.com/office/drawing/2014/main" id="{6BB97350-D2D6-26FB-27AB-C045485D0190}"/>
              </a:ext>
            </a:extLst>
          </p:cNvPr>
          <p:cNvGraphicFramePr>
            <a:graphicFrameLocks noGrp="1"/>
          </p:cNvGraphicFramePr>
          <p:nvPr>
            <p:ph idx="1"/>
            <p:extLst>
              <p:ext uri="{D42A27DB-BD31-4B8C-83A1-F6EECF244321}">
                <p14:modId xmlns:p14="http://schemas.microsoft.com/office/powerpoint/2010/main" val="1227661264"/>
              </p:ext>
            </p:extLst>
          </p:nvPr>
        </p:nvGraphicFramePr>
        <p:xfrm>
          <a:off x="700635" y="957532"/>
          <a:ext cx="10691265" cy="50043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527082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49332-ABE0-2233-4AE4-A2BB74F64AD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E139F0C-1F6A-A357-4D01-2BD9255DEF67}"/>
              </a:ext>
            </a:extLst>
          </p:cNvPr>
          <p:cNvSpPr>
            <a:spLocks noGrp="1"/>
          </p:cNvSpPr>
          <p:nvPr>
            <p:ph type="title"/>
          </p:nvPr>
        </p:nvSpPr>
        <p:spPr/>
        <p:txBody>
          <a:bodyPr/>
          <a:lstStyle/>
          <a:p>
            <a:r>
              <a:rPr lang="fr-FR" dirty="0"/>
              <a:t>Contexte</a:t>
            </a:r>
          </a:p>
        </p:txBody>
      </p:sp>
      <p:sp>
        <p:nvSpPr>
          <p:cNvPr id="3" name="Espace réservé du contenu 2">
            <a:extLst>
              <a:ext uri="{FF2B5EF4-FFF2-40B4-BE49-F238E27FC236}">
                <a16:creationId xmlns:a16="http://schemas.microsoft.com/office/drawing/2014/main" id="{004A0A42-3E27-1307-C60C-25B4861E0BCF}"/>
              </a:ext>
            </a:extLst>
          </p:cNvPr>
          <p:cNvSpPr>
            <a:spLocks noGrp="1"/>
          </p:cNvSpPr>
          <p:nvPr>
            <p:ph idx="1"/>
          </p:nvPr>
        </p:nvSpPr>
        <p:spPr/>
        <p:txBody>
          <a:bodyPr/>
          <a:lstStyle/>
          <a:p>
            <a:r>
              <a:rPr lang="fr-FR" dirty="0"/>
              <a:t>A l’origine l’entreprise </a:t>
            </a:r>
            <a:r>
              <a:rPr lang="fr-FR" dirty="0" err="1"/>
              <a:t>Lapage</a:t>
            </a:r>
            <a:r>
              <a:rPr lang="fr-FR" dirty="0"/>
              <a:t>, était une librairie physique avec des points de vente, elle a eu l’opportunité d’ouvrir un site en ligne il y a deux ans (Mars 2021), et souhaite un bilan de cette activité.</a:t>
            </a:r>
          </a:p>
          <a:p>
            <a:r>
              <a:rPr lang="fr-FR" dirty="0"/>
              <a:t>Ce rapport a pour objectif de présenter les chiffres clés et ainsi déterminer la stratégie à venir.</a:t>
            </a:r>
          </a:p>
          <a:p>
            <a:pPr marL="0" indent="0">
              <a:buNone/>
            </a:pPr>
            <a:r>
              <a:rPr lang="fr-FR" dirty="0"/>
              <a:t>Celui-ci a été construit sur base des 3 tables « </a:t>
            </a:r>
            <a:r>
              <a:rPr lang="fr-FR" dirty="0" err="1"/>
              <a:t>Customers</a:t>
            </a:r>
            <a:r>
              <a:rPr lang="fr-FR" dirty="0"/>
              <a:t>, Transactions et </a:t>
            </a:r>
            <a:r>
              <a:rPr lang="fr-FR" dirty="0" err="1"/>
              <a:t>Products</a:t>
            </a:r>
            <a:r>
              <a:rPr lang="fr-FR" dirty="0"/>
              <a:t> » qui reprennent les données brutes (non-nettoyés) des deux dernières années (03/2021 – 02/2023).</a:t>
            </a:r>
          </a:p>
          <a:p>
            <a:endParaRPr lang="fr-FR" dirty="0"/>
          </a:p>
          <a:p>
            <a:pPr marL="457200" lvl="1" indent="0" algn="r">
              <a:buNone/>
            </a:pPr>
            <a:endParaRPr lang="fr-FR" dirty="0"/>
          </a:p>
          <a:p>
            <a:pPr marL="457200" lvl="1" indent="0">
              <a:buNone/>
            </a:pPr>
            <a:endParaRPr lang="fr-FR" dirty="0"/>
          </a:p>
          <a:p>
            <a:pPr lvl="1"/>
            <a:endParaRPr lang="fr-FR" dirty="0"/>
          </a:p>
          <a:p>
            <a:pPr lvl="1"/>
            <a:endParaRPr lang="fr-FR" dirty="0">
              <a:hlinkClick r:id="rId2"/>
            </a:endParaRPr>
          </a:p>
          <a:p>
            <a:pPr lvl="1"/>
            <a:endParaRPr lang="fr-FR" dirty="0"/>
          </a:p>
          <a:p>
            <a:pPr lvl="1"/>
            <a:endParaRPr lang="fr-FR" dirty="0"/>
          </a:p>
          <a:p>
            <a:pPr lvl="1"/>
            <a:endParaRPr lang="fr-FR" dirty="0"/>
          </a:p>
          <a:p>
            <a:pPr lvl="1"/>
            <a:endParaRPr lang="fr-FR" dirty="0"/>
          </a:p>
        </p:txBody>
      </p:sp>
      <p:sp>
        <p:nvSpPr>
          <p:cNvPr id="4" name="Rectangle 3">
            <a:extLst>
              <a:ext uri="{FF2B5EF4-FFF2-40B4-BE49-F238E27FC236}">
                <a16:creationId xmlns:a16="http://schemas.microsoft.com/office/drawing/2014/main" id="{20A89B13-145B-0220-85C2-D94E3D9298B4}"/>
              </a:ext>
            </a:extLst>
          </p:cNvPr>
          <p:cNvSpPr/>
          <p:nvPr/>
        </p:nvSpPr>
        <p:spPr>
          <a:xfrm>
            <a:off x="2741971" y="4558481"/>
            <a:ext cx="1347019" cy="1091380"/>
          </a:xfrm>
          <a:prstGeom prst="rect">
            <a:avLst/>
          </a:prstGeom>
          <a:solidFill>
            <a:schemeClr val="accent1">
              <a:lumMod val="60000"/>
              <a:lumOff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400" dirty="0" err="1"/>
              <a:t>sex</a:t>
            </a:r>
            <a:r>
              <a:rPr lang="fr-FR" sz="1400" dirty="0"/>
              <a:t> :varchar(1)</a:t>
            </a:r>
          </a:p>
          <a:p>
            <a:r>
              <a:rPr lang="fr-FR" sz="1400" dirty="0" err="1"/>
              <a:t>birth:Integer</a:t>
            </a:r>
            <a:endParaRPr lang="fr-FR" sz="1400" dirty="0"/>
          </a:p>
        </p:txBody>
      </p:sp>
      <p:sp>
        <p:nvSpPr>
          <p:cNvPr id="5" name="Rectangle 4">
            <a:extLst>
              <a:ext uri="{FF2B5EF4-FFF2-40B4-BE49-F238E27FC236}">
                <a16:creationId xmlns:a16="http://schemas.microsoft.com/office/drawing/2014/main" id="{2442C91A-D805-D786-2442-9E3028C38F50}"/>
              </a:ext>
            </a:extLst>
          </p:cNvPr>
          <p:cNvSpPr/>
          <p:nvPr/>
        </p:nvSpPr>
        <p:spPr>
          <a:xfrm>
            <a:off x="5101713" y="4558481"/>
            <a:ext cx="1347019" cy="1091380"/>
          </a:xfrm>
          <a:prstGeom prst="rect">
            <a:avLst/>
          </a:prstGeom>
          <a:solidFill>
            <a:schemeClr val="accent1">
              <a:lumMod val="60000"/>
              <a:lumOff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1400" dirty="0"/>
          </a:p>
          <a:p>
            <a:endParaRPr lang="fr-FR" sz="1400" dirty="0"/>
          </a:p>
          <a:p>
            <a:endParaRPr lang="fr-FR" sz="1400" dirty="0"/>
          </a:p>
          <a:p>
            <a:pPr algn="ctr"/>
            <a:r>
              <a:rPr lang="fr-FR" sz="1400" dirty="0"/>
              <a:t>date : date</a:t>
            </a:r>
          </a:p>
        </p:txBody>
      </p:sp>
      <p:sp>
        <p:nvSpPr>
          <p:cNvPr id="6" name="Rectangle 5">
            <a:extLst>
              <a:ext uri="{FF2B5EF4-FFF2-40B4-BE49-F238E27FC236}">
                <a16:creationId xmlns:a16="http://schemas.microsoft.com/office/drawing/2014/main" id="{977A28CB-0C1B-8C66-9181-079F00453329}"/>
              </a:ext>
            </a:extLst>
          </p:cNvPr>
          <p:cNvSpPr/>
          <p:nvPr/>
        </p:nvSpPr>
        <p:spPr>
          <a:xfrm>
            <a:off x="7766255" y="4558481"/>
            <a:ext cx="1347019" cy="1091380"/>
          </a:xfrm>
          <a:prstGeom prst="rect">
            <a:avLst/>
          </a:prstGeom>
          <a:solidFill>
            <a:schemeClr val="accent1">
              <a:lumMod val="60000"/>
              <a:lumOff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400" dirty="0" err="1"/>
              <a:t>categ</a:t>
            </a:r>
            <a:r>
              <a:rPr lang="fr-FR" sz="1400" dirty="0"/>
              <a:t> : Integer</a:t>
            </a:r>
          </a:p>
          <a:p>
            <a:r>
              <a:rPr lang="fr-FR" sz="1400" dirty="0" err="1"/>
              <a:t>price</a:t>
            </a:r>
            <a:r>
              <a:rPr lang="fr-FR" sz="1400" dirty="0"/>
              <a:t> : </a:t>
            </a:r>
            <a:r>
              <a:rPr lang="fr-FR" sz="1400" dirty="0" err="1"/>
              <a:t>float</a:t>
            </a:r>
            <a:endParaRPr lang="fr-FR" sz="1400" dirty="0"/>
          </a:p>
        </p:txBody>
      </p:sp>
      <p:sp>
        <p:nvSpPr>
          <p:cNvPr id="7" name="ZoneTexte 6">
            <a:extLst>
              <a:ext uri="{FF2B5EF4-FFF2-40B4-BE49-F238E27FC236}">
                <a16:creationId xmlns:a16="http://schemas.microsoft.com/office/drawing/2014/main" id="{E1393F20-4B8E-EC2C-6263-5FEF34822BF8}"/>
              </a:ext>
            </a:extLst>
          </p:cNvPr>
          <p:cNvSpPr txBox="1"/>
          <p:nvPr/>
        </p:nvSpPr>
        <p:spPr>
          <a:xfrm>
            <a:off x="2741971" y="4558481"/>
            <a:ext cx="1347019" cy="307777"/>
          </a:xfrm>
          <a:prstGeom prst="rect">
            <a:avLst/>
          </a:prstGeom>
          <a:noFill/>
          <a:ln>
            <a:solidFill>
              <a:schemeClr val="bg1">
                <a:lumMod val="95000"/>
              </a:schemeClr>
            </a:solidFill>
          </a:ln>
        </p:spPr>
        <p:txBody>
          <a:bodyPr wrap="square" rtlCol="0">
            <a:spAutoFit/>
          </a:bodyPr>
          <a:lstStyle/>
          <a:p>
            <a:pPr algn="ctr"/>
            <a:r>
              <a:rPr lang="fr-FR" sz="1400" dirty="0" err="1">
                <a:solidFill>
                  <a:schemeClr val="bg1"/>
                </a:solidFill>
              </a:rPr>
              <a:t>client_id</a:t>
            </a:r>
            <a:r>
              <a:rPr lang="fr-FR" sz="1400" dirty="0">
                <a:solidFill>
                  <a:schemeClr val="bg1"/>
                </a:solidFill>
              </a:rPr>
              <a:t> (pk)</a:t>
            </a:r>
          </a:p>
        </p:txBody>
      </p:sp>
      <p:sp>
        <p:nvSpPr>
          <p:cNvPr id="8" name="ZoneTexte 7">
            <a:extLst>
              <a:ext uri="{FF2B5EF4-FFF2-40B4-BE49-F238E27FC236}">
                <a16:creationId xmlns:a16="http://schemas.microsoft.com/office/drawing/2014/main" id="{277FF0F2-20D9-8FF5-6F2D-A3B95F9B91BF}"/>
              </a:ext>
            </a:extLst>
          </p:cNvPr>
          <p:cNvSpPr txBox="1"/>
          <p:nvPr/>
        </p:nvSpPr>
        <p:spPr>
          <a:xfrm>
            <a:off x="5101713" y="4558481"/>
            <a:ext cx="1347019" cy="738664"/>
          </a:xfrm>
          <a:prstGeom prst="rect">
            <a:avLst/>
          </a:prstGeom>
          <a:noFill/>
          <a:ln>
            <a:solidFill>
              <a:schemeClr val="bg1">
                <a:lumMod val="95000"/>
              </a:schemeClr>
            </a:solidFill>
          </a:ln>
        </p:spPr>
        <p:txBody>
          <a:bodyPr wrap="square" rtlCol="0">
            <a:spAutoFit/>
          </a:bodyPr>
          <a:lstStyle/>
          <a:p>
            <a:pPr algn="ctr"/>
            <a:r>
              <a:rPr lang="fr-FR" sz="1400" dirty="0" err="1">
                <a:solidFill>
                  <a:schemeClr val="bg1"/>
                </a:solidFill>
              </a:rPr>
              <a:t>Session_id</a:t>
            </a:r>
            <a:r>
              <a:rPr lang="fr-FR" sz="1400" dirty="0">
                <a:solidFill>
                  <a:schemeClr val="bg1"/>
                </a:solidFill>
              </a:rPr>
              <a:t>(pk)</a:t>
            </a:r>
          </a:p>
          <a:p>
            <a:pPr algn="ctr"/>
            <a:r>
              <a:rPr lang="fr-FR" sz="1400" dirty="0" err="1">
                <a:solidFill>
                  <a:schemeClr val="bg1"/>
                </a:solidFill>
              </a:rPr>
              <a:t>client_id</a:t>
            </a:r>
            <a:r>
              <a:rPr lang="fr-FR" sz="1400" dirty="0">
                <a:solidFill>
                  <a:schemeClr val="bg1"/>
                </a:solidFill>
              </a:rPr>
              <a:t> (</a:t>
            </a:r>
            <a:r>
              <a:rPr lang="fr-FR" sz="1400" dirty="0" err="1">
                <a:solidFill>
                  <a:schemeClr val="bg1"/>
                </a:solidFill>
              </a:rPr>
              <a:t>fk</a:t>
            </a:r>
            <a:r>
              <a:rPr lang="fr-FR" sz="1400" dirty="0">
                <a:solidFill>
                  <a:schemeClr val="bg1"/>
                </a:solidFill>
              </a:rPr>
              <a:t>)</a:t>
            </a:r>
          </a:p>
          <a:p>
            <a:pPr algn="ctr"/>
            <a:r>
              <a:rPr lang="fr-FR" sz="1400" dirty="0" err="1">
                <a:solidFill>
                  <a:schemeClr val="bg1"/>
                </a:solidFill>
              </a:rPr>
              <a:t>id_prod</a:t>
            </a:r>
            <a:r>
              <a:rPr lang="fr-FR" sz="1400" dirty="0">
                <a:solidFill>
                  <a:schemeClr val="bg1"/>
                </a:solidFill>
              </a:rPr>
              <a:t>(</a:t>
            </a:r>
            <a:r>
              <a:rPr lang="fr-FR" sz="1400" dirty="0" err="1">
                <a:solidFill>
                  <a:schemeClr val="bg1"/>
                </a:solidFill>
              </a:rPr>
              <a:t>fk</a:t>
            </a:r>
            <a:r>
              <a:rPr lang="fr-FR" sz="1400" dirty="0">
                <a:solidFill>
                  <a:schemeClr val="bg1"/>
                </a:solidFill>
              </a:rPr>
              <a:t>)</a:t>
            </a:r>
          </a:p>
        </p:txBody>
      </p:sp>
      <p:sp>
        <p:nvSpPr>
          <p:cNvPr id="9" name="ZoneTexte 8">
            <a:extLst>
              <a:ext uri="{FF2B5EF4-FFF2-40B4-BE49-F238E27FC236}">
                <a16:creationId xmlns:a16="http://schemas.microsoft.com/office/drawing/2014/main" id="{7B0DD9E9-CB85-CC0C-52F5-59E98DD670D8}"/>
              </a:ext>
            </a:extLst>
          </p:cNvPr>
          <p:cNvSpPr txBox="1"/>
          <p:nvPr/>
        </p:nvSpPr>
        <p:spPr>
          <a:xfrm>
            <a:off x="7766254" y="4554188"/>
            <a:ext cx="1347019" cy="307777"/>
          </a:xfrm>
          <a:prstGeom prst="rect">
            <a:avLst/>
          </a:prstGeom>
          <a:noFill/>
          <a:ln>
            <a:solidFill>
              <a:schemeClr val="bg1">
                <a:lumMod val="95000"/>
              </a:schemeClr>
            </a:solidFill>
          </a:ln>
        </p:spPr>
        <p:txBody>
          <a:bodyPr wrap="square" rtlCol="0">
            <a:spAutoFit/>
          </a:bodyPr>
          <a:lstStyle/>
          <a:p>
            <a:pPr algn="ctr"/>
            <a:r>
              <a:rPr lang="fr-FR" sz="1400" dirty="0" err="1">
                <a:solidFill>
                  <a:schemeClr val="bg1"/>
                </a:solidFill>
              </a:rPr>
              <a:t>id_prod</a:t>
            </a:r>
            <a:r>
              <a:rPr lang="fr-FR" sz="1400" dirty="0">
                <a:solidFill>
                  <a:schemeClr val="bg1"/>
                </a:solidFill>
              </a:rPr>
              <a:t>(pk)</a:t>
            </a:r>
          </a:p>
        </p:txBody>
      </p:sp>
      <p:sp>
        <p:nvSpPr>
          <p:cNvPr id="10" name="Rectangle 9">
            <a:extLst>
              <a:ext uri="{FF2B5EF4-FFF2-40B4-BE49-F238E27FC236}">
                <a16:creationId xmlns:a16="http://schemas.microsoft.com/office/drawing/2014/main" id="{0E8A86E6-9D41-8489-8FCA-110844023CAF}"/>
              </a:ext>
            </a:extLst>
          </p:cNvPr>
          <p:cNvSpPr/>
          <p:nvPr/>
        </p:nvSpPr>
        <p:spPr>
          <a:xfrm>
            <a:off x="2741970" y="4246410"/>
            <a:ext cx="1347019" cy="307777"/>
          </a:xfrm>
          <a:prstGeom prst="rect">
            <a:avLst/>
          </a:prstGeom>
          <a:solidFill>
            <a:schemeClr val="accent1">
              <a:lumMod val="7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err="1"/>
              <a:t>customers</a:t>
            </a:r>
            <a:endParaRPr lang="fr-FR" dirty="0"/>
          </a:p>
        </p:txBody>
      </p:sp>
      <p:sp>
        <p:nvSpPr>
          <p:cNvPr id="11" name="Rectangle 10">
            <a:extLst>
              <a:ext uri="{FF2B5EF4-FFF2-40B4-BE49-F238E27FC236}">
                <a16:creationId xmlns:a16="http://schemas.microsoft.com/office/drawing/2014/main" id="{D9906252-DB31-397C-5468-54B59A12A437}"/>
              </a:ext>
            </a:extLst>
          </p:cNvPr>
          <p:cNvSpPr/>
          <p:nvPr/>
        </p:nvSpPr>
        <p:spPr>
          <a:xfrm>
            <a:off x="5101713" y="4278468"/>
            <a:ext cx="1347019" cy="307777"/>
          </a:xfrm>
          <a:prstGeom prst="rect">
            <a:avLst/>
          </a:prstGeom>
          <a:solidFill>
            <a:schemeClr val="accent1">
              <a:lumMod val="7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transactions</a:t>
            </a:r>
          </a:p>
        </p:txBody>
      </p:sp>
      <p:sp>
        <p:nvSpPr>
          <p:cNvPr id="12" name="Rectangle 11">
            <a:extLst>
              <a:ext uri="{FF2B5EF4-FFF2-40B4-BE49-F238E27FC236}">
                <a16:creationId xmlns:a16="http://schemas.microsoft.com/office/drawing/2014/main" id="{C15810BB-FDD0-0E1C-A6DD-F9D9C96895E4}"/>
              </a:ext>
            </a:extLst>
          </p:cNvPr>
          <p:cNvSpPr/>
          <p:nvPr/>
        </p:nvSpPr>
        <p:spPr>
          <a:xfrm>
            <a:off x="7766254" y="4278467"/>
            <a:ext cx="1347019" cy="307777"/>
          </a:xfrm>
          <a:prstGeom prst="rect">
            <a:avLst/>
          </a:prstGeom>
          <a:solidFill>
            <a:schemeClr val="accent1">
              <a:lumMod val="7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err="1"/>
              <a:t>products</a:t>
            </a:r>
            <a:endParaRPr lang="fr-FR" dirty="0"/>
          </a:p>
        </p:txBody>
      </p:sp>
      <p:cxnSp>
        <p:nvCxnSpPr>
          <p:cNvPr id="13" name="Connecteur : en angle 12">
            <a:extLst>
              <a:ext uri="{FF2B5EF4-FFF2-40B4-BE49-F238E27FC236}">
                <a16:creationId xmlns:a16="http://schemas.microsoft.com/office/drawing/2014/main" id="{297163E0-87F9-077A-9F3D-E79EF95252FA}"/>
              </a:ext>
            </a:extLst>
          </p:cNvPr>
          <p:cNvCxnSpPr>
            <a:endCxn id="7" idx="3"/>
          </p:cNvCxnSpPr>
          <p:nvPr/>
        </p:nvCxnSpPr>
        <p:spPr>
          <a:xfrm rot="10800000">
            <a:off x="4088991" y="4712371"/>
            <a:ext cx="1012723" cy="21544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Connecteur : en angle 13">
            <a:extLst>
              <a:ext uri="{FF2B5EF4-FFF2-40B4-BE49-F238E27FC236}">
                <a16:creationId xmlns:a16="http://schemas.microsoft.com/office/drawing/2014/main" id="{F8DF2E7F-4C0C-D89A-FEBE-1965A7BE35BF}"/>
              </a:ext>
            </a:extLst>
          </p:cNvPr>
          <p:cNvCxnSpPr>
            <a:cxnSpLocks/>
            <a:endCxn id="9" idx="1"/>
          </p:cNvCxnSpPr>
          <p:nvPr/>
        </p:nvCxnSpPr>
        <p:spPr>
          <a:xfrm flipV="1">
            <a:off x="6448731" y="4708077"/>
            <a:ext cx="1317523" cy="39609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ZoneTexte 14">
            <a:extLst>
              <a:ext uri="{FF2B5EF4-FFF2-40B4-BE49-F238E27FC236}">
                <a16:creationId xmlns:a16="http://schemas.microsoft.com/office/drawing/2014/main" id="{39919CF8-DBF1-1B21-D93C-7419FACED3E5}"/>
              </a:ext>
            </a:extLst>
          </p:cNvPr>
          <p:cNvSpPr txBox="1"/>
          <p:nvPr/>
        </p:nvSpPr>
        <p:spPr>
          <a:xfrm>
            <a:off x="8021893" y="5738423"/>
            <a:ext cx="942624" cy="307777"/>
          </a:xfrm>
          <a:prstGeom prst="rect">
            <a:avLst/>
          </a:prstGeom>
          <a:noFill/>
        </p:spPr>
        <p:txBody>
          <a:bodyPr wrap="square" rtlCol="0">
            <a:spAutoFit/>
          </a:bodyPr>
          <a:lstStyle/>
          <a:p>
            <a:r>
              <a:rPr lang="fr-FR" sz="1400" dirty="0"/>
              <a:t>(3287,3)</a:t>
            </a:r>
          </a:p>
        </p:txBody>
      </p:sp>
      <p:sp>
        <p:nvSpPr>
          <p:cNvPr id="16" name="ZoneTexte 15">
            <a:extLst>
              <a:ext uri="{FF2B5EF4-FFF2-40B4-BE49-F238E27FC236}">
                <a16:creationId xmlns:a16="http://schemas.microsoft.com/office/drawing/2014/main" id="{075C2766-439C-C6D6-7022-D74BC796CD7D}"/>
              </a:ext>
            </a:extLst>
          </p:cNvPr>
          <p:cNvSpPr txBox="1"/>
          <p:nvPr/>
        </p:nvSpPr>
        <p:spPr>
          <a:xfrm>
            <a:off x="5200034" y="5726100"/>
            <a:ext cx="1067645" cy="307777"/>
          </a:xfrm>
          <a:prstGeom prst="rect">
            <a:avLst/>
          </a:prstGeom>
          <a:noFill/>
        </p:spPr>
        <p:txBody>
          <a:bodyPr wrap="square" rtlCol="0">
            <a:spAutoFit/>
          </a:bodyPr>
          <a:lstStyle/>
          <a:p>
            <a:r>
              <a:rPr lang="fr-FR" sz="1400" dirty="0"/>
              <a:t>(679532,4)</a:t>
            </a:r>
          </a:p>
        </p:txBody>
      </p:sp>
      <p:sp>
        <p:nvSpPr>
          <p:cNvPr id="17" name="ZoneTexte 16">
            <a:extLst>
              <a:ext uri="{FF2B5EF4-FFF2-40B4-BE49-F238E27FC236}">
                <a16:creationId xmlns:a16="http://schemas.microsoft.com/office/drawing/2014/main" id="{82ED395D-AE33-B5C7-7447-C8590F740EF2}"/>
              </a:ext>
            </a:extLst>
          </p:cNvPr>
          <p:cNvSpPr txBox="1"/>
          <p:nvPr/>
        </p:nvSpPr>
        <p:spPr>
          <a:xfrm>
            <a:off x="2995489" y="5726099"/>
            <a:ext cx="839979" cy="307777"/>
          </a:xfrm>
          <a:prstGeom prst="rect">
            <a:avLst/>
          </a:prstGeom>
          <a:noFill/>
        </p:spPr>
        <p:txBody>
          <a:bodyPr wrap="square" rtlCol="0">
            <a:spAutoFit/>
          </a:bodyPr>
          <a:lstStyle/>
          <a:p>
            <a:r>
              <a:rPr lang="fr-FR" sz="1400" dirty="0"/>
              <a:t>(8623,3)</a:t>
            </a:r>
          </a:p>
        </p:txBody>
      </p:sp>
      <p:pic>
        <p:nvPicPr>
          <p:cNvPr id="1026" name="Picture 2">
            <a:extLst>
              <a:ext uri="{FF2B5EF4-FFF2-40B4-BE49-F238E27FC236}">
                <a16:creationId xmlns:a16="http://schemas.microsoft.com/office/drawing/2014/main" id="{3A505F5D-56D6-58EC-46E3-D8725669D9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4964" y="3584687"/>
            <a:ext cx="852716" cy="5212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9502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D20CE2C-5938-49CB-9CD9-E40474BAA95F}"/>
              </a:ext>
            </a:extLst>
          </p:cNvPr>
          <p:cNvSpPr>
            <a:spLocks noGrp="1"/>
          </p:cNvSpPr>
          <p:nvPr>
            <p:ph type="title"/>
          </p:nvPr>
        </p:nvSpPr>
        <p:spPr/>
        <p:txBody>
          <a:bodyPr/>
          <a:lstStyle/>
          <a:p>
            <a:r>
              <a:rPr lang="fr-FR" dirty="0"/>
              <a:t>Identification des anomalies des données</a:t>
            </a:r>
          </a:p>
        </p:txBody>
      </p:sp>
      <p:sp>
        <p:nvSpPr>
          <p:cNvPr id="3" name="Espace réservé du contenu 2">
            <a:extLst>
              <a:ext uri="{FF2B5EF4-FFF2-40B4-BE49-F238E27FC236}">
                <a16:creationId xmlns:a16="http://schemas.microsoft.com/office/drawing/2014/main" id="{862DF582-F627-795C-7CA4-5C0166E0FE5D}"/>
              </a:ext>
            </a:extLst>
          </p:cNvPr>
          <p:cNvSpPr>
            <a:spLocks noGrp="1"/>
          </p:cNvSpPr>
          <p:nvPr>
            <p:ph idx="1"/>
          </p:nvPr>
        </p:nvSpPr>
        <p:spPr/>
        <p:txBody>
          <a:bodyPr/>
          <a:lstStyle/>
          <a:p>
            <a:pPr lvl="1"/>
            <a:r>
              <a:rPr lang="fr-FR" dirty="0"/>
              <a:t>Retrait dans la table « </a:t>
            </a:r>
            <a:r>
              <a:rPr lang="fr-FR" dirty="0" err="1"/>
              <a:t>Customers</a:t>
            </a:r>
            <a:r>
              <a:rPr lang="fr-FR" dirty="0"/>
              <a:t> » :</a:t>
            </a:r>
          </a:p>
          <a:p>
            <a:pPr lvl="2"/>
            <a:r>
              <a:rPr lang="fr-FR" dirty="0"/>
              <a:t>2 clients tests (ct_0 et ct_1) </a:t>
            </a:r>
          </a:p>
          <a:p>
            <a:pPr lvl="1"/>
            <a:r>
              <a:rPr lang="fr-FR" dirty="0"/>
              <a:t>Retrait dans table « Product » :</a:t>
            </a:r>
          </a:p>
          <a:p>
            <a:pPr lvl="2"/>
            <a:r>
              <a:rPr lang="fr-FR" dirty="0"/>
              <a:t>1 produit à prix négatif « T_0 » de test</a:t>
            </a:r>
          </a:p>
          <a:p>
            <a:pPr lvl="1"/>
            <a:r>
              <a:rPr lang="fr-FR" dirty="0"/>
              <a:t>Retrait dans table « Transaction » :</a:t>
            </a:r>
          </a:p>
          <a:p>
            <a:pPr lvl="2"/>
            <a:r>
              <a:rPr lang="fr-FR" dirty="0"/>
              <a:t>221 valeurs de test sur la journée du 01/03/2021</a:t>
            </a:r>
          </a:p>
          <a:p>
            <a:pPr lvl="1"/>
            <a:r>
              <a:rPr lang="fr-FR" dirty="0"/>
              <a:t>Dans le </a:t>
            </a:r>
            <a:r>
              <a:rPr lang="fr-FR" dirty="0" err="1"/>
              <a:t>dataFrame</a:t>
            </a:r>
            <a:r>
              <a:rPr lang="fr-FR" dirty="0"/>
              <a:t> mergé :</a:t>
            </a:r>
          </a:p>
          <a:p>
            <a:pPr lvl="2"/>
            <a:r>
              <a:rPr lang="fr-FR" dirty="0"/>
              <a:t>221 prix de catégorie 0 moyennés à 10,63</a:t>
            </a:r>
          </a:p>
          <a:p>
            <a:pPr lvl="2"/>
            <a:r>
              <a:rPr lang="fr-FR" dirty="0"/>
              <a:t>Retrait des clients sans achats</a:t>
            </a:r>
          </a:p>
          <a:p>
            <a:pPr lvl="2"/>
            <a:r>
              <a:rPr lang="fr-FR" dirty="0"/>
              <a:t>Retrait du mois d’octobre car aucune vente des produits de catégorie 1 entre le 1 au 28/10/2021</a:t>
            </a:r>
          </a:p>
          <a:p>
            <a:pPr lvl="2"/>
            <a:r>
              <a:rPr lang="fr-FR" dirty="0"/>
              <a:t>4 Clients atypiques :  « c_1609 »,  « c_4958 », « c_6714 », « c_3454 » retirés pour les calculs statistiques</a:t>
            </a:r>
          </a:p>
          <a:p>
            <a:pPr lvl="2"/>
            <a:endParaRPr lang="fr-FR" dirty="0"/>
          </a:p>
          <a:p>
            <a:pPr marL="457200" lvl="1" indent="0">
              <a:buNone/>
            </a:pPr>
            <a:endParaRPr lang="fr-FR" dirty="0"/>
          </a:p>
          <a:p>
            <a:pPr marL="457200" lvl="1" indent="0">
              <a:buNone/>
            </a:pPr>
            <a:endParaRPr lang="fr-FR" dirty="0"/>
          </a:p>
        </p:txBody>
      </p:sp>
    </p:spTree>
    <p:extLst>
      <p:ext uri="{BB962C8B-B14F-4D97-AF65-F5344CB8AC3E}">
        <p14:creationId xmlns:p14="http://schemas.microsoft.com/office/powerpoint/2010/main" val="32094685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18A4B7F-0966-EE0C-EDDF-C1CA43D230E4}"/>
              </a:ext>
            </a:extLst>
          </p:cNvPr>
          <p:cNvSpPr>
            <a:spLocks noGrp="1"/>
          </p:cNvSpPr>
          <p:nvPr>
            <p:ph type="title"/>
          </p:nvPr>
        </p:nvSpPr>
        <p:spPr/>
        <p:txBody>
          <a:bodyPr/>
          <a:lstStyle/>
          <a:p>
            <a:r>
              <a:rPr lang="fr-FR" dirty="0"/>
              <a:t>Indicateurs de ventes</a:t>
            </a:r>
          </a:p>
        </p:txBody>
      </p:sp>
      <p:sp>
        <p:nvSpPr>
          <p:cNvPr id="3" name="Espace réservé du contenu 2">
            <a:extLst>
              <a:ext uri="{FF2B5EF4-FFF2-40B4-BE49-F238E27FC236}">
                <a16:creationId xmlns:a16="http://schemas.microsoft.com/office/drawing/2014/main" id="{20798D76-8A09-266D-D29E-F0D67A296EB6}"/>
              </a:ext>
            </a:extLst>
          </p:cNvPr>
          <p:cNvSpPr>
            <a:spLocks noGrp="1"/>
          </p:cNvSpPr>
          <p:nvPr>
            <p:ph idx="1"/>
          </p:nvPr>
        </p:nvSpPr>
        <p:spPr>
          <a:xfrm>
            <a:off x="700635" y="785004"/>
            <a:ext cx="10691265" cy="5004356"/>
          </a:xfrm>
        </p:spPr>
        <p:txBody>
          <a:bodyPr/>
          <a:lstStyle/>
          <a:p>
            <a:r>
              <a:rPr lang="fr-FR" sz="2000" dirty="0">
                <a:latin typeface="Calibri" panose="020F0502020204030204" pitchFamily="34" charset="0"/>
              </a:rPr>
              <a:t>Evolution du chiffre d’affaires avec la moyenne mobile (sur 30 jours)</a:t>
            </a:r>
          </a:p>
          <a:p>
            <a:endParaRPr lang="fr-FR" dirty="0"/>
          </a:p>
        </p:txBody>
      </p:sp>
      <p:grpSp>
        <p:nvGrpSpPr>
          <p:cNvPr id="14" name="Groupe 13">
            <a:extLst>
              <a:ext uri="{FF2B5EF4-FFF2-40B4-BE49-F238E27FC236}">
                <a16:creationId xmlns:a16="http://schemas.microsoft.com/office/drawing/2014/main" id="{F41F2F8C-3656-EAA4-C8DA-1564AA5BCD7F}"/>
              </a:ext>
            </a:extLst>
          </p:cNvPr>
          <p:cNvGrpSpPr/>
          <p:nvPr/>
        </p:nvGrpSpPr>
        <p:grpSpPr>
          <a:xfrm>
            <a:off x="7435215" y="1358322"/>
            <a:ext cx="3752850" cy="3489843"/>
            <a:chOff x="7524139" y="1354279"/>
            <a:chExt cx="3967226" cy="4078664"/>
          </a:xfrm>
        </p:grpSpPr>
        <p:pic>
          <p:nvPicPr>
            <p:cNvPr id="6" name="Image 5">
              <a:extLst>
                <a:ext uri="{FF2B5EF4-FFF2-40B4-BE49-F238E27FC236}">
                  <a16:creationId xmlns:a16="http://schemas.microsoft.com/office/drawing/2014/main" id="{A50419B8-3609-BA4C-FF01-832FDD05923E}"/>
                </a:ext>
              </a:extLst>
            </p:cNvPr>
            <p:cNvPicPr>
              <a:picLocks noChangeAspect="1"/>
            </p:cNvPicPr>
            <p:nvPr/>
          </p:nvPicPr>
          <p:blipFill>
            <a:blip r:embed="rId2"/>
            <a:stretch>
              <a:fillRect/>
            </a:stretch>
          </p:blipFill>
          <p:spPr>
            <a:xfrm>
              <a:off x="7524139" y="1354279"/>
              <a:ext cx="3967226" cy="4078664"/>
            </a:xfrm>
            <a:prstGeom prst="rect">
              <a:avLst/>
            </a:prstGeom>
          </p:spPr>
        </p:pic>
        <p:cxnSp>
          <p:nvCxnSpPr>
            <p:cNvPr id="8" name="Connecteur droit 7">
              <a:extLst>
                <a:ext uri="{FF2B5EF4-FFF2-40B4-BE49-F238E27FC236}">
                  <a16:creationId xmlns:a16="http://schemas.microsoft.com/office/drawing/2014/main" id="{CE651FD1-EAB4-7600-2B2D-EEA79D745B33}"/>
                </a:ext>
              </a:extLst>
            </p:cNvPr>
            <p:cNvCxnSpPr>
              <a:cxnSpLocks/>
            </p:cNvCxnSpPr>
            <p:nvPr/>
          </p:nvCxnSpPr>
          <p:spPr>
            <a:xfrm>
              <a:off x="9677400" y="4335564"/>
              <a:ext cx="0" cy="843309"/>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cxnSp>
          <p:nvCxnSpPr>
            <p:cNvPr id="9" name="Connecteur droit 8">
              <a:extLst>
                <a:ext uri="{FF2B5EF4-FFF2-40B4-BE49-F238E27FC236}">
                  <a16:creationId xmlns:a16="http://schemas.microsoft.com/office/drawing/2014/main" id="{EFAAA499-A9F7-D1A6-6206-1D751BE82D44}"/>
                </a:ext>
              </a:extLst>
            </p:cNvPr>
            <p:cNvCxnSpPr>
              <a:cxnSpLocks/>
            </p:cNvCxnSpPr>
            <p:nvPr/>
          </p:nvCxnSpPr>
          <p:spPr>
            <a:xfrm flipH="1">
              <a:off x="7877175" y="4350198"/>
              <a:ext cx="1800225" cy="0"/>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grpSp>
      <p:sp>
        <p:nvSpPr>
          <p:cNvPr id="15" name="Rectangle : coins arrondis 14">
            <a:extLst>
              <a:ext uri="{FF2B5EF4-FFF2-40B4-BE49-F238E27FC236}">
                <a16:creationId xmlns:a16="http://schemas.microsoft.com/office/drawing/2014/main" id="{79B546F2-CB72-19AC-0752-18CEBBF5D9BF}"/>
              </a:ext>
            </a:extLst>
          </p:cNvPr>
          <p:cNvSpPr/>
          <p:nvPr/>
        </p:nvSpPr>
        <p:spPr>
          <a:xfrm>
            <a:off x="827383" y="5053781"/>
            <a:ext cx="10724106" cy="1019215"/>
          </a:xfrm>
          <a:prstGeom prst="round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Evolution constante du chiffre d'affaires</a:t>
            </a:r>
          </a:p>
          <a:p>
            <a:pPr algn="ctr"/>
            <a:r>
              <a:rPr lang="fr-FR" dirty="0"/>
              <a:t>Répartition inégale : 50 % des clients ne génèrent que 20 % du chiffre d’affaires.</a:t>
            </a:r>
          </a:p>
          <a:p>
            <a:pPr algn="ctr"/>
            <a:r>
              <a:rPr lang="fr-FR" dirty="0"/>
              <a:t>4 clients atypiques représentent 7,43% du chiffres d’affaires. Indice de Gini </a:t>
            </a:r>
          </a:p>
        </p:txBody>
      </p:sp>
      <p:pic>
        <p:nvPicPr>
          <p:cNvPr id="11" name="Image 10">
            <a:extLst>
              <a:ext uri="{FF2B5EF4-FFF2-40B4-BE49-F238E27FC236}">
                <a16:creationId xmlns:a16="http://schemas.microsoft.com/office/drawing/2014/main" id="{04F46F02-B8B3-7276-661F-64C38D4EFA3F}"/>
              </a:ext>
            </a:extLst>
          </p:cNvPr>
          <p:cNvPicPr>
            <a:picLocks noChangeAspect="1"/>
          </p:cNvPicPr>
          <p:nvPr/>
        </p:nvPicPr>
        <p:blipFill>
          <a:blip r:embed="rId3"/>
          <a:stretch>
            <a:fillRect/>
          </a:stretch>
        </p:blipFill>
        <p:spPr>
          <a:xfrm>
            <a:off x="638791" y="1195474"/>
            <a:ext cx="6420770" cy="3769075"/>
          </a:xfrm>
          <a:prstGeom prst="rect">
            <a:avLst/>
          </a:prstGeom>
        </p:spPr>
      </p:pic>
    </p:spTree>
    <p:extLst>
      <p:ext uri="{BB962C8B-B14F-4D97-AF65-F5344CB8AC3E}">
        <p14:creationId xmlns:p14="http://schemas.microsoft.com/office/powerpoint/2010/main" val="1482552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05CF6-2743-A98D-B370-D70E76BEFBB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F6A2D74-C83C-DFC0-90BC-0EA79F11A80B}"/>
              </a:ext>
            </a:extLst>
          </p:cNvPr>
          <p:cNvSpPr>
            <a:spLocks noGrp="1"/>
          </p:cNvSpPr>
          <p:nvPr>
            <p:ph type="title"/>
          </p:nvPr>
        </p:nvSpPr>
        <p:spPr/>
        <p:txBody>
          <a:bodyPr/>
          <a:lstStyle/>
          <a:p>
            <a:r>
              <a:rPr lang="fr-FR" dirty="0"/>
              <a:t>Indicateurs de ventes</a:t>
            </a:r>
          </a:p>
        </p:txBody>
      </p:sp>
      <p:sp>
        <p:nvSpPr>
          <p:cNvPr id="3" name="Espace réservé du contenu 2">
            <a:extLst>
              <a:ext uri="{FF2B5EF4-FFF2-40B4-BE49-F238E27FC236}">
                <a16:creationId xmlns:a16="http://schemas.microsoft.com/office/drawing/2014/main" id="{2EE4BC4F-B008-FB00-B17C-99AB01C93A2C}"/>
              </a:ext>
            </a:extLst>
          </p:cNvPr>
          <p:cNvSpPr>
            <a:spLocks noGrp="1"/>
          </p:cNvSpPr>
          <p:nvPr>
            <p:ph idx="1"/>
          </p:nvPr>
        </p:nvSpPr>
        <p:spPr/>
        <p:txBody>
          <a:bodyPr/>
          <a:lstStyle/>
          <a:p>
            <a:r>
              <a:rPr lang="fr-FR" dirty="0"/>
              <a:t>Chiffre d’affaires par catégorie</a:t>
            </a:r>
          </a:p>
        </p:txBody>
      </p:sp>
      <p:sp>
        <p:nvSpPr>
          <p:cNvPr id="15" name="Rectangle : coins arrondis 14">
            <a:extLst>
              <a:ext uri="{FF2B5EF4-FFF2-40B4-BE49-F238E27FC236}">
                <a16:creationId xmlns:a16="http://schemas.microsoft.com/office/drawing/2014/main" id="{540B6F56-4AFE-D5B4-0BD8-52A229B9CCE8}"/>
              </a:ext>
            </a:extLst>
          </p:cNvPr>
          <p:cNvSpPr/>
          <p:nvPr/>
        </p:nvSpPr>
        <p:spPr>
          <a:xfrm>
            <a:off x="1246780" y="4988369"/>
            <a:ext cx="10030820" cy="973519"/>
          </a:xfrm>
          <a:prstGeom prst="round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60% des ventes de catégorie 0, mais ne représentent que 36% du chiffre d'affaires</a:t>
            </a:r>
          </a:p>
        </p:txBody>
      </p:sp>
      <p:pic>
        <p:nvPicPr>
          <p:cNvPr id="5" name="Image 4">
            <a:extLst>
              <a:ext uri="{FF2B5EF4-FFF2-40B4-BE49-F238E27FC236}">
                <a16:creationId xmlns:a16="http://schemas.microsoft.com/office/drawing/2014/main" id="{2D1A7131-E76B-D167-9BD1-CDA9FF228B26}"/>
              </a:ext>
            </a:extLst>
          </p:cNvPr>
          <p:cNvPicPr>
            <a:picLocks noChangeAspect="1"/>
          </p:cNvPicPr>
          <p:nvPr/>
        </p:nvPicPr>
        <p:blipFill>
          <a:blip r:embed="rId2"/>
          <a:stretch>
            <a:fillRect/>
          </a:stretch>
        </p:blipFill>
        <p:spPr>
          <a:xfrm>
            <a:off x="3422705" y="1575628"/>
            <a:ext cx="4204103" cy="3257629"/>
          </a:xfrm>
          <a:prstGeom prst="rect">
            <a:avLst/>
          </a:prstGeom>
        </p:spPr>
      </p:pic>
      <p:pic>
        <p:nvPicPr>
          <p:cNvPr id="4" name="Image 3">
            <a:extLst>
              <a:ext uri="{FF2B5EF4-FFF2-40B4-BE49-F238E27FC236}">
                <a16:creationId xmlns:a16="http://schemas.microsoft.com/office/drawing/2014/main" id="{76E2E731-B587-0C25-2AC5-7525222D4CAB}"/>
              </a:ext>
            </a:extLst>
          </p:cNvPr>
          <p:cNvPicPr>
            <a:picLocks noChangeAspect="1"/>
          </p:cNvPicPr>
          <p:nvPr/>
        </p:nvPicPr>
        <p:blipFill>
          <a:blip r:embed="rId3"/>
          <a:stretch>
            <a:fillRect/>
          </a:stretch>
        </p:blipFill>
        <p:spPr>
          <a:xfrm>
            <a:off x="8257671" y="1734462"/>
            <a:ext cx="3233694" cy="3059514"/>
          </a:xfrm>
          <a:prstGeom prst="rect">
            <a:avLst/>
          </a:prstGeom>
        </p:spPr>
      </p:pic>
      <p:pic>
        <p:nvPicPr>
          <p:cNvPr id="7" name="Image 6">
            <a:extLst>
              <a:ext uri="{FF2B5EF4-FFF2-40B4-BE49-F238E27FC236}">
                <a16:creationId xmlns:a16="http://schemas.microsoft.com/office/drawing/2014/main" id="{65CC356C-CBAE-2C99-0EA0-0079DAC4B27E}"/>
              </a:ext>
            </a:extLst>
          </p:cNvPr>
          <p:cNvPicPr>
            <a:picLocks noChangeAspect="1"/>
          </p:cNvPicPr>
          <p:nvPr/>
        </p:nvPicPr>
        <p:blipFill>
          <a:blip r:embed="rId4"/>
          <a:stretch>
            <a:fillRect/>
          </a:stretch>
        </p:blipFill>
        <p:spPr>
          <a:xfrm>
            <a:off x="246968" y="1420516"/>
            <a:ext cx="3175737" cy="3096012"/>
          </a:xfrm>
          <a:prstGeom prst="rect">
            <a:avLst/>
          </a:prstGeom>
        </p:spPr>
      </p:pic>
    </p:spTree>
    <p:extLst>
      <p:ext uri="{BB962C8B-B14F-4D97-AF65-F5344CB8AC3E}">
        <p14:creationId xmlns:p14="http://schemas.microsoft.com/office/powerpoint/2010/main" val="7427048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22C38-A6FE-8583-8A7F-45E60B06E66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D8C4914-0E3F-2B32-AC0E-0E50F73C12A9}"/>
              </a:ext>
            </a:extLst>
          </p:cNvPr>
          <p:cNvSpPr>
            <a:spLocks noGrp="1"/>
          </p:cNvSpPr>
          <p:nvPr>
            <p:ph type="title"/>
          </p:nvPr>
        </p:nvSpPr>
        <p:spPr/>
        <p:txBody>
          <a:bodyPr/>
          <a:lstStyle/>
          <a:p>
            <a:r>
              <a:rPr lang="fr-FR" dirty="0"/>
              <a:t>Indicateurs de ventes</a:t>
            </a:r>
          </a:p>
        </p:txBody>
      </p:sp>
      <p:sp>
        <p:nvSpPr>
          <p:cNvPr id="3" name="Espace réservé du contenu 2">
            <a:extLst>
              <a:ext uri="{FF2B5EF4-FFF2-40B4-BE49-F238E27FC236}">
                <a16:creationId xmlns:a16="http://schemas.microsoft.com/office/drawing/2014/main" id="{9931F78B-7B93-9D0A-8DF7-F1085B8285B1}"/>
              </a:ext>
            </a:extLst>
          </p:cNvPr>
          <p:cNvSpPr>
            <a:spLocks noGrp="1"/>
          </p:cNvSpPr>
          <p:nvPr>
            <p:ph idx="1"/>
          </p:nvPr>
        </p:nvSpPr>
        <p:spPr/>
        <p:txBody>
          <a:bodyPr/>
          <a:lstStyle/>
          <a:p>
            <a:r>
              <a:rPr lang="fr-FR" dirty="0"/>
              <a:t>Nombre de clients par mois</a:t>
            </a:r>
          </a:p>
        </p:txBody>
      </p:sp>
      <p:sp>
        <p:nvSpPr>
          <p:cNvPr id="6" name="Rectangle : coins arrondis 5">
            <a:extLst>
              <a:ext uri="{FF2B5EF4-FFF2-40B4-BE49-F238E27FC236}">
                <a16:creationId xmlns:a16="http://schemas.microsoft.com/office/drawing/2014/main" id="{0429321B-81D6-ED9E-44FD-D5274E42C1B9}"/>
              </a:ext>
            </a:extLst>
          </p:cNvPr>
          <p:cNvSpPr/>
          <p:nvPr/>
        </p:nvSpPr>
        <p:spPr>
          <a:xfrm>
            <a:off x="8496300" y="1462020"/>
            <a:ext cx="3314242" cy="3326290"/>
          </a:xfrm>
          <a:prstGeom prst="round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fr-FR" dirty="0"/>
              <a:t>Progression constante du nombre de client par mois, malgré une chute du nombre de client sur le mois d’Octobre 2021.</a:t>
            </a:r>
          </a:p>
          <a:p>
            <a:pPr algn="ctr"/>
            <a:endParaRPr lang="fr-FR" dirty="0"/>
          </a:p>
          <a:p>
            <a:pPr algn="ctr"/>
            <a:r>
              <a:rPr lang="fr-FR" dirty="0"/>
              <a:t>Cette anomalie est très certainement occasionnée par un bug des valeurs remontés sur octobre</a:t>
            </a:r>
          </a:p>
        </p:txBody>
      </p:sp>
      <p:pic>
        <p:nvPicPr>
          <p:cNvPr id="5" name="Image 4">
            <a:extLst>
              <a:ext uri="{FF2B5EF4-FFF2-40B4-BE49-F238E27FC236}">
                <a16:creationId xmlns:a16="http://schemas.microsoft.com/office/drawing/2014/main" id="{81427DC2-B285-42E4-539A-0A6AB407075D}"/>
              </a:ext>
            </a:extLst>
          </p:cNvPr>
          <p:cNvPicPr>
            <a:picLocks noChangeAspect="1"/>
          </p:cNvPicPr>
          <p:nvPr/>
        </p:nvPicPr>
        <p:blipFill>
          <a:blip r:embed="rId2"/>
          <a:stretch>
            <a:fillRect/>
          </a:stretch>
        </p:blipFill>
        <p:spPr>
          <a:xfrm>
            <a:off x="381458" y="1462020"/>
            <a:ext cx="7926303" cy="3796365"/>
          </a:xfrm>
          <a:prstGeom prst="rect">
            <a:avLst/>
          </a:prstGeom>
        </p:spPr>
      </p:pic>
    </p:spTree>
    <p:extLst>
      <p:ext uri="{BB962C8B-B14F-4D97-AF65-F5344CB8AC3E}">
        <p14:creationId xmlns:p14="http://schemas.microsoft.com/office/powerpoint/2010/main" val="1147769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BFECD-EDF4-A4A8-629F-48DBCAC28F4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567B254-A1B4-BAA1-E96F-D4923CD4E898}"/>
              </a:ext>
            </a:extLst>
          </p:cNvPr>
          <p:cNvSpPr>
            <a:spLocks noGrp="1"/>
          </p:cNvSpPr>
          <p:nvPr>
            <p:ph type="title"/>
          </p:nvPr>
        </p:nvSpPr>
        <p:spPr/>
        <p:txBody>
          <a:bodyPr/>
          <a:lstStyle/>
          <a:p>
            <a:r>
              <a:rPr lang="fr-FR" dirty="0"/>
              <a:t>Indicateurs de ventes</a:t>
            </a:r>
          </a:p>
        </p:txBody>
      </p:sp>
      <p:sp>
        <p:nvSpPr>
          <p:cNvPr id="3" name="Espace réservé du contenu 2">
            <a:extLst>
              <a:ext uri="{FF2B5EF4-FFF2-40B4-BE49-F238E27FC236}">
                <a16:creationId xmlns:a16="http://schemas.microsoft.com/office/drawing/2014/main" id="{B7C5E7B5-47E6-735B-5AE6-E77DCF557CD1}"/>
              </a:ext>
            </a:extLst>
          </p:cNvPr>
          <p:cNvSpPr>
            <a:spLocks noGrp="1"/>
          </p:cNvSpPr>
          <p:nvPr>
            <p:ph idx="1"/>
          </p:nvPr>
        </p:nvSpPr>
        <p:spPr/>
        <p:txBody>
          <a:bodyPr/>
          <a:lstStyle/>
          <a:p>
            <a:r>
              <a:rPr lang="fr-FR" dirty="0"/>
              <a:t>Nombre de transactions</a:t>
            </a:r>
          </a:p>
        </p:txBody>
      </p:sp>
      <p:sp>
        <p:nvSpPr>
          <p:cNvPr id="10" name="Rectangle : coins arrondis 9">
            <a:extLst>
              <a:ext uri="{FF2B5EF4-FFF2-40B4-BE49-F238E27FC236}">
                <a16:creationId xmlns:a16="http://schemas.microsoft.com/office/drawing/2014/main" id="{FF3CF26D-F716-4B43-66E1-C1820349DB01}"/>
              </a:ext>
            </a:extLst>
          </p:cNvPr>
          <p:cNvSpPr/>
          <p:nvPr/>
        </p:nvSpPr>
        <p:spPr>
          <a:xfrm>
            <a:off x="8496300" y="1533831"/>
            <a:ext cx="3314242" cy="2066619"/>
          </a:xfrm>
          <a:prstGeom prst="round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Progression constante au globale du nombre de transaction sur les 3 dernières années</a:t>
            </a:r>
          </a:p>
        </p:txBody>
      </p:sp>
      <p:pic>
        <p:nvPicPr>
          <p:cNvPr id="5" name="Image 4">
            <a:extLst>
              <a:ext uri="{FF2B5EF4-FFF2-40B4-BE49-F238E27FC236}">
                <a16:creationId xmlns:a16="http://schemas.microsoft.com/office/drawing/2014/main" id="{5D5E3603-CF4F-5049-0269-4F57540A7B5C}"/>
              </a:ext>
            </a:extLst>
          </p:cNvPr>
          <p:cNvPicPr>
            <a:picLocks noChangeAspect="1"/>
          </p:cNvPicPr>
          <p:nvPr/>
        </p:nvPicPr>
        <p:blipFill>
          <a:blip r:embed="rId2"/>
          <a:stretch>
            <a:fillRect/>
          </a:stretch>
        </p:blipFill>
        <p:spPr>
          <a:xfrm>
            <a:off x="624956" y="1408973"/>
            <a:ext cx="7378502" cy="4382956"/>
          </a:xfrm>
          <a:prstGeom prst="rect">
            <a:avLst/>
          </a:prstGeom>
        </p:spPr>
      </p:pic>
    </p:spTree>
    <p:extLst>
      <p:ext uri="{BB962C8B-B14F-4D97-AF65-F5344CB8AC3E}">
        <p14:creationId xmlns:p14="http://schemas.microsoft.com/office/powerpoint/2010/main" val="31141101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BAF55-3166-5727-71A9-C62D873BA62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E6F015F-D4CA-4243-378D-D751B3079ACB}"/>
              </a:ext>
            </a:extLst>
          </p:cNvPr>
          <p:cNvSpPr>
            <a:spLocks noGrp="1"/>
          </p:cNvSpPr>
          <p:nvPr>
            <p:ph type="title"/>
          </p:nvPr>
        </p:nvSpPr>
        <p:spPr/>
        <p:txBody>
          <a:bodyPr/>
          <a:lstStyle/>
          <a:p>
            <a:r>
              <a:rPr lang="fr-FR" dirty="0"/>
              <a:t>Indicateurs de ventes</a:t>
            </a:r>
          </a:p>
        </p:txBody>
      </p:sp>
      <p:sp>
        <p:nvSpPr>
          <p:cNvPr id="3" name="Espace réservé du contenu 2">
            <a:extLst>
              <a:ext uri="{FF2B5EF4-FFF2-40B4-BE49-F238E27FC236}">
                <a16:creationId xmlns:a16="http://schemas.microsoft.com/office/drawing/2014/main" id="{B1BB1B96-D42C-CB1F-8FF9-5BBB4EF20E7C}"/>
              </a:ext>
            </a:extLst>
          </p:cNvPr>
          <p:cNvSpPr>
            <a:spLocks noGrp="1"/>
          </p:cNvSpPr>
          <p:nvPr>
            <p:ph idx="1"/>
          </p:nvPr>
        </p:nvSpPr>
        <p:spPr/>
        <p:txBody>
          <a:bodyPr/>
          <a:lstStyle/>
          <a:p>
            <a:r>
              <a:rPr lang="fr-FR" dirty="0"/>
              <a:t>Nombre de produits vendus par mois (TOP / FLOP / Répartition par Catégories)</a:t>
            </a:r>
          </a:p>
        </p:txBody>
      </p:sp>
      <p:graphicFrame>
        <p:nvGraphicFramePr>
          <p:cNvPr id="7" name="Tableau 6">
            <a:extLst>
              <a:ext uri="{FF2B5EF4-FFF2-40B4-BE49-F238E27FC236}">
                <a16:creationId xmlns:a16="http://schemas.microsoft.com/office/drawing/2014/main" id="{8B1964AF-1012-EADC-67A0-FBAD48A51419}"/>
              </a:ext>
            </a:extLst>
          </p:cNvPr>
          <p:cNvGraphicFramePr>
            <a:graphicFrameLocks noGrp="1"/>
          </p:cNvGraphicFramePr>
          <p:nvPr>
            <p:extLst>
              <p:ext uri="{D42A27DB-BD31-4B8C-83A1-F6EECF244321}">
                <p14:modId xmlns:p14="http://schemas.microsoft.com/office/powerpoint/2010/main" val="3358579386"/>
              </p:ext>
            </p:extLst>
          </p:nvPr>
        </p:nvGraphicFramePr>
        <p:xfrm>
          <a:off x="5252980" y="1758010"/>
          <a:ext cx="1213076" cy="3839394"/>
        </p:xfrm>
        <a:graphic>
          <a:graphicData uri="http://schemas.openxmlformats.org/drawingml/2006/table">
            <a:tbl>
              <a:tblPr/>
              <a:tblGrid>
                <a:gridCol w="436620">
                  <a:extLst>
                    <a:ext uri="{9D8B030D-6E8A-4147-A177-3AD203B41FA5}">
                      <a16:colId xmlns:a16="http://schemas.microsoft.com/office/drawing/2014/main" val="3169069336"/>
                    </a:ext>
                  </a:extLst>
                </a:gridCol>
                <a:gridCol w="776456">
                  <a:extLst>
                    <a:ext uri="{9D8B030D-6E8A-4147-A177-3AD203B41FA5}">
                      <a16:colId xmlns:a16="http://schemas.microsoft.com/office/drawing/2014/main" val="3400002400"/>
                    </a:ext>
                  </a:extLst>
                </a:gridCol>
              </a:tblGrid>
              <a:tr h="287704">
                <a:tc>
                  <a:txBody>
                    <a:bodyPr/>
                    <a:lstStyle/>
                    <a:p>
                      <a:pPr algn="l" fontAlgn="ctr"/>
                      <a:r>
                        <a:rPr lang="fr-FR" sz="800" b="1" dirty="0">
                          <a:effectLst/>
                        </a:rPr>
                        <a:t>Product ID</a:t>
                      </a:r>
                    </a:p>
                  </a:txBody>
                  <a:tcPr marL="41101" marR="41101" marT="20550" marB="20550" anchor="ctr">
                    <a:lnL>
                      <a:noFill/>
                    </a:lnL>
                    <a:lnR>
                      <a:noFill/>
                    </a:lnR>
                    <a:lnT>
                      <a:noFill/>
                    </a:lnT>
                    <a:lnB>
                      <a:noFill/>
                    </a:lnB>
                    <a:solidFill>
                      <a:srgbClr val="8ACEEA"/>
                    </a:solidFill>
                  </a:tcPr>
                </a:tc>
                <a:tc>
                  <a:txBody>
                    <a:bodyPr/>
                    <a:lstStyle/>
                    <a:p>
                      <a:pPr algn="l" fontAlgn="ctr"/>
                      <a:r>
                        <a:rPr lang="fr-FR" sz="800" b="1" dirty="0">
                          <a:effectLst/>
                        </a:rPr>
                        <a:t>Nb Ventes</a:t>
                      </a:r>
                    </a:p>
                  </a:txBody>
                  <a:tcPr marL="41101" marR="41101" marT="20550" marB="20550" anchor="ctr">
                    <a:lnL>
                      <a:noFill/>
                    </a:lnL>
                    <a:lnR>
                      <a:noFill/>
                    </a:lnR>
                    <a:lnT>
                      <a:noFill/>
                    </a:lnT>
                    <a:lnB>
                      <a:noFill/>
                    </a:lnB>
                    <a:solidFill>
                      <a:srgbClr val="8ACEEA"/>
                    </a:solidFill>
                  </a:tcPr>
                </a:tc>
                <a:extLst>
                  <a:ext uri="{0D108BD9-81ED-4DB2-BD59-A6C34878D82A}">
                    <a16:rowId xmlns:a16="http://schemas.microsoft.com/office/drawing/2014/main" val="1675092816"/>
                  </a:ext>
                </a:extLst>
              </a:tr>
              <a:tr h="164402">
                <a:tc>
                  <a:txBody>
                    <a:bodyPr/>
                    <a:lstStyle/>
                    <a:p>
                      <a:pPr algn="l" fontAlgn="ctr"/>
                      <a:r>
                        <a:rPr lang="fr-FR" sz="800" dirty="0">
                          <a:effectLst/>
                        </a:rPr>
                        <a:t>0_1016</a:t>
                      </a:r>
                    </a:p>
                  </a:txBody>
                  <a:tcPr marL="41101" marR="41101" marT="20550" marB="20550" anchor="ctr">
                    <a:lnL>
                      <a:noFill/>
                    </a:lnL>
                    <a:lnR>
                      <a:noFill/>
                    </a:lnR>
                    <a:lnT>
                      <a:noFill/>
                    </a:lnT>
                    <a:lnB>
                      <a:noFill/>
                    </a:lnB>
                    <a:solidFill>
                      <a:srgbClr val="FFFFFF"/>
                    </a:solidFill>
                  </a:tcPr>
                </a:tc>
                <a:tc>
                  <a:txBody>
                    <a:bodyPr/>
                    <a:lstStyle/>
                    <a:p>
                      <a:pPr algn="l" fontAlgn="ctr"/>
                      <a:r>
                        <a:rPr lang="fr-FR" sz="800" dirty="0">
                          <a:effectLst/>
                        </a:rPr>
                        <a:t>0</a:t>
                      </a:r>
                    </a:p>
                  </a:txBody>
                  <a:tcPr marL="41101" marR="41101" marT="20550" marB="20550" anchor="ctr">
                    <a:lnL>
                      <a:noFill/>
                    </a:lnL>
                    <a:lnR>
                      <a:noFill/>
                    </a:lnR>
                    <a:lnT>
                      <a:noFill/>
                    </a:lnT>
                    <a:lnB>
                      <a:noFill/>
                    </a:lnB>
                    <a:solidFill>
                      <a:srgbClr val="FFFFFF"/>
                    </a:solidFill>
                  </a:tcPr>
                </a:tc>
                <a:extLst>
                  <a:ext uri="{0D108BD9-81ED-4DB2-BD59-A6C34878D82A}">
                    <a16:rowId xmlns:a16="http://schemas.microsoft.com/office/drawing/2014/main" val="2321169148"/>
                  </a:ext>
                </a:extLst>
              </a:tr>
              <a:tr h="164402">
                <a:tc>
                  <a:txBody>
                    <a:bodyPr/>
                    <a:lstStyle/>
                    <a:p>
                      <a:pPr algn="l" fontAlgn="ctr"/>
                      <a:r>
                        <a:rPr lang="fr-FR" sz="800">
                          <a:effectLst/>
                        </a:rPr>
                        <a:t>0_1620</a:t>
                      </a:r>
                    </a:p>
                  </a:txBody>
                  <a:tcPr marL="41101" marR="41101" marT="20550" marB="20550" anchor="ctr">
                    <a:lnL>
                      <a:noFill/>
                    </a:lnL>
                    <a:lnR>
                      <a:noFill/>
                    </a:lnR>
                    <a:lnT>
                      <a:noFill/>
                    </a:lnT>
                    <a:lnB>
                      <a:noFill/>
                    </a:lnB>
                    <a:solidFill>
                      <a:srgbClr val="FFFFFF"/>
                    </a:solidFill>
                  </a:tcPr>
                </a:tc>
                <a:tc>
                  <a:txBody>
                    <a:bodyPr/>
                    <a:lstStyle/>
                    <a:p>
                      <a:pPr algn="l" fontAlgn="ctr"/>
                      <a:r>
                        <a:rPr lang="fr-FR" sz="800" dirty="0">
                          <a:effectLst/>
                        </a:rPr>
                        <a:t>0</a:t>
                      </a:r>
                    </a:p>
                  </a:txBody>
                  <a:tcPr marL="41101" marR="41101" marT="20550" marB="20550" anchor="ctr">
                    <a:lnL>
                      <a:noFill/>
                    </a:lnL>
                    <a:lnR>
                      <a:noFill/>
                    </a:lnR>
                    <a:lnT>
                      <a:noFill/>
                    </a:lnT>
                    <a:lnB>
                      <a:noFill/>
                    </a:lnB>
                    <a:solidFill>
                      <a:srgbClr val="FFFFFF"/>
                    </a:solidFill>
                  </a:tcPr>
                </a:tc>
                <a:extLst>
                  <a:ext uri="{0D108BD9-81ED-4DB2-BD59-A6C34878D82A}">
                    <a16:rowId xmlns:a16="http://schemas.microsoft.com/office/drawing/2014/main" val="346640323"/>
                  </a:ext>
                </a:extLst>
              </a:tr>
              <a:tr h="164402">
                <a:tc>
                  <a:txBody>
                    <a:bodyPr/>
                    <a:lstStyle/>
                    <a:p>
                      <a:pPr algn="l" fontAlgn="ctr"/>
                      <a:r>
                        <a:rPr lang="fr-FR" sz="800" dirty="0">
                          <a:effectLst/>
                        </a:rPr>
                        <a:t>0_1624</a:t>
                      </a:r>
                    </a:p>
                  </a:txBody>
                  <a:tcPr marL="41101" marR="41101" marT="20550" marB="20550" anchor="ctr">
                    <a:lnL>
                      <a:noFill/>
                    </a:lnL>
                    <a:lnR>
                      <a:noFill/>
                    </a:lnR>
                    <a:lnT>
                      <a:noFill/>
                    </a:lnT>
                    <a:lnB>
                      <a:noFill/>
                    </a:lnB>
                    <a:solidFill>
                      <a:srgbClr val="FFFFFF"/>
                    </a:solidFill>
                  </a:tcPr>
                </a:tc>
                <a:tc>
                  <a:txBody>
                    <a:bodyPr/>
                    <a:lstStyle/>
                    <a:p>
                      <a:pPr algn="l" fontAlgn="ctr"/>
                      <a:r>
                        <a:rPr lang="fr-FR" sz="800" dirty="0">
                          <a:effectLst/>
                        </a:rPr>
                        <a:t>0</a:t>
                      </a:r>
                    </a:p>
                  </a:txBody>
                  <a:tcPr marL="41101" marR="41101" marT="20550" marB="20550" anchor="ctr">
                    <a:lnL>
                      <a:noFill/>
                    </a:lnL>
                    <a:lnR>
                      <a:noFill/>
                    </a:lnR>
                    <a:lnT>
                      <a:noFill/>
                    </a:lnT>
                    <a:lnB>
                      <a:noFill/>
                    </a:lnB>
                    <a:solidFill>
                      <a:srgbClr val="FFFFFF"/>
                    </a:solidFill>
                  </a:tcPr>
                </a:tc>
                <a:extLst>
                  <a:ext uri="{0D108BD9-81ED-4DB2-BD59-A6C34878D82A}">
                    <a16:rowId xmlns:a16="http://schemas.microsoft.com/office/drawing/2014/main" val="2367796083"/>
                  </a:ext>
                </a:extLst>
              </a:tr>
              <a:tr h="164402">
                <a:tc>
                  <a:txBody>
                    <a:bodyPr/>
                    <a:lstStyle/>
                    <a:p>
                      <a:pPr algn="l" fontAlgn="ctr"/>
                      <a:r>
                        <a:rPr lang="fr-FR" sz="800">
                          <a:effectLst/>
                        </a:rPr>
                        <a:t>0_322</a:t>
                      </a:r>
                    </a:p>
                  </a:txBody>
                  <a:tcPr marL="41101" marR="41101" marT="20550" marB="20550" anchor="ctr">
                    <a:lnL>
                      <a:noFill/>
                    </a:lnL>
                    <a:lnR>
                      <a:noFill/>
                    </a:lnR>
                    <a:lnT>
                      <a:noFill/>
                    </a:lnT>
                    <a:lnB>
                      <a:noFill/>
                    </a:lnB>
                    <a:solidFill>
                      <a:srgbClr val="FFFFFF"/>
                    </a:solidFill>
                  </a:tcPr>
                </a:tc>
                <a:tc>
                  <a:txBody>
                    <a:bodyPr/>
                    <a:lstStyle/>
                    <a:p>
                      <a:pPr algn="l" fontAlgn="ctr"/>
                      <a:r>
                        <a:rPr lang="fr-FR" sz="800" dirty="0">
                          <a:effectLst/>
                        </a:rPr>
                        <a:t>0</a:t>
                      </a:r>
                    </a:p>
                  </a:txBody>
                  <a:tcPr marL="41101" marR="41101" marT="20550" marB="20550" anchor="ctr">
                    <a:lnL>
                      <a:noFill/>
                    </a:lnL>
                    <a:lnR>
                      <a:noFill/>
                    </a:lnR>
                    <a:lnT>
                      <a:noFill/>
                    </a:lnT>
                    <a:lnB>
                      <a:noFill/>
                    </a:lnB>
                    <a:solidFill>
                      <a:srgbClr val="FFFFFF"/>
                    </a:solidFill>
                  </a:tcPr>
                </a:tc>
                <a:extLst>
                  <a:ext uri="{0D108BD9-81ED-4DB2-BD59-A6C34878D82A}">
                    <a16:rowId xmlns:a16="http://schemas.microsoft.com/office/drawing/2014/main" val="2106001702"/>
                  </a:ext>
                </a:extLst>
              </a:tr>
              <a:tr h="164402">
                <a:tc>
                  <a:txBody>
                    <a:bodyPr/>
                    <a:lstStyle/>
                    <a:p>
                      <a:pPr algn="l" fontAlgn="ctr"/>
                      <a:r>
                        <a:rPr lang="fr-FR" sz="800" dirty="0">
                          <a:effectLst/>
                        </a:rPr>
                        <a:t>1_0</a:t>
                      </a:r>
                    </a:p>
                  </a:txBody>
                  <a:tcPr marL="41101" marR="41101" marT="20550" marB="20550" anchor="ctr">
                    <a:lnL>
                      <a:noFill/>
                    </a:lnL>
                    <a:lnR>
                      <a:noFill/>
                    </a:lnR>
                    <a:lnT>
                      <a:noFill/>
                    </a:lnT>
                    <a:lnB>
                      <a:noFill/>
                    </a:lnB>
                    <a:solidFill>
                      <a:srgbClr val="FFFFFF"/>
                    </a:solidFill>
                  </a:tcPr>
                </a:tc>
                <a:tc>
                  <a:txBody>
                    <a:bodyPr/>
                    <a:lstStyle/>
                    <a:p>
                      <a:pPr algn="l" fontAlgn="ctr"/>
                      <a:r>
                        <a:rPr lang="fr-FR" sz="800" dirty="0">
                          <a:effectLst/>
                        </a:rPr>
                        <a:t>0</a:t>
                      </a:r>
                    </a:p>
                  </a:txBody>
                  <a:tcPr marL="41101" marR="41101" marT="20550" marB="20550" anchor="ctr">
                    <a:lnL>
                      <a:noFill/>
                    </a:lnL>
                    <a:lnR>
                      <a:noFill/>
                    </a:lnR>
                    <a:lnT>
                      <a:noFill/>
                    </a:lnT>
                    <a:lnB>
                      <a:noFill/>
                    </a:lnB>
                    <a:solidFill>
                      <a:srgbClr val="FFFFFF"/>
                    </a:solidFill>
                  </a:tcPr>
                </a:tc>
                <a:extLst>
                  <a:ext uri="{0D108BD9-81ED-4DB2-BD59-A6C34878D82A}">
                    <a16:rowId xmlns:a16="http://schemas.microsoft.com/office/drawing/2014/main" val="4121623033"/>
                  </a:ext>
                </a:extLst>
              </a:tr>
              <a:tr h="164402">
                <a:tc>
                  <a:txBody>
                    <a:bodyPr/>
                    <a:lstStyle/>
                    <a:p>
                      <a:pPr algn="l" fontAlgn="ctr"/>
                      <a:r>
                        <a:rPr lang="fr-FR" sz="800">
                          <a:effectLst/>
                        </a:rPr>
                        <a:t>0_1025</a:t>
                      </a:r>
                    </a:p>
                  </a:txBody>
                  <a:tcPr marL="41101" marR="41101" marT="20550" marB="20550" anchor="ctr">
                    <a:lnL>
                      <a:noFill/>
                    </a:lnL>
                    <a:lnR>
                      <a:noFill/>
                    </a:lnR>
                    <a:lnT>
                      <a:noFill/>
                    </a:lnT>
                    <a:lnB>
                      <a:noFill/>
                    </a:lnB>
                    <a:solidFill>
                      <a:srgbClr val="FFFFFF"/>
                    </a:solidFill>
                  </a:tcPr>
                </a:tc>
                <a:tc>
                  <a:txBody>
                    <a:bodyPr/>
                    <a:lstStyle/>
                    <a:p>
                      <a:pPr algn="l" fontAlgn="ctr"/>
                      <a:r>
                        <a:rPr lang="fr-FR" sz="800" dirty="0">
                          <a:effectLst/>
                        </a:rPr>
                        <a:t>0</a:t>
                      </a:r>
                    </a:p>
                  </a:txBody>
                  <a:tcPr marL="41101" marR="41101" marT="20550" marB="20550" anchor="ctr">
                    <a:lnL>
                      <a:noFill/>
                    </a:lnL>
                    <a:lnR>
                      <a:noFill/>
                    </a:lnR>
                    <a:lnT>
                      <a:noFill/>
                    </a:lnT>
                    <a:lnB>
                      <a:noFill/>
                    </a:lnB>
                    <a:solidFill>
                      <a:srgbClr val="FFFFFF"/>
                    </a:solidFill>
                  </a:tcPr>
                </a:tc>
                <a:extLst>
                  <a:ext uri="{0D108BD9-81ED-4DB2-BD59-A6C34878D82A}">
                    <a16:rowId xmlns:a16="http://schemas.microsoft.com/office/drawing/2014/main" val="3521800477"/>
                  </a:ext>
                </a:extLst>
              </a:tr>
              <a:tr h="164402">
                <a:tc>
                  <a:txBody>
                    <a:bodyPr/>
                    <a:lstStyle/>
                    <a:p>
                      <a:pPr algn="l" fontAlgn="ctr"/>
                      <a:r>
                        <a:rPr lang="fr-FR" sz="800" dirty="0">
                          <a:effectLst/>
                        </a:rPr>
                        <a:t>0_310</a:t>
                      </a:r>
                    </a:p>
                  </a:txBody>
                  <a:tcPr marL="41101" marR="41101" marT="20550" marB="20550" anchor="ctr">
                    <a:lnL>
                      <a:noFill/>
                    </a:lnL>
                    <a:lnR>
                      <a:noFill/>
                    </a:lnR>
                    <a:lnT>
                      <a:noFill/>
                    </a:lnT>
                    <a:lnB>
                      <a:noFill/>
                    </a:lnB>
                    <a:solidFill>
                      <a:srgbClr val="FFFFFF"/>
                    </a:solidFill>
                  </a:tcPr>
                </a:tc>
                <a:tc>
                  <a:txBody>
                    <a:bodyPr/>
                    <a:lstStyle/>
                    <a:p>
                      <a:pPr algn="l" fontAlgn="ctr"/>
                      <a:r>
                        <a:rPr lang="fr-FR" sz="800" dirty="0">
                          <a:effectLst/>
                        </a:rPr>
                        <a:t>0</a:t>
                      </a:r>
                    </a:p>
                  </a:txBody>
                  <a:tcPr marL="41101" marR="41101" marT="20550" marB="20550" anchor="ctr">
                    <a:lnL>
                      <a:noFill/>
                    </a:lnL>
                    <a:lnR>
                      <a:noFill/>
                    </a:lnR>
                    <a:lnT>
                      <a:noFill/>
                    </a:lnT>
                    <a:lnB>
                      <a:noFill/>
                    </a:lnB>
                    <a:solidFill>
                      <a:srgbClr val="FFFFFF"/>
                    </a:solidFill>
                  </a:tcPr>
                </a:tc>
                <a:extLst>
                  <a:ext uri="{0D108BD9-81ED-4DB2-BD59-A6C34878D82A}">
                    <a16:rowId xmlns:a16="http://schemas.microsoft.com/office/drawing/2014/main" val="1038671864"/>
                  </a:ext>
                </a:extLst>
              </a:tr>
              <a:tr h="164402">
                <a:tc>
                  <a:txBody>
                    <a:bodyPr/>
                    <a:lstStyle/>
                    <a:p>
                      <a:pPr algn="l" fontAlgn="ctr"/>
                      <a:r>
                        <a:rPr lang="fr-FR" sz="800" dirty="0">
                          <a:effectLst/>
                        </a:rPr>
                        <a:t>0_299</a:t>
                      </a:r>
                    </a:p>
                  </a:txBody>
                  <a:tcPr marL="41101" marR="41101" marT="20550" marB="20550" anchor="ctr">
                    <a:lnL>
                      <a:noFill/>
                    </a:lnL>
                    <a:lnR>
                      <a:noFill/>
                    </a:lnR>
                    <a:lnT>
                      <a:noFill/>
                    </a:lnT>
                    <a:lnB>
                      <a:noFill/>
                    </a:lnB>
                    <a:solidFill>
                      <a:srgbClr val="FFFFFF"/>
                    </a:solidFill>
                  </a:tcPr>
                </a:tc>
                <a:tc>
                  <a:txBody>
                    <a:bodyPr/>
                    <a:lstStyle/>
                    <a:p>
                      <a:pPr algn="l" fontAlgn="ctr"/>
                      <a:r>
                        <a:rPr lang="fr-FR" sz="800" dirty="0">
                          <a:effectLst/>
                        </a:rPr>
                        <a:t>0</a:t>
                      </a:r>
                    </a:p>
                  </a:txBody>
                  <a:tcPr marL="41101" marR="41101" marT="20550" marB="20550" anchor="ctr">
                    <a:lnL>
                      <a:noFill/>
                    </a:lnL>
                    <a:lnR>
                      <a:noFill/>
                    </a:lnR>
                    <a:lnT>
                      <a:noFill/>
                    </a:lnT>
                    <a:lnB>
                      <a:noFill/>
                    </a:lnB>
                    <a:solidFill>
                      <a:srgbClr val="FFFFFF"/>
                    </a:solidFill>
                  </a:tcPr>
                </a:tc>
                <a:extLst>
                  <a:ext uri="{0D108BD9-81ED-4DB2-BD59-A6C34878D82A}">
                    <a16:rowId xmlns:a16="http://schemas.microsoft.com/office/drawing/2014/main" val="2364923175"/>
                  </a:ext>
                </a:extLst>
              </a:tr>
              <a:tr h="263650">
                <a:tc>
                  <a:txBody>
                    <a:bodyPr/>
                    <a:lstStyle/>
                    <a:p>
                      <a:pPr algn="l" fontAlgn="ctr"/>
                      <a:r>
                        <a:rPr lang="fr-FR" sz="800" dirty="0">
                          <a:effectLst/>
                        </a:rPr>
                        <a:t>0_1318</a:t>
                      </a:r>
                    </a:p>
                  </a:txBody>
                  <a:tcPr marL="41101" marR="41101" marT="20550" marB="20550" anchor="ctr">
                    <a:lnL>
                      <a:noFill/>
                    </a:lnL>
                    <a:lnR>
                      <a:noFill/>
                    </a:lnR>
                    <a:lnT>
                      <a:noFill/>
                    </a:lnT>
                    <a:lnB>
                      <a:noFill/>
                    </a:lnB>
                    <a:solidFill>
                      <a:srgbClr val="FFFFFF"/>
                    </a:solidFill>
                  </a:tcPr>
                </a:tc>
                <a:tc>
                  <a:txBody>
                    <a:bodyPr/>
                    <a:lstStyle/>
                    <a:p>
                      <a:pPr algn="l" fontAlgn="ctr"/>
                      <a:r>
                        <a:rPr lang="fr-FR" sz="800" dirty="0">
                          <a:effectLst/>
                        </a:rPr>
                        <a:t>0</a:t>
                      </a:r>
                    </a:p>
                  </a:txBody>
                  <a:tcPr marL="41101" marR="41101" marT="20550" marB="20550" anchor="ctr">
                    <a:lnL>
                      <a:noFill/>
                    </a:lnL>
                    <a:lnR>
                      <a:noFill/>
                    </a:lnR>
                    <a:lnT>
                      <a:noFill/>
                    </a:lnT>
                    <a:lnB>
                      <a:noFill/>
                    </a:lnB>
                    <a:solidFill>
                      <a:srgbClr val="FFFFFF"/>
                    </a:solidFill>
                  </a:tcPr>
                </a:tc>
                <a:extLst>
                  <a:ext uri="{0D108BD9-81ED-4DB2-BD59-A6C34878D82A}">
                    <a16:rowId xmlns:a16="http://schemas.microsoft.com/office/drawing/2014/main" val="688069904"/>
                  </a:ext>
                </a:extLst>
              </a:tr>
              <a:tr h="164402">
                <a:tc>
                  <a:txBody>
                    <a:bodyPr/>
                    <a:lstStyle/>
                    <a:p>
                      <a:pPr algn="l" fontAlgn="ctr"/>
                      <a:r>
                        <a:rPr lang="fr-FR" sz="800">
                          <a:effectLst/>
                        </a:rPr>
                        <a:t>0_1645</a:t>
                      </a:r>
                    </a:p>
                  </a:txBody>
                  <a:tcPr marL="41101" marR="41101" marT="20550" marB="20550" anchor="ctr">
                    <a:lnL>
                      <a:noFill/>
                    </a:lnL>
                    <a:lnR>
                      <a:noFill/>
                    </a:lnR>
                    <a:lnT>
                      <a:noFill/>
                    </a:lnT>
                    <a:lnB>
                      <a:noFill/>
                    </a:lnB>
                    <a:solidFill>
                      <a:srgbClr val="FFFFFF"/>
                    </a:solidFill>
                  </a:tcPr>
                </a:tc>
                <a:tc>
                  <a:txBody>
                    <a:bodyPr/>
                    <a:lstStyle/>
                    <a:p>
                      <a:pPr algn="l" fontAlgn="ctr"/>
                      <a:r>
                        <a:rPr lang="fr-FR" sz="800" dirty="0">
                          <a:effectLst/>
                        </a:rPr>
                        <a:t>0</a:t>
                      </a:r>
                    </a:p>
                  </a:txBody>
                  <a:tcPr marL="41101" marR="41101" marT="20550" marB="20550" anchor="ctr">
                    <a:lnL>
                      <a:noFill/>
                    </a:lnL>
                    <a:lnR>
                      <a:noFill/>
                    </a:lnR>
                    <a:lnT>
                      <a:noFill/>
                    </a:lnT>
                    <a:lnB>
                      <a:noFill/>
                    </a:lnB>
                    <a:solidFill>
                      <a:srgbClr val="FFFFFF"/>
                    </a:solidFill>
                  </a:tcPr>
                </a:tc>
                <a:extLst>
                  <a:ext uri="{0D108BD9-81ED-4DB2-BD59-A6C34878D82A}">
                    <a16:rowId xmlns:a16="http://schemas.microsoft.com/office/drawing/2014/main" val="3874304224"/>
                  </a:ext>
                </a:extLst>
              </a:tr>
              <a:tr h="164402">
                <a:tc>
                  <a:txBody>
                    <a:bodyPr/>
                    <a:lstStyle/>
                    <a:p>
                      <a:pPr algn="l" fontAlgn="ctr"/>
                      <a:r>
                        <a:rPr lang="fr-FR" sz="800" dirty="0">
                          <a:effectLst/>
                        </a:rPr>
                        <a:t>1_394</a:t>
                      </a:r>
                    </a:p>
                  </a:txBody>
                  <a:tcPr marL="41101" marR="41101" marT="20550" marB="20550" anchor="ctr">
                    <a:lnL>
                      <a:noFill/>
                    </a:lnL>
                    <a:lnR>
                      <a:noFill/>
                    </a:lnR>
                    <a:lnT>
                      <a:noFill/>
                    </a:lnT>
                    <a:lnB>
                      <a:noFill/>
                    </a:lnB>
                    <a:solidFill>
                      <a:srgbClr val="FFFFFF"/>
                    </a:solidFill>
                  </a:tcPr>
                </a:tc>
                <a:tc>
                  <a:txBody>
                    <a:bodyPr/>
                    <a:lstStyle/>
                    <a:p>
                      <a:pPr algn="l" fontAlgn="ctr"/>
                      <a:r>
                        <a:rPr lang="fr-FR" sz="800" dirty="0">
                          <a:effectLst/>
                        </a:rPr>
                        <a:t>0</a:t>
                      </a:r>
                    </a:p>
                  </a:txBody>
                  <a:tcPr marL="41101" marR="41101" marT="20550" marB="20550" anchor="ctr">
                    <a:lnL>
                      <a:noFill/>
                    </a:lnL>
                    <a:lnR>
                      <a:noFill/>
                    </a:lnR>
                    <a:lnT>
                      <a:noFill/>
                    </a:lnT>
                    <a:lnB>
                      <a:noFill/>
                    </a:lnB>
                    <a:solidFill>
                      <a:srgbClr val="FFFFFF"/>
                    </a:solidFill>
                  </a:tcPr>
                </a:tc>
                <a:extLst>
                  <a:ext uri="{0D108BD9-81ED-4DB2-BD59-A6C34878D82A}">
                    <a16:rowId xmlns:a16="http://schemas.microsoft.com/office/drawing/2014/main" val="1068010425"/>
                  </a:ext>
                </a:extLst>
              </a:tr>
              <a:tr h="164402">
                <a:tc>
                  <a:txBody>
                    <a:bodyPr/>
                    <a:lstStyle/>
                    <a:p>
                      <a:pPr algn="l" fontAlgn="ctr"/>
                      <a:r>
                        <a:rPr lang="fr-FR" sz="800">
                          <a:effectLst/>
                        </a:rPr>
                        <a:t>0_1062</a:t>
                      </a:r>
                    </a:p>
                  </a:txBody>
                  <a:tcPr marL="41101" marR="41101" marT="20550" marB="20550" anchor="ctr">
                    <a:lnL>
                      <a:noFill/>
                    </a:lnL>
                    <a:lnR>
                      <a:noFill/>
                    </a:lnR>
                    <a:lnT>
                      <a:noFill/>
                    </a:lnT>
                    <a:lnB>
                      <a:noFill/>
                    </a:lnB>
                    <a:solidFill>
                      <a:srgbClr val="FFFFFF"/>
                    </a:solidFill>
                  </a:tcPr>
                </a:tc>
                <a:tc>
                  <a:txBody>
                    <a:bodyPr/>
                    <a:lstStyle/>
                    <a:p>
                      <a:pPr algn="l" fontAlgn="ctr"/>
                      <a:r>
                        <a:rPr lang="fr-FR" sz="800" dirty="0">
                          <a:effectLst/>
                        </a:rPr>
                        <a:t>0</a:t>
                      </a:r>
                    </a:p>
                  </a:txBody>
                  <a:tcPr marL="41101" marR="41101" marT="20550" marB="20550" anchor="ctr">
                    <a:lnL>
                      <a:noFill/>
                    </a:lnL>
                    <a:lnR>
                      <a:noFill/>
                    </a:lnR>
                    <a:lnT>
                      <a:noFill/>
                    </a:lnT>
                    <a:lnB>
                      <a:noFill/>
                    </a:lnB>
                    <a:solidFill>
                      <a:srgbClr val="FFFFFF"/>
                    </a:solidFill>
                  </a:tcPr>
                </a:tc>
                <a:extLst>
                  <a:ext uri="{0D108BD9-81ED-4DB2-BD59-A6C34878D82A}">
                    <a16:rowId xmlns:a16="http://schemas.microsoft.com/office/drawing/2014/main" val="2566282233"/>
                  </a:ext>
                </a:extLst>
              </a:tr>
              <a:tr h="164402">
                <a:tc>
                  <a:txBody>
                    <a:bodyPr/>
                    <a:lstStyle/>
                    <a:p>
                      <a:pPr algn="l" fontAlgn="ctr"/>
                      <a:r>
                        <a:rPr lang="fr-FR" sz="800" dirty="0">
                          <a:effectLst/>
                        </a:rPr>
                        <a:t>2_72</a:t>
                      </a:r>
                    </a:p>
                  </a:txBody>
                  <a:tcPr marL="41101" marR="41101" marT="20550" marB="20550" anchor="ctr">
                    <a:lnL>
                      <a:noFill/>
                    </a:lnL>
                    <a:lnR>
                      <a:noFill/>
                    </a:lnR>
                    <a:lnT>
                      <a:noFill/>
                    </a:lnT>
                    <a:lnB>
                      <a:noFill/>
                    </a:lnB>
                    <a:solidFill>
                      <a:srgbClr val="FFFFFF"/>
                    </a:solidFill>
                  </a:tcPr>
                </a:tc>
                <a:tc>
                  <a:txBody>
                    <a:bodyPr/>
                    <a:lstStyle/>
                    <a:p>
                      <a:pPr algn="l" fontAlgn="ctr"/>
                      <a:r>
                        <a:rPr lang="fr-FR" sz="800" dirty="0">
                          <a:effectLst/>
                        </a:rPr>
                        <a:t>0</a:t>
                      </a:r>
                    </a:p>
                  </a:txBody>
                  <a:tcPr marL="41101" marR="41101" marT="20550" marB="20550" anchor="ctr">
                    <a:lnL>
                      <a:noFill/>
                    </a:lnL>
                    <a:lnR>
                      <a:noFill/>
                    </a:lnR>
                    <a:lnT>
                      <a:noFill/>
                    </a:lnT>
                    <a:lnB>
                      <a:noFill/>
                    </a:lnB>
                    <a:solidFill>
                      <a:srgbClr val="FFFFFF"/>
                    </a:solidFill>
                  </a:tcPr>
                </a:tc>
                <a:extLst>
                  <a:ext uri="{0D108BD9-81ED-4DB2-BD59-A6C34878D82A}">
                    <a16:rowId xmlns:a16="http://schemas.microsoft.com/office/drawing/2014/main" val="4016738228"/>
                  </a:ext>
                </a:extLst>
              </a:tr>
              <a:tr h="164402">
                <a:tc>
                  <a:txBody>
                    <a:bodyPr/>
                    <a:lstStyle/>
                    <a:p>
                      <a:pPr algn="l" fontAlgn="ctr"/>
                      <a:r>
                        <a:rPr lang="fr-FR" sz="800">
                          <a:effectLst/>
                        </a:rPr>
                        <a:t>0_2308</a:t>
                      </a:r>
                    </a:p>
                  </a:txBody>
                  <a:tcPr marL="41101" marR="41101" marT="20550" marB="20550" anchor="ctr">
                    <a:lnL>
                      <a:noFill/>
                    </a:lnL>
                    <a:lnR>
                      <a:noFill/>
                    </a:lnR>
                    <a:lnT>
                      <a:noFill/>
                    </a:lnT>
                    <a:lnB>
                      <a:noFill/>
                    </a:lnB>
                    <a:solidFill>
                      <a:srgbClr val="FFFFFF"/>
                    </a:solidFill>
                  </a:tcPr>
                </a:tc>
                <a:tc>
                  <a:txBody>
                    <a:bodyPr/>
                    <a:lstStyle/>
                    <a:p>
                      <a:pPr algn="l" fontAlgn="ctr"/>
                      <a:r>
                        <a:rPr lang="fr-FR" sz="800" dirty="0">
                          <a:effectLst/>
                        </a:rPr>
                        <a:t>0</a:t>
                      </a:r>
                    </a:p>
                  </a:txBody>
                  <a:tcPr marL="41101" marR="41101" marT="20550" marB="20550" anchor="ctr">
                    <a:lnL>
                      <a:noFill/>
                    </a:lnL>
                    <a:lnR>
                      <a:noFill/>
                    </a:lnR>
                    <a:lnT>
                      <a:noFill/>
                    </a:lnT>
                    <a:lnB>
                      <a:noFill/>
                    </a:lnB>
                    <a:solidFill>
                      <a:srgbClr val="FFFFFF"/>
                    </a:solidFill>
                  </a:tcPr>
                </a:tc>
                <a:extLst>
                  <a:ext uri="{0D108BD9-81ED-4DB2-BD59-A6C34878D82A}">
                    <a16:rowId xmlns:a16="http://schemas.microsoft.com/office/drawing/2014/main" val="1884150100"/>
                  </a:ext>
                </a:extLst>
              </a:tr>
              <a:tr h="164402">
                <a:tc>
                  <a:txBody>
                    <a:bodyPr/>
                    <a:lstStyle/>
                    <a:p>
                      <a:pPr algn="l" fontAlgn="ctr"/>
                      <a:r>
                        <a:rPr lang="fr-FR" sz="800" dirty="0">
                          <a:effectLst/>
                        </a:rPr>
                        <a:t>0_1014</a:t>
                      </a:r>
                    </a:p>
                  </a:txBody>
                  <a:tcPr marL="41101" marR="41101" marT="20550" marB="20550" anchor="ctr">
                    <a:lnL>
                      <a:noFill/>
                    </a:lnL>
                    <a:lnR>
                      <a:noFill/>
                    </a:lnR>
                    <a:lnT>
                      <a:noFill/>
                    </a:lnT>
                    <a:lnB>
                      <a:noFill/>
                    </a:lnB>
                    <a:solidFill>
                      <a:srgbClr val="FFFFFF"/>
                    </a:solidFill>
                  </a:tcPr>
                </a:tc>
                <a:tc>
                  <a:txBody>
                    <a:bodyPr/>
                    <a:lstStyle/>
                    <a:p>
                      <a:pPr algn="l" fontAlgn="ctr"/>
                      <a:r>
                        <a:rPr lang="fr-FR" sz="800" dirty="0">
                          <a:effectLst/>
                        </a:rPr>
                        <a:t>0</a:t>
                      </a:r>
                    </a:p>
                  </a:txBody>
                  <a:tcPr marL="41101" marR="41101" marT="20550" marB="20550" anchor="ctr">
                    <a:lnL>
                      <a:noFill/>
                    </a:lnL>
                    <a:lnR>
                      <a:noFill/>
                    </a:lnR>
                    <a:lnT>
                      <a:noFill/>
                    </a:lnT>
                    <a:lnB>
                      <a:noFill/>
                    </a:lnB>
                    <a:solidFill>
                      <a:srgbClr val="FFFFFF"/>
                    </a:solidFill>
                  </a:tcPr>
                </a:tc>
                <a:extLst>
                  <a:ext uri="{0D108BD9-81ED-4DB2-BD59-A6C34878D82A}">
                    <a16:rowId xmlns:a16="http://schemas.microsoft.com/office/drawing/2014/main" val="3200730604"/>
                  </a:ext>
                </a:extLst>
              </a:tr>
              <a:tr h="164402">
                <a:tc>
                  <a:txBody>
                    <a:bodyPr/>
                    <a:lstStyle/>
                    <a:p>
                      <a:pPr algn="l" fontAlgn="ctr"/>
                      <a:r>
                        <a:rPr lang="fr-FR" sz="800" dirty="0">
                          <a:effectLst/>
                        </a:rPr>
                        <a:t>0_1800</a:t>
                      </a:r>
                    </a:p>
                  </a:txBody>
                  <a:tcPr marL="41101" marR="41101" marT="20550" marB="20550" anchor="ctr">
                    <a:lnL>
                      <a:noFill/>
                    </a:lnL>
                    <a:lnR>
                      <a:noFill/>
                    </a:lnR>
                    <a:lnT>
                      <a:noFill/>
                    </a:lnT>
                    <a:lnB>
                      <a:noFill/>
                    </a:lnB>
                    <a:solidFill>
                      <a:srgbClr val="FFFFFF"/>
                    </a:solidFill>
                  </a:tcPr>
                </a:tc>
                <a:tc>
                  <a:txBody>
                    <a:bodyPr/>
                    <a:lstStyle/>
                    <a:p>
                      <a:pPr algn="l" fontAlgn="ctr"/>
                      <a:r>
                        <a:rPr lang="fr-FR" sz="800" dirty="0">
                          <a:effectLst/>
                        </a:rPr>
                        <a:t>0</a:t>
                      </a:r>
                    </a:p>
                  </a:txBody>
                  <a:tcPr marL="41101" marR="41101" marT="20550" marB="20550" anchor="ctr">
                    <a:lnL>
                      <a:noFill/>
                    </a:lnL>
                    <a:lnR>
                      <a:noFill/>
                    </a:lnR>
                    <a:lnT>
                      <a:noFill/>
                    </a:lnT>
                    <a:lnB>
                      <a:noFill/>
                    </a:lnB>
                    <a:solidFill>
                      <a:srgbClr val="FFFFFF"/>
                    </a:solidFill>
                  </a:tcPr>
                </a:tc>
                <a:extLst>
                  <a:ext uri="{0D108BD9-81ED-4DB2-BD59-A6C34878D82A}">
                    <a16:rowId xmlns:a16="http://schemas.microsoft.com/office/drawing/2014/main" val="2988792409"/>
                  </a:ext>
                </a:extLst>
              </a:tr>
              <a:tr h="164402">
                <a:tc>
                  <a:txBody>
                    <a:bodyPr/>
                    <a:lstStyle/>
                    <a:p>
                      <a:pPr algn="l" fontAlgn="ctr"/>
                      <a:r>
                        <a:rPr lang="fr-FR" sz="800" dirty="0">
                          <a:effectLst/>
                        </a:rPr>
                        <a:t>0_510</a:t>
                      </a:r>
                    </a:p>
                  </a:txBody>
                  <a:tcPr marL="41101" marR="41101" marT="20550" marB="20550" anchor="ctr">
                    <a:lnL>
                      <a:noFill/>
                    </a:lnL>
                    <a:lnR>
                      <a:noFill/>
                    </a:lnR>
                    <a:lnT>
                      <a:noFill/>
                    </a:lnT>
                    <a:lnB>
                      <a:noFill/>
                    </a:lnB>
                    <a:solidFill>
                      <a:srgbClr val="FFFFFF"/>
                    </a:solidFill>
                  </a:tcPr>
                </a:tc>
                <a:tc>
                  <a:txBody>
                    <a:bodyPr/>
                    <a:lstStyle/>
                    <a:p>
                      <a:pPr algn="l" fontAlgn="ctr"/>
                      <a:r>
                        <a:rPr lang="fr-FR" sz="800" dirty="0">
                          <a:effectLst/>
                        </a:rPr>
                        <a:t>0</a:t>
                      </a:r>
                    </a:p>
                  </a:txBody>
                  <a:tcPr marL="41101" marR="41101" marT="20550" marB="20550" anchor="ctr">
                    <a:lnL>
                      <a:noFill/>
                    </a:lnL>
                    <a:lnR>
                      <a:noFill/>
                    </a:lnR>
                    <a:lnT>
                      <a:noFill/>
                    </a:lnT>
                    <a:lnB>
                      <a:noFill/>
                    </a:lnB>
                    <a:solidFill>
                      <a:srgbClr val="FFFFFF"/>
                    </a:solidFill>
                  </a:tcPr>
                </a:tc>
                <a:extLst>
                  <a:ext uri="{0D108BD9-81ED-4DB2-BD59-A6C34878D82A}">
                    <a16:rowId xmlns:a16="http://schemas.microsoft.com/office/drawing/2014/main" val="2028602463"/>
                  </a:ext>
                </a:extLst>
              </a:tr>
              <a:tr h="164402">
                <a:tc>
                  <a:txBody>
                    <a:bodyPr/>
                    <a:lstStyle/>
                    <a:p>
                      <a:pPr algn="l" fontAlgn="ctr"/>
                      <a:r>
                        <a:rPr lang="fr-FR" sz="800" dirty="0">
                          <a:effectLst/>
                        </a:rPr>
                        <a:t>2_87</a:t>
                      </a:r>
                    </a:p>
                  </a:txBody>
                  <a:tcPr marL="41101" marR="41101" marT="20550" marB="20550" anchor="ctr">
                    <a:lnL>
                      <a:noFill/>
                    </a:lnL>
                    <a:lnR>
                      <a:noFill/>
                    </a:lnR>
                    <a:lnT>
                      <a:noFill/>
                    </a:lnT>
                    <a:lnB>
                      <a:noFill/>
                    </a:lnB>
                    <a:solidFill>
                      <a:srgbClr val="FFFFFF"/>
                    </a:solidFill>
                  </a:tcPr>
                </a:tc>
                <a:tc>
                  <a:txBody>
                    <a:bodyPr/>
                    <a:lstStyle/>
                    <a:p>
                      <a:pPr algn="l" fontAlgn="ctr"/>
                      <a:r>
                        <a:rPr lang="fr-FR" sz="800" dirty="0">
                          <a:effectLst/>
                        </a:rPr>
                        <a:t>0</a:t>
                      </a:r>
                    </a:p>
                  </a:txBody>
                  <a:tcPr marL="41101" marR="41101" marT="20550" marB="20550" anchor="ctr">
                    <a:lnL>
                      <a:noFill/>
                    </a:lnL>
                    <a:lnR>
                      <a:noFill/>
                    </a:lnR>
                    <a:lnT>
                      <a:noFill/>
                    </a:lnT>
                    <a:lnB>
                      <a:noFill/>
                    </a:lnB>
                    <a:solidFill>
                      <a:srgbClr val="FFFFFF"/>
                    </a:solidFill>
                  </a:tcPr>
                </a:tc>
                <a:extLst>
                  <a:ext uri="{0D108BD9-81ED-4DB2-BD59-A6C34878D82A}">
                    <a16:rowId xmlns:a16="http://schemas.microsoft.com/office/drawing/2014/main" val="2177534307"/>
                  </a:ext>
                </a:extLst>
              </a:tr>
              <a:tr h="164402">
                <a:tc>
                  <a:txBody>
                    <a:bodyPr/>
                    <a:lstStyle/>
                    <a:p>
                      <a:pPr algn="l" fontAlgn="ctr"/>
                      <a:r>
                        <a:rPr lang="fr-FR" sz="800" dirty="0">
                          <a:effectLst/>
                        </a:rPr>
                        <a:t>0_1780</a:t>
                      </a:r>
                    </a:p>
                  </a:txBody>
                  <a:tcPr marL="41101" marR="41101" marT="20550" marB="20550" anchor="ctr">
                    <a:lnL>
                      <a:noFill/>
                    </a:lnL>
                    <a:lnR>
                      <a:noFill/>
                    </a:lnR>
                    <a:lnT>
                      <a:noFill/>
                    </a:lnT>
                    <a:lnB>
                      <a:noFill/>
                    </a:lnB>
                    <a:solidFill>
                      <a:srgbClr val="FFFFFF"/>
                    </a:solidFill>
                  </a:tcPr>
                </a:tc>
                <a:tc>
                  <a:txBody>
                    <a:bodyPr/>
                    <a:lstStyle/>
                    <a:p>
                      <a:pPr algn="l" fontAlgn="ctr"/>
                      <a:r>
                        <a:rPr lang="fr-FR" sz="800" dirty="0">
                          <a:effectLst/>
                        </a:rPr>
                        <a:t>0</a:t>
                      </a:r>
                    </a:p>
                  </a:txBody>
                  <a:tcPr marL="41101" marR="41101" marT="20550" marB="20550" anchor="ctr">
                    <a:lnL>
                      <a:noFill/>
                    </a:lnL>
                    <a:lnR>
                      <a:noFill/>
                    </a:lnR>
                    <a:lnT>
                      <a:noFill/>
                    </a:lnT>
                    <a:lnB>
                      <a:noFill/>
                    </a:lnB>
                    <a:solidFill>
                      <a:srgbClr val="FFFFFF"/>
                    </a:solidFill>
                  </a:tcPr>
                </a:tc>
                <a:extLst>
                  <a:ext uri="{0D108BD9-81ED-4DB2-BD59-A6C34878D82A}">
                    <a16:rowId xmlns:a16="http://schemas.microsoft.com/office/drawing/2014/main" val="613611102"/>
                  </a:ext>
                </a:extLst>
              </a:tr>
              <a:tr h="164402">
                <a:tc>
                  <a:txBody>
                    <a:bodyPr/>
                    <a:lstStyle/>
                    <a:p>
                      <a:pPr algn="l" fontAlgn="ctr"/>
                      <a:r>
                        <a:rPr lang="fr-FR" sz="800" dirty="0">
                          <a:effectLst/>
                        </a:rPr>
                        <a:t>2_86</a:t>
                      </a:r>
                    </a:p>
                  </a:txBody>
                  <a:tcPr marL="41101" marR="41101" marT="20550" marB="20550" anchor="ctr">
                    <a:lnL>
                      <a:noFill/>
                    </a:lnL>
                    <a:lnR>
                      <a:noFill/>
                    </a:lnR>
                    <a:lnT>
                      <a:noFill/>
                    </a:lnT>
                    <a:lnB>
                      <a:noFill/>
                    </a:lnB>
                    <a:solidFill>
                      <a:srgbClr val="FFFFFF"/>
                    </a:solidFill>
                  </a:tcPr>
                </a:tc>
                <a:tc>
                  <a:txBody>
                    <a:bodyPr/>
                    <a:lstStyle/>
                    <a:p>
                      <a:pPr algn="l" fontAlgn="ctr"/>
                      <a:r>
                        <a:rPr lang="fr-FR" sz="800" dirty="0">
                          <a:effectLst/>
                        </a:rPr>
                        <a:t>0</a:t>
                      </a:r>
                    </a:p>
                  </a:txBody>
                  <a:tcPr marL="41101" marR="41101" marT="20550" marB="20550" anchor="ctr">
                    <a:lnL>
                      <a:noFill/>
                    </a:lnL>
                    <a:lnR>
                      <a:noFill/>
                    </a:lnR>
                    <a:lnT>
                      <a:noFill/>
                    </a:lnT>
                    <a:lnB>
                      <a:noFill/>
                    </a:lnB>
                    <a:solidFill>
                      <a:srgbClr val="FFFFFF"/>
                    </a:solidFill>
                  </a:tcPr>
                </a:tc>
                <a:extLst>
                  <a:ext uri="{0D108BD9-81ED-4DB2-BD59-A6C34878D82A}">
                    <a16:rowId xmlns:a16="http://schemas.microsoft.com/office/drawing/2014/main" val="1362874396"/>
                  </a:ext>
                </a:extLst>
              </a:tr>
              <a:tr h="164402">
                <a:tc>
                  <a:txBody>
                    <a:bodyPr/>
                    <a:lstStyle/>
                    <a:p>
                      <a:pPr algn="l" fontAlgn="ctr"/>
                      <a:r>
                        <a:rPr lang="fr-FR" sz="800" dirty="0">
                          <a:effectLst/>
                        </a:rPr>
                        <a:t>0_1119</a:t>
                      </a:r>
                    </a:p>
                  </a:txBody>
                  <a:tcPr marL="41101" marR="41101" marT="20550" marB="20550" anchor="ctr">
                    <a:lnL>
                      <a:noFill/>
                    </a:lnL>
                    <a:lnR>
                      <a:noFill/>
                    </a:lnR>
                    <a:lnT>
                      <a:noFill/>
                    </a:lnT>
                    <a:lnB>
                      <a:noFill/>
                    </a:lnB>
                    <a:solidFill>
                      <a:srgbClr val="FFFFFF"/>
                    </a:solidFill>
                  </a:tcPr>
                </a:tc>
                <a:tc>
                  <a:txBody>
                    <a:bodyPr/>
                    <a:lstStyle/>
                    <a:p>
                      <a:pPr algn="l" fontAlgn="ctr"/>
                      <a:r>
                        <a:rPr lang="fr-FR" sz="800" dirty="0">
                          <a:effectLst/>
                        </a:rPr>
                        <a:t>0</a:t>
                      </a:r>
                    </a:p>
                  </a:txBody>
                  <a:tcPr marL="41101" marR="41101" marT="20550" marB="20550" anchor="ctr">
                    <a:lnL>
                      <a:noFill/>
                    </a:lnL>
                    <a:lnR>
                      <a:noFill/>
                    </a:lnR>
                    <a:lnT>
                      <a:noFill/>
                    </a:lnT>
                    <a:lnB>
                      <a:noFill/>
                    </a:lnB>
                    <a:solidFill>
                      <a:srgbClr val="FFFFFF"/>
                    </a:solidFill>
                  </a:tcPr>
                </a:tc>
                <a:extLst>
                  <a:ext uri="{0D108BD9-81ED-4DB2-BD59-A6C34878D82A}">
                    <a16:rowId xmlns:a16="http://schemas.microsoft.com/office/drawing/2014/main" val="2744831662"/>
                  </a:ext>
                </a:extLst>
              </a:tr>
            </a:tbl>
          </a:graphicData>
        </a:graphic>
      </p:graphicFrame>
      <p:pic>
        <p:nvPicPr>
          <p:cNvPr id="13" name="Image 12">
            <a:extLst>
              <a:ext uri="{FF2B5EF4-FFF2-40B4-BE49-F238E27FC236}">
                <a16:creationId xmlns:a16="http://schemas.microsoft.com/office/drawing/2014/main" id="{56A33C3E-FBF6-D6BA-A849-63472344B5AF}"/>
              </a:ext>
            </a:extLst>
          </p:cNvPr>
          <p:cNvPicPr>
            <a:picLocks noChangeAspect="1"/>
          </p:cNvPicPr>
          <p:nvPr/>
        </p:nvPicPr>
        <p:blipFill>
          <a:blip r:embed="rId2"/>
          <a:stretch>
            <a:fillRect/>
          </a:stretch>
        </p:blipFill>
        <p:spPr>
          <a:xfrm>
            <a:off x="324091" y="1656410"/>
            <a:ext cx="4342200" cy="3355704"/>
          </a:xfrm>
          <a:prstGeom prst="rect">
            <a:avLst/>
          </a:prstGeom>
        </p:spPr>
      </p:pic>
      <p:sp>
        <p:nvSpPr>
          <p:cNvPr id="4" name="Rectangle : coins arrondis 3">
            <a:extLst>
              <a:ext uri="{FF2B5EF4-FFF2-40B4-BE49-F238E27FC236}">
                <a16:creationId xmlns:a16="http://schemas.microsoft.com/office/drawing/2014/main" id="{1061CA65-E165-8C26-43F3-1EB289197CF2}"/>
              </a:ext>
            </a:extLst>
          </p:cNvPr>
          <p:cNvSpPr/>
          <p:nvPr/>
        </p:nvSpPr>
        <p:spPr>
          <a:xfrm>
            <a:off x="6654328" y="4432300"/>
            <a:ext cx="4837037" cy="1702116"/>
          </a:xfrm>
          <a:prstGeom prst="round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Le nombre de ventes varie entre 2252 et 0 selon les produits.</a:t>
            </a:r>
          </a:p>
          <a:p>
            <a:pPr algn="ctr"/>
            <a:r>
              <a:rPr lang="fr-FR" dirty="0"/>
              <a:t>60% des produits vendus appartiennent à la catégorie 0</a:t>
            </a:r>
          </a:p>
          <a:p>
            <a:pPr algn="ctr"/>
            <a:r>
              <a:rPr lang="fr-FR" dirty="0"/>
              <a:t>21 produits sans acheteurs</a:t>
            </a:r>
          </a:p>
        </p:txBody>
      </p:sp>
      <p:pic>
        <p:nvPicPr>
          <p:cNvPr id="6" name="Image 5">
            <a:extLst>
              <a:ext uri="{FF2B5EF4-FFF2-40B4-BE49-F238E27FC236}">
                <a16:creationId xmlns:a16="http://schemas.microsoft.com/office/drawing/2014/main" id="{D88D5C92-EE2E-170D-583A-19664F29467D}"/>
              </a:ext>
            </a:extLst>
          </p:cNvPr>
          <p:cNvPicPr>
            <a:picLocks noChangeAspect="1"/>
          </p:cNvPicPr>
          <p:nvPr/>
        </p:nvPicPr>
        <p:blipFill>
          <a:blip r:embed="rId3"/>
          <a:stretch>
            <a:fillRect/>
          </a:stretch>
        </p:blipFill>
        <p:spPr>
          <a:xfrm>
            <a:off x="7525711" y="1463217"/>
            <a:ext cx="3094273" cy="2882819"/>
          </a:xfrm>
          <a:prstGeom prst="rect">
            <a:avLst/>
          </a:prstGeom>
        </p:spPr>
      </p:pic>
    </p:spTree>
    <p:extLst>
      <p:ext uri="{BB962C8B-B14F-4D97-AF65-F5344CB8AC3E}">
        <p14:creationId xmlns:p14="http://schemas.microsoft.com/office/powerpoint/2010/main" val="221762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25C763-3A0C-504B-F009-C1E8728667C3}"/>
              </a:ext>
            </a:extLst>
          </p:cNvPr>
          <p:cNvSpPr>
            <a:spLocks noGrp="1"/>
          </p:cNvSpPr>
          <p:nvPr>
            <p:ph type="title"/>
          </p:nvPr>
        </p:nvSpPr>
        <p:spPr/>
        <p:txBody>
          <a:bodyPr/>
          <a:lstStyle/>
          <a:p>
            <a:r>
              <a:rPr lang="fr-FR" dirty="0"/>
              <a:t>Identification des tests à réaliser</a:t>
            </a:r>
          </a:p>
        </p:txBody>
      </p:sp>
      <p:graphicFrame>
        <p:nvGraphicFramePr>
          <p:cNvPr id="4" name="Espace réservé du contenu 3">
            <a:extLst>
              <a:ext uri="{FF2B5EF4-FFF2-40B4-BE49-F238E27FC236}">
                <a16:creationId xmlns:a16="http://schemas.microsoft.com/office/drawing/2014/main" id="{D674AD5F-0349-E63F-2C63-DB36D774C510}"/>
              </a:ext>
            </a:extLst>
          </p:cNvPr>
          <p:cNvGraphicFramePr>
            <a:graphicFrameLocks noGrp="1"/>
          </p:cNvGraphicFramePr>
          <p:nvPr>
            <p:ph idx="1"/>
            <p:extLst>
              <p:ext uri="{D42A27DB-BD31-4B8C-83A1-F6EECF244321}">
                <p14:modId xmlns:p14="http://schemas.microsoft.com/office/powerpoint/2010/main" val="1367760749"/>
              </p:ext>
            </p:extLst>
          </p:nvPr>
        </p:nvGraphicFramePr>
        <p:xfrm>
          <a:off x="481781" y="957263"/>
          <a:ext cx="10910121" cy="4348797"/>
        </p:xfrm>
        <a:graphic>
          <a:graphicData uri="http://schemas.openxmlformats.org/drawingml/2006/table">
            <a:tbl>
              <a:tblPr firstRow="1" bandRow="1">
                <a:tableStyleId>{5C22544A-7EE6-4342-B048-85BDC9FD1C3A}</a:tableStyleId>
              </a:tblPr>
              <a:tblGrid>
                <a:gridCol w="2652288">
                  <a:extLst>
                    <a:ext uri="{9D8B030D-6E8A-4147-A177-3AD203B41FA5}">
                      <a16:colId xmlns:a16="http://schemas.microsoft.com/office/drawing/2014/main" val="1021880705"/>
                    </a:ext>
                  </a:extLst>
                </a:gridCol>
                <a:gridCol w="2752611">
                  <a:extLst>
                    <a:ext uri="{9D8B030D-6E8A-4147-A177-3AD203B41FA5}">
                      <a16:colId xmlns:a16="http://schemas.microsoft.com/office/drawing/2014/main" val="427531323"/>
                    </a:ext>
                  </a:extLst>
                </a:gridCol>
                <a:gridCol w="2752611">
                  <a:extLst>
                    <a:ext uri="{9D8B030D-6E8A-4147-A177-3AD203B41FA5}">
                      <a16:colId xmlns:a16="http://schemas.microsoft.com/office/drawing/2014/main" val="3819104853"/>
                    </a:ext>
                  </a:extLst>
                </a:gridCol>
                <a:gridCol w="2752611">
                  <a:extLst>
                    <a:ext uri="{9D8B030D-6E8A-4147-A177-3AD203B41FA5}">
                      <a16:colId xmlns:a16="http://schemas.microsoft.com/office/drawing/2014/main" val="1740875003"/>
                    </a:ext>
                  </a:extLst>
                </a:gridCol>
              </a:tblGrid>
              <a:tr h="630237">
                <a:tc>
                  <a:txBody>
                    <a:bodyPr/>
                    <a:lstStyle/>
                    <a:p>
                      <a:r>
                        <a:rPr lang="fr-FR" dirty="0"/>
                        <a:t>Formulation</a:t>
                      </a:r>
                    </a:p>
                  </a:txBody>
                  <a:tcPr/>
                </a:tc>
                <a:tc>
                  <a:txBody>
                    <a:bodyPr/>
                    <a:lstStyle/>
                    <a:p>
                      <a:r>
                        <a:rPr lang="fr-FR" dirty="0"/>
                        <a:t>Type de données</a:t>
                      </a:r>
                    </a:p>
                  </a:txBody>
                  <a:tcPr/>
                </a:tc>
                <a:tc>
                  <a:txBody>
                    <a:bodyPr/>
                    <a:lstStyle/>
                    <a:p>
                      <a:pPr algn="ctr"/>
                      <a:r>
                        <a:rPr lang="fr-FR" dirty="0"/>
                        <a:t>Test </a:t>
                      </a:r>
                    </a:p>
                  </a:txBody>
                  <a:tcPr/>
                </a:tc>
                <a:tc>
                  <a:txBody>
                    <a:bodyPr/>
                    <a:lstStyle/>
                    <a:p>
                      <a:pPr algn="ctr"/>
                      <a:r>
                        <a:rPr lang="fr-FR" dirty="0"/>
                        <a:t>Graphique</a:t>
                      </a:r>
                    </a:p>
                  </a:txBody>
                  <a:tcPr/>
                </a:tc>
                <a:extLst>
                  <a:ext uri="{0D108BD9-81ED-4DB2-BD59-A6C34878D82A}">
                    <a16:rowId xmlns:a16="http://schemas.microsoft.com/office/drawing/2014/main" val="296540514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kern="1200" dirty="0">
                          <a:solidFill>
                            <a:schemeClr val="dk1"/>
                          </a:solidFill>
                          <a:latin typeface="Calibri" panose="020F0502020204030204" pitchFamily="34" charset="0"/>
                          <a:ea typeface="+mn-ea"/>
                          <a:cs typeface="+mn-cs"/>
                        </a:rPr>
                        <a:t>Lien entre genre d'un client et les catégories des livres achetés</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400" kern="1200" dirty="0">
                        <a:solidFill>
                          <a:schemeClr val="dk1"/>
                        </a:solidFill>
                        <a:latin typeface="Calibri" panose="020F0502020204030204" pitchFamily="34" charset="0"/>
                        <a:ea typeface="+mn-ea"/>
                        <a:cs typeface="+mn-cs"/>
                      </a:endParaRPr>
                    </a:p>
                  </a:txBody>
                  <a:tcPr marL="72000" marR="72000"/>
                </a:tc>
                <a:tc>
                  <a:txBody>
                    <a:bodyPr/>
                    <a:lstStyle/>
                    <a:p>
                      <a:pPr algn="ctr"/>
                      <a:r>
                        <a:rPr lang="fr-FR" sz="1400" kern="1200" dirty="0">
                          <a:solidFill>
                            <a:schemeClr val="dk1"/>
                          </a:solidFill>
                          <a:latin typeface="Calibri" panose="020F0502020204030204" pitchFamily="34" charset="0"/>
                          <a:ea typeface="+mn-ea"/>
                          <a:cs typeface="+mn-cs"/>
                        </a:rPr>
                        <a:t>Association de valeurs qualitative</a:t>
                      </a:r>
                    </a:p>
                    <a:p>
                      <a:pPr algn="ctr"/>
                      <a:r>
                        <a:rPr lang="fr-FR" sz="1400" kern="1200" dirty="0">
                          <a:solidFill>
                            <a:schemeClr val="dk1"/>
                          </a:solidFill>
                          <a:latin typeface="Calibri" panose="020F0502020204030204" pitchFamily="34" charset="0"/>
                          <a:ea typeface="+mn-ea"/>
                          <a:cs typeface="+mn-cs"/>
                        </a:rPr>
                        <a:t>Tableau de contingence</a:t>
                      </a:r>
                    </a:p>
                  </a:txBody>
                  <a:tcPr marL="72000" marR="72000"/>
                </a:tc>
                <a:tc>
                  <a:txBody>
                    <a:bodyPr/>
                    <a:lstStyle/>
                    <a:p>
                      <a:r>
                        <a:rPr lang="fr-FR" sz="1400" kern="1200" dirty="0">
                          <a:solidFill>
                            <a:schemeClr val="dk1"/>
                          </a:solidFill>
                          <a:latin typeface="Calibri" panose="020F0502020204030204" pitchFamily="34" charset="0"/>
                          <a:ea typeface="+mn-ea"/>
                          <a:cs typeface="+mn-cs"/>
                        </a:rPr>
                        <a:t>Chi-2</a:t>
                      </a:r>
                    </a:p>
                  </a:txBody>
                  <a:tcPr/>
                </a:tc>
                <a:tc>
                  <a:txBody>
                    <a:bodyPr/>
                    <a:lstStyle/>
                    <a:p>
                      <a:r>
                        <a:rPr lang="fr-FR" sz="1400" kern="1200" dirty="0" err="1">
                          <a:solidFill>
                            <a:schemeClr val="dk1"/>
                          </a:solidFill>
                          <a:latin typeface="Calibri" panose="020F0502020204030204" pitchFamily="34" charset="0"/>
                          <a:ea typeface="+mn-ea"/>
                          <a:cs typeface="+mn-cs"/>
                        </a:rPr>
                        <a:t>Heatmap</a:t>
                      </a:r>
                      <a:endParaRPr lang="fr-FR" sz="1400" kern="1200" dirty="0">
                        <a:solidFill>
                          <a:schemeClr val="dk1"/>
                        </a:solidFill>
                        <a:latin typeface="Calibri" panose="020F0502020204030204" pitchFamily="34" charset="0"/>
                        <a:ea typeface="+mn-ea"/>
                        <a:cs typeface="+mn-cs"/>
                      </a:endParaRPr>
                    </a:p>
                  </a:txBody>
                  <a:tcPr/>
                </a:tc>
                <a:extLst>
                  <a:ext uri="{0D108BD9-81ED-4DB2-BD59-A6C34878D82A}">
                    <a16:rowId xmlns:a16="http://schemas.microsoft.com/office/drawing/2014/main" val="276995642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kern="1200" dirty="0">
                          <a:solidFill>
                            <a:schemeClr val="dk1"/>
                          </a:solidFill>
                          <a:latin typeface="Calibri" panose="020F0502020204030204" pitchFamily="34" charset="0"/>
                          <a:ea typeface="+mn-ea"/>
                          <a:cs typeface="+mn-cs"/>
                        </a:rPr>
                        <a:t>Lien entre âge du client et le montant total des achats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400" kern="1200" dirty="0">
                        <a:solidFill>
                          <a:schemeClr val="dk1"/>
                        </a:solidFill>
                        <a:latin typeface="Calibri" panose="020F0502020204030204" pitchFamily="34" charset="0"/>
                        <a:ea typeface="+mn-ea"/>
                        <a:cs typeface="+mn-cs"/>
                      </a:endParaRPr>
                    </a:p>
                  </a:txBody>
                  <a:tcPr marL="72000" marR="72000"/>
                </a:tc>
                <a:tc>
                  <a:txBody>
                    <a:bodyPr/>
                    <a:lstStyle/>
                    <a:p>
                      <a:pPr algn="ctr"/>
                      <a:r>
                        <a:rPr lang="fr-FR" sz="1400" kern="1200" dirty="0">
                          <a:solidFill>
                            <a:schemeClr val="dk1"/>
                          </a:solidFill>
                          <a:latin typeface="Calibri" panose="020F0502020204030204" pitchFamily="34" charset="0"/>
                          <a:ea typeface="+mn-ea"/>
                          <a:cs typeface="+mn-cs"/>
                        </a:rPr>
                        <a:t>Quantitative / Quantitative</a:t>
                      </a:r>
                    </a:p>
                  </a:txBody>
                  <a:tcPr marL="72000" marR="72000"/>
                </a:tc>
                <a:tc>
                  <a:txBody>
                    <a:bodyPr/>
                    <a:lstStyle/>
                    <a:p>
                      <a:r>
                        <a:rPr lang="fr-FR" sz="1400" kern="1200" dirty="0">
                          <a:solidFill>
                            <a:schemeClr val="dk1"/>
                          </a:solidFill>
                          <a:latin typeface="Calibri" panose="020F0502020204030204" pitchFamily="34" charset="0"/>
                          <a:ea typeface="+mn-ea"/>
                          <a:cs typeface="+mn-cs"/>
                        </a:rPr>
                        <a:t>Pearson / Spearman</a:t>
                      </a:r>
                    </a:p>
                  </a:txBody>
                  <a:tcPr/>
                </a:tc>
                <a:tc>
                  <a:txBody>
                    <a:bodyPr/>
                    <a:lstStyle/>
                    <a:p>
                      <a:r>
                        <a:rPr lang="fr-FR" sz="1400" kern="1200" dirty="0" err="1">
                          <a:solidFill>
                            <a:schemeClr val="dk1"/>
                          </a:solidFill>
                          <a:latin typeface="Calibri" panose="020F0502020204030204" pitchFamily="34" charset="0"/>
                          <a:ea typeface="+mn-ea"/>
                          <a:cs typeface="+mn-cs"/>
                        </a:rPr>
                        <a:t>Scatter</a:t>
                      </a:r>
                      <a:r>
                        <a:rPr lang="fr-FR" sz="1400" kern="1200" dirty="0">
                          <a:solidFill>
                            <a:schemeClr val="dk1"/>
                          </a:solidFill>
                          <a:latin typeface="Calibri" panose="020F0502020204030204" pitchFamily="34" charset="0"/>
                          <a:ea typeface="+mn-ea"/>
                          <a:cs typeface="+mn-cs"/>
                        </a:rPr>
                        <a:t> plot</a:t>
                      </a:r>
                    </a:p>
                  </a:txBody>
                  <a:tcPr/>
                </a:tc>
                <a:extLst>
                  <a:ext uri="{0D108BD9-81ED-4DB2-BD59-A6C34878D82A}">
                    <a16:rowId xmlns:a16="http://schemas.microsoft.com/office/drawing/2014/main" val="138773296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kern="1200" dirty="0">
                          <a:solidFill>
                            <a:schemeClr val="dk1"/>
                          </a:solidFill>
                          <a:latin typeface="Calibri" panose="020F0502020204030204" pitchFamily="34" charset="0"/>
                          <a:ea typeface="+mn-ea"/>
                          <a:cs typeface="+mn-cs"/>
                        </a:rPr>
                        <a:t>Lien entre âge du client et ses fréquences d'achats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400" kern="1200" dirty="0">
                        <a:solidFill>
                          <a:schemeClr val="dk1"/>
                        </a:solidFill>
                        <a:latin typeface="Calibri" panose="020F0502020204030204" pitchFamily="34" charset="0"/>
                        <a:ea typeface="+mn-ea"/>
                        <a:cs typeface="+mn-cs"/>
                      </a:endParaRPr>
                    </a:p>
                  </a:txBody>
                  <a:tcPr marL="72000" marR="7200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kern="1200" dirty="0">
                          <a:solidFill>
                            <a:schemeClr val="dk1"/>
                          </a:solidFill>
                          <a:latin typeface="Calibri" panose="020F0502020204030204" pitchFamily="34" charset="0"/>
                          <a:ea typeface="+mn-ea"/>
                          <a:cs typeface="+mn-cs"/>
                        </a:rPr>
                        <a:t>Quantitative / Quantitative</a:t>
                      </a:r>
                    </a:p>
                  </a:txBody>
                  <a:tcPr marL="72000" marR="720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kern="1200" dirty="0">
                          <a:solidFill>
                            <a:schemeClr val="dk1"/>
                          </a:solidFill>
                          <a:latin typeface="Calibri" panose="020F0502020204030204" pitchFamily="34" charset="0"/>
                          <a:ea typeface="+mn-ea"/>
                          <a:cs typeface="+mn-cs"/>
                        </a:rPr>
                        <a:t>Pearson / Spearman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kern="1200" dirty="0" err="1">
                          <a:solidFill>
                            <a:schemeClr val="dk1"/>
                          </a:solidFill>
                          <a:latin typeface="Calibri" panose="020F0502020204030204" pitchFamily="34" charset="0"/>
                          <a:ea typeface="+mn-ea"/>
                          <a:cs typeface="+mn-cs"/>
                        </a:rPr>
                        <a:t>Scatter</a:t>
                      </a:r>
                      <a:r>
                        <a:rPr lang="fr-FR" sz="1400" kern="1200" dirty="0">
                          <a:solidFill>
                            <a:schemeClr val="dk1"/>
                          </a:solidFill>
                          <a:latin typeface="Calibri" panose="020F0502020204030204" pitchFamily="34" charset="0"/>
                          <a:ea typeface="+mn-ea"/>
                          <a:cs typeface="+mn-cs"/>
                        </a:rPr>
                        <a:t> plot</a:t>
                      </a:r>
                    </a:p>
                  </a:txBody>
                  <a:tcPr/>
                </a:tc>
                <a:extLst>
                  <a:ext uri="{0D108BD9-81ED-4DB2-BD59-A6C34878D82A}">
                    <a16:rowId xmlns:a16="http://schemas.microsoft.com/office/drawing/2014/main" val="35421359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kern="1200" dirty="0">
                          <a:solidFill>
                            <a:schemeClr val="dk1"/>
                          </a:solidFill>
                          <a:latin typeface="Calibri" panose="020F0502020204030204" pitchFamily="34" charset="0"/>
                          <a:ea typeface="+mn-ea"/>
                          <a:cs typeface="+mn-cs"/>
                        </a:rPr>
                        <a:t>Lien entre âge du client et la taille du panier moyen</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400" kern="1200" dirty="0">
                        <a:solidFill>
                          <a:schemeClr val="dk1"/>
                        </a:solidFill>
                        <a:latin typeface="Calibri" panose="020F0502020204030204" pitchFamily="34" charset="0"/>
                        <a:ea typeface="+mn-ea"/>
                        <a:cs typeface="+mn-cs"/>
                      </a:endParaRPr>
                    </a:p>
                  </a:txBody>
                  <a:tcPr marL="72000" marR="7200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kern="1200" dirty="0">
                          <a:solidFill>
                            <a:schemeClr val="dk1"/>
                          </a:solidFill>
                          <a:latin typeface="Calibri" panose="020F0502020204030204" pitchFamily="34" charset="0"/>
                          <a:ea typeface="+mn-ea"/>
                          <a:cs typeface="+mn-cs"/>
                        </a:rPr>
                        <a:t>Quantitative / Moyenne quantitative</a:t>
                      </a:r>
                    </a:p>
                  </a:txBody>
                  <a:tcPr marL="72000" marR="720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kern="1200" dirty="0">
                          <a:solidFill>
                            <a:schemeClr val="dk1"/>
                          </a:solidFill>
                          <a:latin typeface="Calibri" panose="020F0502020204030204" pitchFamily="34" charset="0"/>
                          <a:ea typeface="+mn-ea"/>
                          <a:cs typeface="+mn-cs"/>
                        </a:rPr>
                        <a:t>Spearman</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400" kern="1200" dirty="0">
                        <a:solidFill>
                          <a:schemeClr val="dk1"/>
                        </a:solidFill>
                        <a:latin typeface="Calibri" panose="020F0502020204030204" pitchFamily="34" charset="0"/>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kern="1200" dirty="0" err="1">
                          <a:solidFill>
                            <a:schemeClr val="dk1"/>
                          </a:solidFill>
                          <a:latin typeface="Calibri" panose="020F0502020204030204" pitchFamily="34" charset="0"/>
                          <a:ea typeface="+mn-ea"/>
                          <a:cs typeface="+mn-cs"/>
                        </a:rPr>
                        <a:t>Scatter</a:t>
                      </a:r>
                      <a:r>
                        <a:rPr lang="fr-FR" sz="1400" kern="1200" dirty="0">
                          <a:solidFill>
                            <a:schemeClr val="dk1"/>
                          </a:solidFill>
                          <a:latin typeface="Calibri" panose="020F0502020204030204" pitchFamily="34" charset="0"/>
                          <a:ea typeface="+mn-ea"/>
                          <a:cs typeface="+mn-cs"/>
                        </a:rPr>
                        <a:t> plot</a:t>
                      </a:r>
                    </a:p>
                  </a:txBody>
                  <a:tcPr/>
                </a:tc>
                <a:extLst>
                  <a:ext uri="{0D108BD9-81ED-4DB2-BD59-A6C34878D82A}">
                    <a16:rowId xmlns:a16="http://schemas.microsoft.com/office/drawing/2014/main" val="214194977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kern="1200" dirty="0">
                          <a:solidFill>
                            <a:schemeClr val="dk1"/>
                          </a:solidFill>
                          <a:latin typeface="Calibri" panose="020F0502020204030204" pitchFamily="34" charset="0"/>
                          <a:ea typeface="+mn-ea"/>
                          <a:cs typeface="+mn-cs"/>
                        </a:rPr>
                        <a:t>Lien entre âge du client et les catégories des livres achetés</a:t>
                      </a:r>
                    </a:p>
                    <a:p>
                      <a:pPr algn="l"/>
                      <a:endParaRPr lang="fr-FR" dirty="0"/>
                    </a:p>
                  </a:txBody>
                  <a:tcPr marL="72000" marR="72000"/>
                </a:tc>
                <a:tc>
                  <a:txBody>
                    <a:bodyPr/>
                    <a:lstStyle/>
                    <a:p>
                      <a:pPr algn="ctr"/>
                      <a:r>
                        <a:rPr lang="fr-FR" sz="1400" kern="1200" dirty="0">
                          <a:solidFill>
                            <a:schemeClr val="dk1"/>
                          </a:solidFill>
                          <a:latin typeface="Calibri" panose="020F0502020204030204" pitchFamily="34" charset="0"/>
                          <a:ea typeface="+mn-ea"/>
                          <a:cs typeface="+mn-cs"/>
                        </a:rPr>
                        <a:t>Quantitative / Qualitative</a:t>
                      </a:r>
                    </a:p>
                  </a:txBody>
                  <a:tcPr marL="72000" marR="72000"/>
                </a:tc>
                <a:tc>
                  <a:txBody>
                    <a:bodyPr/>
                    <a:lstStyle/>
                    <a:p>
                      <a:r>
                        <a:rPr lang="fr-FR" sz="1400" kern="1200" dirty="0" err="1">
                          <a:solidFill>
                            <a:schemeClr val="dk1"/>
                          </a:solidFill>
                          <a:latin typeface="Calibri" panose="020F0502020204030204" pitchFamily="34" charset="0"/>
                          <a:ea typeface="+mn-ea"/>
                          <a:cs typeface="+mn-cs"/>
                        </a:rPr>
                        <a:t>Anova</a:t>
                      </a:r>
                      <a:r>
                        <a:rPr lang="fr-FR" sz="1400" kern="1200" dirty="0">
                          <a:solidFill>
                            <a:schemeClr val="dk1"/>
                          </a:solidFill>
                          <a:latin typeface="Calibri" panose="020F0502020204030204" pitchFamily="34" charset="0"/>
                          <a:ea typeface="+mn-ea"/>
                          <a:cs typeface="+mn-cs"/>
                        </a:rPr>
                        <a:t> /</a:t>
                      </a:r>
                      <a:r>
                        <a:rPr lang="fr-FR" sz="1400" kern="1200" dirty="0" err="1">
                          <a:solidFill>
                            <a:schemeClr val="dk1"/>
                          </a:solidFill>
                          <a:latin typeface="Calibri" panose="020F0502020204030204" pitchFamily="34" charset="0"/>
                          <a:ea typeface="+mn-ea"/>
                          <a:cs typeface="+mn-cs"/>
                        </a:rPr>
                        <a:t>Kruskal</a:t>
                      </a:r>
                      <a:r>
                        <a:rPr lang="fr-FR" sz="1400" kern="1200" dirty="0">
                          <a:solidFill>
                            <a:schemeClr val="dk1"/>
                          </a:solidFill>
                          <a:latin typeface="Calibri" panose="020F0502020204030204" pitchFamily="34" charset="0"/>
                          <a:ea typeface="+mn-ea"/>
                          <a:cs typeface="+mn-cs"/>
                        </a:rPr>
                        <a:t>-Wallis</a:t>
                      </a:r>
                    </a:p>
                  </a:txBody>
                  <a:tcPr/>
                </a:tc>
                <a:tc>
                  <a:txBody>
                    <a:bodyPr/>
                    <a:lstStyle/>
                    <a:p>
                      <a:r>
                        <a:rPr lang="fr-FR" sz="1400" kern="1200" dirty="0" err="1">
                          <a:solidFill>
                            <a:schemeClr val="dk1"/>
                          </a:solidFill>
                          <a:latin typeface="Calibri" panose="020F0502020204030204" pitchFamily="34" charset="0"/>
                          <a:ea typeface="+mn-ea"/>
                          <a:cs typeface="+mn-cs"/>
                        </a:rPr>
                        <a:t>Boxplot</a:t>
                      </a:r>
                      <a:endParaRPr lang="fr-FR" sz="1400" kern="1200" dirty="0">
                        <a:solidFill>
                          <a:schemeClr val="dk1"/>
                        </a:solidFill>
                        <a:latin typeface="Calibri" panose="020F0502020204030204" pitchFamily="34" charset="0"/>
                        <a:ea typeface="+mn-ea"/>
                        <a:cs typeface="+mn-cs"/>
                      </a:endParaRPr>
                    </a:p>
                  </a:txBody>
                  <a:tcPr/>
                </a:tc>
                <a:extLst>
                  <a:ext uri="{0D108BD9-81ED-4DB2-BD59-A6C34878D82A}">
                    <a16:rowId xmlns:a16="http://schemas.microsoft.com/office/drawing/2014/main" val="3512704118"/>
                  </a:ext>
                </a:extLst>
              </a:tr>
            </a:tbl>
          </a:graphicData>
        </a:graphic>
      </p:graphicFrame>
    </p:spTree>
    <p:extLst>
      <p:ext uri="{BB962C8B-B14F-4D97-AF65-F5344CB8AC3E}">
        <p14:creationId xmlns:p14="http://schemas.microsoft.com/office/powerpoint/2010/main" val="33559603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0E651-E7E8-7DC3-189C-A4E3DB9607F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D334B99-7487-C1DA-9034-F05AD3AB4D10}"/>
              </a:ext>
            </a:extLst>
          </p:cNvPr>
          <p:cNvSpPr>
            <a:spLocks noGrp="1"/>
          </p:cNvSpPr>
          <p:nvPr>
            <p:ph type="title"/>
          </p:nvPr>
        </p:nvSpPr>
        <p:spPr/>
        <p:txBody>
          <a:bodyPr/>
          <a:lstStyle/>
          <a:p>
            <a:r>
              <a:rPr lang="fr-FR" dirty="0"/>
              <a:t>Analyse des comportements en ligne : Test 1</a:t>
            </a:r>
          </a:p>
        </p:txBody>
      </p:sp>
      <p:sp>
        <p:nvSpPr>
          <p:cNvPr id="3" name="Espace réservé du contenu 2">
            <a:extLst>
              <a:ext uri="{FF2B5EF4-FFF2-40B4-BE49-F238E27FC236}">
                <a16:creationId xmlns:a16="http://schemas.microsoft.com/office/drawing/2014/main" id="{90FDFEE9-7F8D-058D-562F-3E01F8CC6BC6}"/>
              </a:ext>
            </a:extLst>
          </p:cNvPr>
          <p:cNvSpPr>
            <a:spLocks noGrp="1"/>
          </p:cNvSpPr>
          <p:nvPr>
            <p:ph idx="1"/>
          </p:nvPr>
        </p:nvSpPr>
        <p:spPr>
          <a:xfrm>
            <a:off x="276455" y="926822"/>
            <a:ext cx="11021465" cy="5004356"/>
          </a:xfrm>
        </p:spPr>
        <p:txBody>
          <a:bodyPr>
            <a:normAutofit/>
          </a:bodyPr>
          <a:lstStyle/>
          <a:p>
            <a:pPr marL="0" indent="0">
              <a:buNone/>
            </a:pPr>
            <a:r>
              <a:rPr lang="fr-FR" sz="1600" b="1" dirty="0">
                <a:latin typeface="Calibri" panose="020F0502020204030204" pitchFamily="34" charset="0"/>
              </a:rPr>
              <a:t>Question :  </a:t>
            </a:r>
            <a:r>
              <a:rPr lang="fr-FR" sz="1600" dirty="0">
                <a:latin typeface="Calibri" panose="020F0502020204030204" pitchFamily="34" charset="0"/>
              </a:rPr>
              <a:t>Existe-t-il un lien entre le </a:t>
            </a:r>
            <a:r>
              <a:rPr lang="fr-FR" sz="1600" b="1" u="sng" dirty="0">
                <a:latin typeface="Calibri" panose="020F0502020204030204" pitchFamily="34" charset="0"/>
              </a:rPr>
              <a:t>genre d'un client</a:t>
            </a:r>
            <a:r>
              <a:rPr lang="fr-FR" sz="1600" dirty="0">
                <a:latin typeface="Calibri" panose="020F0502020204030204" pitchFamily="34" charset="0"/>
              </a:rPr>
              <a:t> et les </a:t>
            </a:r>
            <a:r>
              <a:rPr lang="fr-FR" sz="1600" b="1" u="sng" dirty="0">
                <a:latin typeface="Calibri" panose="020F0502020204030204" pitchFamily="34" charset="0"/>
              </a:rPr>
              <a:t>catégories des livres achetés</a:t>
            </a:r>
          </a:p>
          <a:p>
            <a:pPr marL="0" indent="0">
              <a:buNone/>
            </a:pPr>
            <a:r>
              <a:rPr lang="fr-FR" sz="1600" b="1" dirty="0"/>
              <a:t>Hypothèses : </a:t>
            </a:r>
          </a:p>
          <a:p>
            <a:pPr marL="457200" lvl="1" indent="0">
              <a:buNone/>
            </a:pPr>
            <a:r>
              <a:rPr lang="fr-FR" sz="1200" dirty="0"/>
              <a:t>H0 : Il n’existe pas de lien entre le genre d’un client et les catégories de livres achetés</a:t>
            </a:r>
          </a:p>
          <a:p>
            <a:pPr marL="457200" lvl="1" indent="0">
              <a:buNone/>
            </a:pPr>
            <a:r>
              <a:rPr lang="fr-FR" sz="1200" dirty="0"/>
              <a:t>H1 : Il peut exister un lien entre le genre d’un client et les catégories de livres achetés</a:t>
            </a:r>
          </a:p>
          <a:p>
            <a:pPr marL="0" lvl="1" indent="0">
              <a:spcBef>
                <a:spcPts val="1000"/>
              </a:spcBef>
              <a:buNone/>
            </a:pPr>
            <a:r>
              <a:rPr lang="fr-FR" sz="1600" b="1" dirty="0"/>
              <a:t>Choix du test statistique : </a:t>
            </a:r>
          </a:p>
          <a:p>
            <a:pPr marL="0" lvl="1" indent="0">
              <a:spcBef>
                <a:spcPts val="1000"/>
              </a:spcBef>
              <a:buNone/>
            </a:pPr>
            <a:r>
              <a:rPr lang="fr-FR" sz="1200" dirty="0"/>
              <a:t>Sélection du test de Chi² car il s’agit de valeurs qualitatives (Genre et Catégorie),</a:t>
            </a:r>
          </a:p>
          <a:p>
            <a:pPr marL="0" lvl="1" indent="0">
              <a:spcBef>
                <a:spcPts val="1000"/>
              </a:spcBef>
              <a:buNone/>
            </a:pPr>
            <a:r>
              <a:rPr lang="fr-FR" sz="1200" dirty="0"/>
              <a:t> et construction d’un test de contingence de (2 x 3.)</a:t>
            </a:r>
          </a:p>
          <a:p>
            <a:pPr marL="0" lvl="1" indent="0">
              <a:spcBef>
                <a:spcPts val="1000"/>
              </a:spcBef>
              <a:buNone/>
            </a:pPr>
            <a:r>
              <a:rPr lang="fr-FR" sz="1600" b="1" dirty="0"/>
              <a:t>Conclusion :</a:t>
            </a:r>
          </a:p>
          <a:p>
            <a:pPr marL="0" lvl="1" indent="0">
              <a:spcBef>
                <a:spcPts val="1000"/>
              </a:spcBef>
              <a:buNone/>
            </a:pPr>
            <a:r>
              <a:rPr lang="fr-FR" sz="1200" dirty="0"/>
              <a:t>Le test donne un Chi² de 20,21 et une « </a:t>
            </a:r>
            <a:r>
              <a:rPr lang="fr-FR" sz="1200" dirty="0" err="1"/>
              <a:t>p_value</a:t>
            </a:r>
            <a:r>
              <a:rPr lang="fr-FR" sz="1200" dirty="0"/>
              <a:t> » de 0. </a:t>
            </a:r>
          </a:p>
          <a:p>
            <a:pPr marL="0" lvl="1" indent="0">
              <a:spcBef>
                <a:spcPts val="1000"/>
              </a:spcBef>
              <a:buNone/>
            </a:pPr>
            <a:r>
              <a:rPr lang="fr-FR" sz="1200" dirty="0"/>
              <a:t>L’hypothèse 0 est rejetée, avec un indice de confiance élevé en raison </a:t>
            </a:r>
          </a:p>
          <a:p>
            <a:pPr marL="0" lvl="1" indent="0">
              <a:spcBef>
                <a:spcPts val="1000"/>
              </a:spcBef>
              <a:buNone/>
            </a:pPr>
            <a:r>
              <a:rPr lang="fr-FR" sz="1200" dirty="0"/>
              <a:t>d’un </a:t>
            </a:r>
            <a:r>
              <a:rPr lang="fr-FR" sz="1200" dirty="0" err="1"/>
              <a:t>p_value</a:t>
            </a:r>
            <a:r>
              <a:rPr lang="fr-FR" sz="1200" dirty="0"/>
              <a:t> à 0.</a:t>
            </a:r>
          </a:p>
        </p:txBody>
      </p:sp>
      <p:pic>
        <p:nvPicPr>
          <p:cNvPr id="8" name="Image 7">
            <a:extLst>
              <a:ext uri="{FF2B5EF4-FFF2-40B4-BE49-F238E27FC236}">
                <a16:creationId xmlns:a16="http://schemas.microsoft.com/office/drawing/2014/main" id="{8973710A-EF48-6A73-371B-332463A97546}"/>
              </a:ext>
            </a:extLst>
          </p:cNvPr>
          <p:cNvPicPr>
            <a:picLocks noChangeAspect="1"/>
          </p:cNvPicPr>
          <p:nvPr/>
        </p:nvPicPr>
        <p:blipFill>
          <a:blip r:embed="rId2"/>
          <a:stretch>
            <a:fillRect/>
          </a:stretch>
        </p:blipFill>
        <p:spPr>
          <a:xfrm>
            <a:off x="5895605" y="2871598"/>
            <a:ext cx="5724895" cy="2934524"/>
          </a:xfrm>
          <a:prstGeom prst="rect">
            <a:avLst/>
          </a:prstGeom>
        </p:spPr>
      </p:pic>
      <p:sp>
        <p:nvSpPr>
          <p:cNvPr id="4" name="Rectangle : coins arrondis 3">
            <a:extLst>
              <a:ext uri="{FF2B5EF4-FFF2-40B4-BE49-F238E27FC236}">
                <a16:creationId xmlns:a16="http://schemas.microsoft.com/office/drawing/2014/main" id="{3D7DD820-4D1B-6280-AA40-B693EF72F05D}"/>
              </a:ext>
            </a:extLst>
          </p:cNvPr>
          <p:cNvSpPr/>
          <p:nvPr/>
        </p:nvSpPr>
        <p:spPr>
          <a:xfrm>
            <a:off x="381458" y="4724400"/>
            <a:ext cx="5345632" cy="1348596"/>
          </a:xfrm>
          <a:prstGeom prst="round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indent="0">
              <a:spcBef>
                <a:spcPts val="1000"/>
              </a:spcBef>
              <a:buNone/>
            </a:pPr>
            <a:r>
              <a:rPr lang="fr-FR" sz="1800" dirty="0"/>
              <a:t>Il existe un lien entre le genre du client et la catégorie de livres achetée</a:t>
            </a:r>
          </a:p>
        </p:txBody>
      </p:sp>
    </p:spTree>
    <p:extLst>
      <p:ext uri="{BB962C8B-B14F-4D97-AF65-F5344CB8AC3E}">
        <p14:creationId xmlns:p14="http://schemas.microsoft.com/office/powerpoint/2010/main" val="20129916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AA406A7-798F-1BA0-C195-DC420F0C2AA4}"/>
              </a:ext>
            </a:extLst>
          </p:cNvPr>
          <p:cNvSpPr>
            <a:spLocks noGrp="1"/>
          </p:cNvSpPr>
          <p:nvPr>
            <p:ph type="title"/>
          </p:nvPr>
        </p:nvSpPr>
        <p:spPr/>
        <p:txBody>
          <a:bodyPr/>
          <a:lstStyle/>
          <a:p>
            <a:r>
              <a:rPr lang="fr-FR" dirty="0"/>
              <a:t>Analyse des comportements en ligne : Test 2</a:t>
            </a:r>
          </a:p>
        </p:txBody>
      </p:sp>
      <p:sp>
        <p:nvSpPr>
          <p:cNvPr id="3" name="Espace réservé du contenu 2">
            <a:extLst>
              <a:ext uri="{FF2B5EF4-FFF2-40B4-BE49-F238E27FC236}">
                <a16:creationId xmlns:a16="http://schemas.microsoft.com/office/drawing/2014/main" id="{DC7F97E9-F9C6-90B2-64BD-68E642F37823}"/>
              </a:ext>
            </a:extLst>
          </p:cNvPr>
          <p:cNvSpPr>
            <a:spLocks noGrp="1"/>
          </p:cNvSpPr>
          <p:nvPr>
            <p:ph idx="1"/>
          </p:nvPr>
        </p:nvSpPr>
        <p:spPr>
          <a:xfrm>
            <a:off x="291060" y="926822"/>
            <a:ext cx="10691265" cy="5004356"/>
          </a:xfrm>
        </p:spPr>
        <p:txBody>
          <a:bodyPr>
            <a:normAutofit/>
          </a:bodyPr>
          <a:lstStyle/>
          <a:p>
            <a:pPr marL="0" indent="0">
              <a:buNone/>
            </a:pPr>
            <a:r>
              <a:rPr lang="fr-FR" sz="1600" b="1" dirty="0"/>
              <a:t>Question : </a:t>
            </a:r>
            <a:r>
              <a:rPr lang="fr-FR" sz="1600" dirty="0">
                <a:latin typeface="Calibri" panose="020F0502020204030204" pitchFamily="34" charset="0"/>
              </a:rPr>
              <a:t>Existe-t-il un lien entre </a:t>
            </a:r>
            <a:r>
              <a:rPr lang="fr-FR" sz="1600" b="1" u="sng" dirty="0">
                <a:latin typeface="Calibri" panose="020F0502020204030204" pitchFamily="34" charset="0"/>
              </a:rPr>
              <a:t>l’âge du client</a:t>
            </a:r>
            <a:r>
              <a:rPr lang="fr-FR" sz="1600" dirty="0">
                <a:latin typeface="Calibri" panose="020F0502020204030204" pitchFamily="34" charset="0"/>
              </a:rPr>
              <a:t> et le </a:t>
            </a:r>
            <a:r>
              <a:rPr lang="fr-FR" sz="1600" b="1" u="sng" dirty="0">
                <a:latin typeface="Calibri" panose="020F0502020204030204" pitchFamily="34" charset="0"/>
              </a:rPr>
              <a:t>montant total des achats</a:t>
            </a:r>
          </a:p>
          <a:p>
            <a:pPr marL="0" indent="0">
              <a:buNone/>
            </a:pPr>
            <a:r>
              <a:rPr lang="fr-FR" sz="1600" b="1" dirty="0"/>
              <a:t>Hypothèses : </a:t>
            </a:r>
          </a:p>
          <a:p>
            <a:pPr marL="457200" lvl="1" indent="0">
              <a:buNone/>
            </a:pPr>
            <a:r>
              <a:rPr lang="fr-FR" sz="1200" dirty="0"/>
              <a:t>H0 : Il n’existe pas de lien entre l’âge du client et le montant total des achats</a:t>
            </a:r>
          </a:p>
          <a:p>
            <a:pPr marL="457200" lvl="1" indent="0">
              <a:buNone/>
            </a:pPr>
            <a:r>
              <a:rPr lang="fr-FR" sz="1200" dirty="0"/>
              <a:t>H1 : Il peut exister un lien entre l’âge du client et le montant total des achats</a:t>
            </a:r>
          </a:p>
          <a:p>
            <a:pPr marL="0" lvl="1" indent="0">
              <a:spcBef>
                <a:spcPts val="1000"/>
              </a:spcBef>
              <a:buNone/>
            </a:pPr>
            <a:r>
              <a:rPr lang="fr-FR" sz="1600" b="1" dirty="0"/>
              <a:t>Choix du test statistique : </a:t>
            </a:r>
          </a:p>
          <a:p>
            <a:pPr marL="0" lvl="1" indent="0">
              <a:spcBef>
                <a:spcPts val="1000"/>
              </a:spcBef>
              <a:buNone/>
            </a:pPr>
            <a:r>
              <a:rPr lang="fr-FR" sz="1200" dirty="0"/>
              <a:t>Les deux variables (âge du client et Montant total d’achats) sont quantitatives, les données ne suivent pas une distribution normale et la relation entre les variables est linéaire, ce qui correspond </a:t>
            </a:r>
            <a:r>
              <a:rPr lang="fr-FR" sz="1200" b="1" dirty="0"/>
              <a:t>aux conditions d'application du test de Spearman</a:t>
            </a:r>
            <a:r>
              <a:rPr lang="fr-FR" sz="1200" dirty="0"/>
              <a:t>.</a:t>
            </a:r>
          </a:p>
          <a:p>
            <a:pPr marL="0" lvl="1" indent="0">
              <a:spcBef>
                <a:spcPts val="1000"/>
              </a:spcBef>
              <a:buNone/>
            </a:pPr>
            <a:r>
              <a:rPr lang="fr-FR" sz="1600" b="1" dirty="0"/>
              <a:t>Conclusion : </a:t>
            </a:r>
          </a:p>
          <a:p>
            <a:pPr marL="0" lvl="1" indent="0">
              <a:spcBef>
                <a:spcPts val="1000"/>
              </a:spcBef>
              <a:buNone/>
            </a:pPr>
            <a:r>
              <a:rPr lang="fr-FR" sz="1200" dirty="0"/>
              <a:t>Le test de Spearman donne un coefficient négatif et élevé de -0,87 et une « </a:t>
            </a:r>
            <a:r>
              <a:rPr lang="fr-FR" sz="1200" dirty="0" err="1"/>
              <a:t>p_value</a:t>
            </a:r>
            <a:r>
              <a:rPr lang="fr-FR" sz="1200" dirty="0"/>
              <a:t> » de 0. </a:t>
            </a:r>
          </a:p>
          <a:p>
            <a:pPr marL="0" lvl="1" indent="0">
              <a:spcBef>
                <a:spcPts val="1000"/>
              </a:spcBef>
              <a:buNone/>
            </a:pPr>
            <a:r>
              <a:rPr lang="fr-FR" sz="1200" dirty="0"/>
              <a:t>L’hypothèse 0 est rejetée, avec un indice de confiance élevé en raison d’un </a:t>
            </a:r>
            <a:r>
              <a:rPr lang="fr-FR" sz="1200" dirty="0" err="1"/>
              <a:t>p_value</a:t>
            </a:r>
            <a:r>
              <a:rPr lang="fr-FR" sz="1200" dirty="0"/>
              <a:t> à 0.</a:t>
            </a:r>
          </a:p>
          <a:p>
            <a:pPr marL="0" lvl="1" indent="0">
              <a:spcBef>
                <a:spcPts val="1000"/>
              </a:spcBef>
              <a:buNone/>
            </a:pPr>
            <a:endParaRPr lang="fr-FR" sz="1600" b="1" dirty="0"/>
          </a:p>
        </p:txBody>
      </p:sp>
      <p:pic>
        <p:nvPicPr>
          <p:cNvPr id="5" name="Image 4">
            <a:extLst>
              <a:ext uri="{FF2B5EF4-FFF2-40B4-BE49-F238E27FC236}">
                <a16:creationId xmlns:a16="http://schemas.microsoft.com/office/drawing/2014/main" id="{6D74D3AC-1B31-97A5-CF3B-3CB1C5CED6C6}"/>
              </a:ext>
            </a:extLst>
          </p:cNvPr>
          <p:cNvPicPr>
            <a:picLocks noChangeAspect="1"/>
          </p:cNvPicPr>
          <p:nvPr/>
        </p:nvPicPr>
        <p:blipFill>
          <a:blip r:embed="rId2"/>
          <a:stretch>
            <a:fillRect/>
          </a:stretch>
        </p:blipFill>
        <p:spPr>
          <a:xfrm>
            <a:off x="6581161" y="2919781"/>
            <a:ext cx="4401164" cy="3153215"/>
          </a:xfrm>
          <a:prstGeom prst="rect">
            <a:avLst/>
          </a:prstGeom>
        </p:spPr>
      </p:pic>
      <p:sp>
        <p:nvSpPr>
          <p:cNvPr id="4" name="Rectangle : coins arrondis 3">
            <a:extLst>
              <a:ext uri="{FF2B5EF4-FFF2-40B4-BE49-F238E27FC236}">
                <a16:creationId xmlns:a16="http://schemas.microsoft.com/office/drawing/2014/main" id="{FC40AACB-11A5-11B3-FF25-D13A1A68E70F}"/>
              </a:ext>
            </a:extLst>
          </p:cNvPr>
          <p:cNvSpPr/>
          <p:nvPr/>
        </p:nvSpPr>
        <p:spPr>
          <a:xfrm>
            <a:off x="291060" y="4296696"/>
            <a:ext cx="6168734" cy="1634481"/>
          </a:xfrm>
          <a:prstGeom prst="round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indent="0">
              <a:spcBef>
                <a:spcPts val="1000"/>
              </a:spcBef>
              <a:buNone/>
            </a:pPr>
            <a:r>
              <a:rPr lang="fr-FR" sz="1800" dirty="0"/>
              <a:t>Il existe une forte </a:t>
            </a:r>
            <a:r>
              <a:rPr lang="fr-FR" sz="1800" b="1" dirty="0"/>
              <a:t>corrélation négative </a:t>
            </a:r>
            <a:r>
              <a:rPr lang="fr-FR" sz="1800" dirty="0"/>
              <a:t>entre l’âge du client et le montant des achats. Comme le montre le graphique, les clients d’un âge avancé consomme moins que leurs cadets</a:t>
            </a:r>
          </a:p>
        </p:txBody>
      </p:sp>
    </p:spTree>
    <p:extLst>
      <p:ext uri="{BB962C8B-B14F-4D97-AF65-F5344CB8AC3E}">
        <p14:creationId xmlns:p14="http://schemas.microsoft.com/office/powerpoint/2010/main" val="6465591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727F3-42F4-F7D7-9D5A-7782AD59B18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C1634CA-13F6-8A0D-A1E6-390C13B939E7}"/>
              </a:ext>
            </a:extLst>
          </p:cNvPr>
          <p:cNvSpPr>
            <a:spLocks noGrp="1"/>
          </p:cNvSpPr>
          <p:nvPr>
            <p:ph type="title"/>
          </p:nvPr>
        </p:nvSpPr>
        <p:spPr/>
        <p:txBody>
          <a:bodyPr/>
          <a:lstStyle/>
          <a:p>
            <a:r>
              <a:rPr lang="fr-FR" dirty="0"/>
              <a:t>Analyse des comportements en ligne : Test 3</a:t>
            </a:r>
          </a:p>
        </p:txBody>
      </p:sp>
      <p:sp>
        <p:nvSpPr>
          <p:cNvPr id="3" name="Espace réservé du contenu 2">
            <a:extLst>
              <a:ext uri="{FF2B5EF4-FFF2-40B4-BE49-F238E27FC236}">
                <a16:creationId xmlns:a16="http://schemas.microsoft.com/office/drawing/2014/main" id="{675735E9-EC2C-D4F4-F881-47480CBC2743}"/>
              </a:ext>
            </a:extLst>
          </p:cNvPr>
          <p:cNvSpPr>
            <a:spLocks noGrp="1"/>
          </p:cNvSpPr>
          <p:nvPr>
            <p:ph idx="1"/>
          </p:nvPr>
        </p:nvSpPr>
        <p:spPr>
          <a:xfrm>
            <a:off x="297513" y="926822"/>
            <a:ext cx="10691265" cy="5004356"/>
          </a:xfrm>
        </p:spPr>
        <p:txBody>
          <a:bodyPr/>
          <a:lstStyle/>
          <a:p>
            <a:pPr marL="0" indent="0">
              <a:buNone/>
            </a:pPr>
            <a:r>
              <a:rPr lang="fr-FR" sz="1600" b="1" dirty="0">
                <a:latin typeface="Calibri" panose="020F0502020204030204" pitchFamily="34" charset="0"/>
              </a:rPr>
              <a:t>Question : </a:t>
            </a:r>
            <a:r>
              <a:rPr lang="fr-FR" sz="1400" dirty="0">
                <a:latin typeface="Calibri" panose="020F0502020204030204" pitchFamily="34" charset="0"/>
              </a:rPr>
              <a:t>Existe-t-il un lien entre </a:t>
            </a:r>
            <a:r>
              <a:rPr lang="fr-FR" sz="1400" b="1" u="sng" dirty="0">
                <a:latin typeface="Calibri" panose="020F0502020204030204" pitchFamily="34" charset="0"/>
              </a:rPr>
              <a:t>l’âge du client</a:t>
            </a:r>
            <a:r>
              <a:rPr lang="fr-FR" sz="1400" dirty="0">
                <a:latin typeface="Calibri" panose="020F0502020204030204" pitchFamily="34" charset="0"/>
              </a:rPr>
              <a:t> et ses </a:t>
            </a:r>
            <a:r>
              <a:rPr lang="fr-FR" sz="1400" b="1" u="sng" dirty="0">
                <a:latin typeface="Calibri" panose="020F0502020204030204" pitchFamily="34" charset="0"/>
              </a:rPr>
              <a:t>fréquences d'achats</a:t>
            </a:r>
          </a:p>
          <a:p>
            <a:pPr marL="0" indent="0">
              <a:buNone/>
            </a:pPr>
            <a:r>
              <a:rPr lang="fr-FR" sz="1600" b="1" dirty="0"/>
              <a:t>Hypothèses : </a:t>
            </a:r>
          </a:p>
          <a:p>
            <a:pPr marL="457200" lvl="1" indent="0">
              <a:buNone/>
            </a:pPr>
            <a:r>
              <a:rPr lang="fr-FR" sz="1200" dirty="0"/>
              <a:t>H0 : Il n’existe pas de lien entre l’</a:t>
            </a:r>
            <a:r>
              <a:rPr lang="fr-FR" sz="1200" kern="1200" dirty="0">
                <a:solidFill>
                  <a:schemeClr val="dk1"/>
                </a:solidFill>
                <a:latin typeface="Calibri" panose="020F0502020204030204" pitchFamily="34" charset="0"/>
                <a:ea typeface="+mn-ea"/>
                <a:cs typeface="+mn-cs"/>
              </a:rPr>
              <a:t>âge du client</a:t>
            </a:r>
            <a:r>
              <a:rPr lang="fr-FR" sz="1200" dirty="0"/>
              <a:t> et </a:t>
            </a:r>
            <a:r>
              <a:rPr lang="fr-FR" sz="1200" dirty="0">
                <a:latin typeface="Calibri" panose="020F0502020204030204" pitchFamily="34" charset="0"/>
              </a:rPr>
              <a:t>ses fréquences d'achats</a:t>
            </a:r>
            <a:endParaRPr lang="fr-FR" sz="1200" dirty="0"/>
          </a:p>
          <a:p>
            <a:pPr marL="457200" lvl="1" indent="0">
              <a:buNone/>
            </a:pPr>
            <a:r>
              <a:rPr lang="fr-FR" sz="1200" dirty="0"/>
              <a:t>H1 : Il peut exister un lien entre l’</a:t>
            </a:r>
            <a:r>
              <a:rPr lang="fr-FR" sz="1200" kern="1200" dirty="0">
                <a:solidFill>
                  <a:schemeClr val="dk1"/>
                </a:solidFill>
                <a:latin typeface="Calibri" panose="020F0502020204030204" pitchFamily="34" charset="0"/>
                <a:ea typeface="+mn-ea"/>
                <a:cs typeface="+mn-cs"/>
              </a:rPr>
              <a:t>âge du client</a:t>
            </a:r>
            <a:r>
              <a:rPr lang="fr-FR" sz="1200" dirty="0"/>
              <a:t> et </a:t>
            </a:r>
            <a:r>
              <a:rPr lang="fr-FR" sz="1200" dirty="0">
                <a:latin typeface="Calibri" panose="020F0502020204030204" pitchFamily="34" charset="0"/>
              </a:rPr>
              <a:t>ses fréquences d'achats</a:t>
            </a:r>
            <a:endParaRPr lang="fr-FR" sz="1200" dirty="0"/>
          </a:p>
          <a:p>
            <a:pPr marL="0" lvl="1" indent="0">
              <a:spcBef>
                <a:spcPts val="1000"/>
              </a:spcBef>
              <a:buNone/>
            </a:pPr>
            <a:r>
              <a:rPr lang="fr-FR" sz="1600" b="1" dirty="0"/>
              <a:t>Choix du test statistique : </a:t>
            </a:r>
          </a:p>
          <a:p>
            <a:pPr marL="0" lvl="1" indent="0">
              <a:spcBef>
                <a:spcPts val="1000"/>
              </a:spcBef>
              <a:buNone/>
            </a:pPr>
            <a:r>
              <a:rPr lang="fr-FR" sz="1200" dirty="0"/>
              <a:t>Les deux variables (</a:t>
            </a:r>
            <a:r>
              <a:rPr lang="fr-FR" sz="1200" dirty="0" err="1"/>
              <a:t>age</a:t>
            </a:r>
            <a:r>
              <a:rPr lang="fr-FR" sz="1200" dirty="0"/>
              <a:t> du client et fréquences d’achats) sont quantitatives, les données ne suivent pas une distribution normale et la relation entre les variables est linéaire, ce qui correspond aux conditions d'application du test de </a:t>
            </a:r>
            <a:r>
              <a:rPr lang="fr-FR" sz="1200" b="1" dirty="0"/>
              <a:t>Spearman</a:t>
            </a:r>
            <a:r>
              <a:rPr lang="fr-FR" sz="1200" dirty="0"/>
              <a:t>.</a:t>
            </a:r>
          </a:p>
          <a:p>
            <a:pPr marL="0" lvl="1" indent="0">
              <a:spcBef>
                <a:spcPts val="1000"/>
              </a:spcBef>
              <a:buNone/>
            </a:pPr>
            <a:r>
              <a:rPr lang="fr-FR" sz="1600" b="1" dirty="0"/>
              <a:t>Conclusion :</a:t>
            </a:r>
          </a:p>
          <a:p>
            <a:pPr marL="0" lvl="1" indent="0">
              <a:spcBef>
                <a:spcPts val="1000"/>
              </a:spcBef>
              <a:buNone/>
            </a:pPr>
            <a:r>
              <a:rPr lang="fr-FR" sz="1200" dirty="0"/>
              <a:t>Le test de Spearman donne un coefficient négatif de -0,67 et une « </a:t>
            </a:r>
            <a:r>
              <a:rPr lang="fr-FR" sz="1200" dirty="0" err="1"/>
              <a:t>p_value</a:t>
            </a:r>
            <a:r>
              <a:rPr lang="fr-FR" sz="1200" dirty="0"/>
              <a:t> » de 0. </a:t>
            </a:r>
          </a:p>
          <a:p>
            <a:pPr marL="0" lvl="1" indent="0">
              <a:spcBef>
                <a:spcPts val="1000"/>
              </a:spcBef>
              <a:buNone/>
            </a:pPr>
            <a:r>
              <a:rPr lang="fr-FR" sz="1200" dirty="0"/>
              <a:t>L’hypothèse </a:t>
            </a:r>
            <a:r>
              <a:rPr lang="fr-FR" sz="1200" b="1" dirty="0"/>
              <a:t>0 est rejetée</a:t>
            </a:r>
            <a:r>
              <a:rPr lang="fr-FR" sz="1200" dirty="0"/>
              <a:t>, avec un indice de confiance élevé en raison d’un </a:t>
            </a:r>
            <a:r>
              <a:rPr lang="fr-FR" sz="1200" dirty="0" err="1"/>
              <a:t>p_value</a:t>
            </a:r>
            <a:r>
              <a:rPr lang="fr-FR" sz="1200" dirty="0"/>
              <a:t> à 0.</a:t>
            </a:r>
          </a:p>
          <a:p>
            <a:pPr marL="0" lvl="1" indent="0">
              <a:spcBef>
                <a:spcPts val="1000"/>
              </a:spcBef>
              <a:buNone/>
            </a:pPr>
            <a:endParaRPr lang="fr-FR" sz="1600" b="1" dirty="0"/>
          </a:p>
        </p:txBody>
      </p:sp>
      <p:pic>
        <p:nvPicPr>
          <p:cNvPr id="5" name="Image 4">
            <a:extLst>
              <a:ext uri="{FF2B5EF4-FFF2-40B4-BE49-F238E27FC236}">
                <a16:creationId xmlns:a16="http://schemas.microsoft.com/office/drawing/2014/main" id="{D6FAE809-8B1D-67B6-5031-B863B14496A7}"/>
              </a:ext>
            </a:extLst>
          </p:cNvPr>
          <p:cNvPicPr>
            <a:picLocks noChangeAspect="1"/>
          </p:cNvPicPr>
          <p:nvPr/>
        </p:nvPicPr>
        <p:blipFill>
          <a:blip r:embed="rId2"/>
          <a:stretch>
            <a:fillRect/>
          </a:stretch>
        </p:blipFill>
        <p:spPr>
          <a:xfrm>
            <a:off x="6651841" y="2966815"/>
            <a:ext cx="4092417" cy="3106181"/>
          </a:xfrm>
          <a:prstGeom prst="rect">
            <a:avLst/>
          </a:prstGeom>
        </p:spPr>
      </p:pic>
      <p:sp>
        <p:nvSpPr>
          <p:cNvPr id="4" name="Rectangle : coins arrondis 3">
            <a:extLst>
              <a:ext uri="{FF2B5EF4-FFF2-40B4-BE49-F238E27FC236}">
                <a16:creationId xmlns:a16="http://schemas.microsoft.com/office/drawing/2014/main" id="{041ABDB0-9A8C-6D3B-460B-B2FC21955167}"/>
              </a:ext>
            </a:extLst>
          </p:cNvPr>
          <p:cNvSpPr/>
          <p:nvPr/>
        </p:nvSpPr>
        <p:spPr>
          <a:xfrm>
            <a:off x="390310" y="4367606"/>
            <a:ext cx="6168734" cy="1634481"/>
          </a:xfrm>
          <a:prstGeom prst="round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indent="0">
              <a:spcBef>
                <a:spcPts val="1000"/>
              </a:spcBef>
              <a:buNone/>
            </a:pPr>
            <a:r>
              <a:rPr lang="fr-FR" sz="1800" dirty="0"/>
              <a:t>Il existe bien une </a:t>
            </a:r>
            <a:r>
              <a:rPr lang="fr-FR" sz="1800" b="1" dirty="0"/>
              <a:t>corrélation négative </a:t>
            </a:r>
            <a:r>
              <a:rPr lang="fr-FR" sz="1800" dirty="0"/>
              <a:t>entre l’âge du client et la fréquence d’achats</a:t>
            </a:r>
          </a:p>
        </p:txBody>
      </p:sp>
    </p:spTree>
    <p:extLst>
      <p:ext uri="{BB962C8B-B14F-4D97-AF65-F5344CB8AC3E}">
        <p14:creationId xmlns:p14="http://schemas.microsoft.com/office/powerpoint/2010/main" val="27873328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F751E-1485-557F-0ECB-1F4586F8A89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00D6E55-6FA5-16D2-7ACB-03011F32BD5E}"/>
              </a:ext>
            </a:extLst>
          </p:cNvPr>
          <p:cNvSpPr>
            <a:spLocks noGrp="1"/>
          </p:cNvSpPr>
          <p:nvPr>
            <p:ph type="title"/>
          </p:nvPr>
        </p:nvSpPr>
        <p:spPr/>
        <p:txBody>
          <a:bodyPr/>
          <a:lstStyle/>
          <a:p>
            <a:r>
              <a:rPr lang="fr-FR" dirty="0"/>
              <a:t>Analyse des comportements en ligne : Test 4</a:t>
            </a:r>
          </a:p>
        </p:txBody>
      </p:sp>
      <p:sp>
        <p:nvSpPr>
          <p:cNvPr id="3" name="Espace réservé du contenu 2">
            <a:extLst>
              <a:ext uri="{FF2B5EF4-FFF2-40B4-BE49-F238E27FC236}">
                <a16:creationId xmlns:a16="http://schemas.microsoft.com/office/drawing/2014/main" id="{5ECFA92B-20F3-C741-0350-F5F4E65BEA67}"/>
              </a:ext>
            </a:extLst>
          </p:cNvPr>
          <p:cNvSpPr>
            <a:spLocks noGrp="1"/>
          </p:cNvSpPr>
          <p:nvPr>
            <p:ph idx="1"/>
          </p:nvPr>
        </p:nvSpPr>
        <p:spPr>
          <a:xfrm>
            <a:off x="302800" y="926822"/>
            <a:ext cx="10691265" cy="5004356"/>
          </a:xfrm>
        </p:spPr>
        <p:txBody>
          <a:bodyPr>
            <a:normAutofit/>
          </a:bodyPr>
          <a:lstStyle/>
          <a:p>
            <a:pPr marL="0" indent="0">
              <a:buNone/>
            </a:pPr>
            <a:r>
              <a:rPr lang="fr-FR" sz="1600" b="1" dirty="0">
                <a:latin typeface="Calibri" panose="020F0502020204030204" pitchFamily="34" charset="0"/>
              </a:rPr>
              <a:t>Question</a:t>
            </a:r>
            <a:r>
              <a:rPr lang="fr-FR" sz="1600" dirty="0">
                <a:latin typeface="Calibri" panose="020F0502020204030204" pitchFamily="34" charset="0"/>
              </a:rPr>
              <a:t> : Existe-t-il un lien entre </a:t>
            </a:r>
            <a:r>
              <a:rPr lang="fr-FR" sz="1600" b="1" u="sng" dirty="0">
                <a:latin typeface="Calibri" panose="020F0502020204030204" pitchFamily="34" charset="0"/>
              </a:rPr>
              <a:t>l’âge du client</a:t>
            </a:r>
            <a:r>
              <a:rPr lang="fr-FR" sz="1600" dirty="0">
                <a:latin typeface="Calibri" panose="020F0502020204030204" pitchFamily="34" charset="0"/>
              </a:rPr>
              <a:t> et la </a:t>
            </a:r>
            <a:r>
              <a:rPr lang="fr-FR" sz="1600" b="1" u="sng" dirty="0">
                <a:latin typeface="Calibri" panose="020F0502020204030204" pitchFamily="34" charset="0"/>
              </a:rPr>
              <a:t>taille du panier moyen</a:t>
            </a:r>
          </a:p>
          <a:p>
            <a:pPr marL="0" indent="0">
              <a:buNone/>
            </a:pPr>
            <a:r>
              <a:rPr lang="fr-FR" sz="1600" b="1" dirty="0"/>
              <a:t>Hypothèses : </a:t>
            </a:r>
          </a:p>
          <a:p>
            <a:pPr marL="457200" lvl="1" indent="0">
              <a:buNone/>
            </a:pPr>
            <a:r>
              <a:rPr lang="fr-FR" sz="1200" dirty="0"/>
              <a:t>H0 : Il n’existe pas de lien entre l’</a:t>
            </a:r>
            <a:r>
              <a:rPr lang="fr-FR" sz="1200" kern="1200" dirty="0">
                <a:solidFill>
                  <a:schemeClr val="dk1"/>
                </a:solidFill>
                <a:latin typeface="Calibri" panose="020F0502020204030204" pitchFamily="34" charset="0"/>
                <a:ea typeface="+mn-ea"/>
                <a:cs typeface="+mn-cs"/>
              </a:rPr>
              <a:t>âge du client</a:t>
            </a:r>
            <a:r>
              <a:rPr lang="fr-FR" sz="1200" dirty="0"/>
              <a:t> et </a:t>
            </a:r>
            <a:r>
              <a:rPr lang="fr-FR" sz="1200" dirty="0">
                <a:latin typeface="Calibri" panose="020F0502020204030204" pitchFamily="34" charset="0"/>
              </a:rPr>
              <a:t>la taille du panier moyen</a:t>
            </a:r>
            <a:endParaRPr lang="fr-FR" sz="1200" dirty="0"/>
          </a:p>
          <a:p>
            <a:pPr marL="457200" lvl="1" indent="0">
              <a:buNone/>
            </a:pPr>
            <a:r>
              <a:rPr lang="fr-FR" sz="1200" dirty="0"/>
              <a:t>H1 : Il peut exister un lien entre l’</a:t>
            </a:r>
            <a:r>
              <a:rPr lang="fr-FR" sz="1200" kern="1200" dirty="0">
                <a:solidFill>
                  <a:schemeClr val="dk1"/>
                </a:solidFill>
                <a:latin typeface="Calibri" panose="020F0502020204030204" pitchFamily="34" charset="0"/>
                <a:ea typeface="+mn-ea"/>
                <a:cs typeface="+mn-cs"/>
              </a:rPr>
              <a:t>âge du client </a:t>
            </a:r>
            <a:r>
              <a:rPr lang="fr-FR" sz="1200" dirty="0"/>
              <a:t>et </a:t>
            </a:r>
            <a:r>
              <a:rPr lang="fr-FR" sz="1200" dirty="0">
                <a:latin typeface="Calibri" panose="020F0502020204030204" pitchFamily="34" charset="0"/>
              </a:rPr>
              <a:t>la taille du panier moyen</a:t>
            </a:r>
            <a:endParaRPr lang="fr-FR" sz="1200" dirty="0"/>
          </a:p>
          <a:p>
            <a:pPr marL="0" lvl="1" indent="0">
              <a:spcBef>
                <a:spcPts val="1000"/>
              </a:spcBef>
              <a:buNone/>
            </a:pPr>
            <a:r>
              <a:rPr lang="fr-FR" sz="1600" b="1" dirty="0"/>
              <a:t>Choix du test statistique : </a:t>
            </a:r>
          </a:p>
          <a:p>
            <a:pPr marL="0" lvl="1" indent="0">
              <a:spcBef>
                <a:spcPts val="1000"/>
              </a:spcBef>
              <a:buNone/>
            </a:pPr>
            <a:r>
              <a:rPr lang="fr-FR" sz="1200" dirty="0"/>
              <a:t>Les deux variables (âge du client et taille du panier moyens sont quantitatives, les données ne suivent pas une distribution normale et la relation entre les variables est linéaire, ce qui correspond aux conditions d'application du test de </a:t>
            </a:r>
            <a:r>
              <a:rPr lang="fr-FR" sz="1200" b="1" dirty="0"/>
              <a:t>Spearman</a:t>
            </a:r>
            <a:r>
              <a:rPr lang="fr-FR" sz="1200" dirty="0"/>
              <a:t>.</a:t>
            </a:r>
          </a:p>
          <a:p>
            <a:pPr marL="0" lvl="1" indent="0">
              <a:spcBef>
                <a:spcPts val="1000"/>
              </a:spcBef>
              <a:buNone/>
            </a:pPr>
            <a:r>
              <a:rPr lang="fr-FR" sz="1600" b="1" dirty="0"/>
              <a:t>Conclusion :</a:t>
            </a:r>
          </a:p>
          <a:p>
            <a:pPr marL="0" lvl="1" indent="0">
              <a:spcBef>
                <a:spcPts val="1000"/>
              </a:spcBef>
              <a:buNone/>
            </a:pPr>
            <a:r>
              <a:rPr lang="fr-FR" sz="1200" dirty="0"/>
              <a:t>Le test de Spearman donne un coefficient négatif de -0,09 et une « </a:t>
            </a:r>
            <a:r>
              <a:rPr lang="fr-FR" sz="1200" dirty="0" err="1"/>
              <a:t>p_value</a:t>
            </a:r>
            <a:r>
              <a:rPr lang="fr-FR" sz="1200" dirty="0"/>
              <a:t> » de 0,47. </a:t>
            </a:r>
          </a:p>
          <a:p>
            <a:pPr marL="0" lvl="1" indent="0">
              <a:spcBef>
                <a:spcPts val="1000"/>
              </a:spcBef>
              <a:buNone/>
            </a:pPr>
            <a:r>
              <a:rPr lang="fr-FR" sz="1200" dirty="0"/>
              <a:t>L’hypothèse </a:t>
            </a:r>
            <a:r>
              <a:rPr lang="fr-FR" sz="1200" b="1" dirty="0"/>
              <a:t>0 ne peut pas être rejetée</a:t>
            </a:r>
            <a:r>
              <a:rPr lang="fr-FR" sz="1200" dirty="0"/>
              <a:t>.</a:t>
            </a:r>
          </a:p>
          <a:p>
            <a:pPr marL="0" lvl="1" indent="0">
              <a:spcBef>
                <a:spcPts val="1000"/>
              </a:spcBef>
              <a:buNone/>
            </a:pPr>
            <a:endParaRPr lang="fr-FR" sz="1600" b="1" dirty="0"/>
          </a:p>
        </p:txBody>
      </p:sp>
      <p:pic>
        <p:nvPicPr>
          <p:cNvPr id="5" name="Image 4">
            <a:extLst>
              <a:ext uri="{FF2B5EF4-FFF2-40B4-BE49-F238E27FC236}">
                <a16:creationId xmlns:a16="http://schemas.microsoft.com/office/drawing/2014/main" id="{C781AA94-604A-E2E5-017B-EF8163D30DEA}"/>
              </a:ext>
            </a:extLst>
          </p:cNvPr>
          <p:cNvPicPr>
            <a:picLocks noChangeAspect="1"/>
          </p:cNvPicPr>
          <p:nvPr/>
        </p:nvPicPr>
        <p:blipFill>
          <a:blip r:embed="rId2"/>
          <a:stretch>
            <a:fillRect/>
          </a:stretch>
        </p:blipFill>
        <p:spPr>
          <a:xfrm>
            <a:off x="7011195" y="2965045"/>
            <a:ext cx="3745296" cy="2966133"/>
          </a:xfrm>
          <a:prstGeom prst="rect">
            <a:avLst/>
          </a:prstGeom>
        </p:spPr>
      </p:pic>
      <p:sp>
        <p:nvSpPr>
          <p:cNvPr id="4" name="Rectangle : coins arrondis 3">
            <a:extLst>
              <a:ext uri="{FF2B5EF4-FFF2-40B4-BE49-F238E27FC236}">
                <a16:creationId xmlns:a16="http://schemas.microsoft.com/office/drawing/2014/main" id="{C51C28F0-B0CA-C603-C197-07FA72929BFD}"/>
              </a:ext>
            </a:extLst>
          </p:cNvPr>
          <p:cNvSpPr/>
          <p:nvPr/>
        </p:nvSpPr>
        <p:spPr>
          <a:xfrm>
            <a:off x="443683" y="4296697"/>
            <a:ext cx="6168734" cy="1634481"/>
          </a:xfrm>
          <a:prstGeom prst="round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indent="0">
              <a:spcBef>
                <a:spcPts val="1000"/>
              </a:spcBef>
              <a:buNone/>
            </a:pPr>
            <a:r>
              <a:rPr lang="fr-FR" sz="1800" dirty="0"/>
              <a:t>Il n’existe </a:t>
            </a:r>
            <a:r>
              <a:rPr lang="fr-FR" sz="1800" b="1" dirty="0"/>
              <a:t>pas de lien </a:t>
            </a:r>
            <a:r>
              <a:rPr lang="fr-FR" sz="1800" dirty="0"/>
              <a:t>statistique entre </a:t>
            </a:r>
            <a:r>
              <a:rPr lang="fr-FR" sz="1800" b="1" dirty="0"/>
              <a:t>l’âge du client et la taille du panier moyen</a:t>
            </a:r>
          </a:p>
        </p:txBody>
      </p:sp>
    </p:spTree>
    <p:extLst>
      <p:ext uri="{BB962C8B-B14F-4D97-AF65-F5344CB8AC3E}">
        <p14:creationId xmlns:p14="http://schemas.microsoft.com/office/powerpoint/2010/main" val="39853278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4B19A-6220-5953-141F-2E3AF5221C5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D6D369A-95B6-D04D-506C-B80955A8E6C7}"/>
              </a:ext>
            </a:extLst>
          </p:cNvPr>
          <p:cNvSpPr>
            <a:spLocks noGrp="1"/>
          </p:cNvSpPr>
          <p:nvPr>
            <p:ph type="title"/>
          </p:nvPr>
        </p:nvSpPr>
        <p:spPr/>
        <p:txBody>
          <a:bodyPr/>
          <a:lstStyle/>
          <a:p>
            <a:r>
              <a:rPr lang="fr-FR" dirty="0"/>
              <a:t>Analyse des comportements en ligne : Test 5</a:t>
            </a:r>
          </a:p>
        </p:txBody>
      </p:sp>
      <p:sp>
        <p:nvSpPr>
          <p:cNvPr id="3" name="Espace réservé du contenu 2">
            <a:extLst>
              <a:ext uri="{FF2B5EF4-FFF2-40B4-BE49-F238E27FC236}">
                <a16:creationId xmlns:a16="http://schemas.microsoft.com/office/drawing/2014/main" id="{575F844F-587D-3A80-ADC7-C60E4609F52E}"/>
              </a:ext>
            </a:extLst>
          </p:cNvPr>
          <p:cNvSpPr>
            <a:spLocks noGrp="1"/>
          </p:cNvSpPr>
          <p:nvPr>
            <p:ph idx="1"/>
          </p:nvPr>
        </p:nvSpPr>
        <p:spPr>
          <a:xfrm>
            <a:off x="381457" y="926822"/>
            <a:ext cx="10691265" cy="5004356"/>
          </a:xfrm>
        </p:spPr>
        <p:txBody>
          <a:bodyPr>
            <a:normAutofit/>
          </a:bodyPr>
          <a:lstStyle/>
          <a:p>
            <a:pPr marL="0" indent="0">
              <a:buNone/>
            </a:pPr>
            <a:r>
              <a:rPr lang="fr-FR" sz="1400" b="1" dirty="0">
                <a:latin typeface="Calibri" panose="020F0502020204030204" pitchFamily="34" charset="0"/>
              </a:rPr>
              <a:t>Question</a:t>
            </a:r>
            <a:r>
              <a:rPr lang="fr-FR" sz="1400" dirty="0">
                <a:latin typeface="Calibri" panose="020F0502020204030204" pitchFamily="34" charset="0"/>
              </a:rPr>
              <a:t> : Existe-t-il un lien entre </a:t>
            </a:r>
            <a:r>
              <a:rPr lang="fr-FR" sz="1400" b="1" u="sng" dirty="0">
                <a:latin typeface="Calibri" panose="020F0502020204030204" pitchFamily="34" charset="0"/>
              </a:rPr>
              <a:t>l’âge du client</a:t>
            </a:r>
            <a:r>
              <a:rPr lang="fr-FR" sz="1400" dirty="0">
                <a:latin typeface="Calibri" panose="020F0502020204030204" pitchFamily="34" charset="0"/>
              </a:rPr>
              <a:t> et </a:t>
            </a:r>
            <a:r>
              <a:rPr lang="fr-FR" sz="1400" b="1" u="sng" dirty="0">
                <a:latin typeface="Calibri" panose="020F0502020204030204" pitchFamily="34" charset="0"/>
              </a:rPr>
              <a:t>les </a:t>
            </a:r>
            <a:r>
              <a:rPr lang="fr-FR" sz="1400" b="1" u="sng" kern="1200" dirty="0">
                <a:solidFill>
                  <a:schemeClr val="dk1"/>
                </a:solidFill>
                <a:latin typeface="Calibri" panose="020F0502020204030204" pitchFamily="34" charset="0"/>
                <a:ea typeface="+mn-ea"/>
                <a:cs typeface="+mn-cs"/>
              </a:rPr>
              <a:t>catégories des livres achetés</a:t>
            </a:r>
            <a:endParaRPr lang="fr-FR" sz="1400" b="1" u="sng" dirty="0">
              <a:latin typeface="Calibri" panose="020F0502020204030204" pitchFamily="34" charset="0"/>
            </a:endParaRPr>
          </a:p>
          <a:p>
            <a:pPr marL="0" indent="0">
              <a:buNone/>
            </a:pPr>
            <a:r>
              <a:rPr lang="fr-FR" sz="1600" b="1" dirty="0"/>
              <a:t>Hypothèses : </a:t>
            </a:r>
          </a:p>
          <a:p>
            <a:pPr marL="457200" lvl="1" indent="0">
              <a:buNone/>
            </a:pPr>
            <a:r>
              <a:rPr lang="fr-FR" sz="1200" dirty="0"/>
              <a:t>H0 : Il n’existe pas de lien entre l’</a:t>
            </a:r>
            <a:r>
              <a:rPr lang="fr-FR" sz="1200" kern="1200" dirty="0">
                <a:solidFill>
                  <a:schemeClr val="dk1"/>
                </a:solidFill>
                <a:latin typeface="Calibri" panose="020F0502020204030204" pitchFamily="34" charset="0"/>
                <a:ea typeface="+mn-ea"/>
                <a:cs typeface="+mn-cs"/>
              </a:rPr>
              <a:t>âge du client </a:t>
            </a:r>
            <a:r>
              <a:rPr lang="fr-FR" sz="1200" dirty="0"/>
              <a:t>et </a:t>
            </a:r>
            <a:r>
              <a:rPr lang="fr-FR" sz="1200" kern="1200" dirty="0">
                <a:solidFill>
                  <a:schemeClr val="dk1"/>
                </a:solidFill>
                <a:latin typeface="Calibri" panose="020F0502020204030204" pitchFamily="34" charset="0"/>
                <a:ea typeface="+mn-ea"/>
                <a:cs typeface="+mn-cs"/>
              </a:rPr>
              <a:t>les catégories des livres achetés</a:t>
            </a:r>
          </a:p>
          <a:p>
            <a:pPr marL="457200" lvl="1" indent="0">
              <a:buNone/>
            </a:pPr>
            <a:r>
              <a:rPr lang="fr-FR" sz="1200" dirty="0"/>
              <a:t>H1 : Il peut exister un lien entre l’</a:t>
            </a:r>
            <a:r>
              <a:rPr lang="fr-FR" sz="1200" kern="1200" dirty="0">
                <a:solidFill>
                  <a:schemeClr val="dk1"/>
                </a:solidFill>
                <a:latin typeface="Calibri" panose="020F0502020204030204" pitchFamily="34" charset="0"/>
                <a:ea typeface="+mn-ea"/>
                <a:cs typeface="+mn-cs"/>
              </a:rPr>
              <a:t>âge du client </a:t>
            </a:r>
            <a:r>
              <a:rPr lang="fr-FR" sz="1200" dirty="0"/>
              <a:t>et </a:t>
            </a:r>
            <a:r>
              <a:rPr lang="fr-FR" sz="1200" kern="1200" dirty="0">
                <a:solidFill>
                  <a:schemeClr val="dk1"/>
                </a:solidFill>
                <a:latin typeface="Calibri" panose="020F0502020204030204" pitchFamily="34" charset="0"/>
                <a:ea typeface="+mn-ea"/>
                <a:cs typeface="+mn-cs"/>
              </a:rPr>
              <a:t>les catégories des livres achetés</a:t>
            </a:r>
          </a:p>
          <a:p>
            <a:pPr marL="0" lvl="1" indent="0">
              <a:spcBef>
                <a:spcPts val="1000"/>
              </a:spcBef>
              <a:buNone/>
            </a:pPr>
            <a:r>
              <a:rPr lang="fr-FR" sz="1600" b="1" dirty="0"/>
              <a:t>Choix du test statistique : </a:t>
            </a:r>
          </a:p>
          <a:p>
            <a:pPr marL="0" lvl="1" indent="0">
              <a:spcBef>
                <a:spcPts val="1000"/>
              </a:spcBef>
              <a:buNone/>
            </a:pPr>
            <a:r>
              <a:rPr lang="fr-FR" sz="1200" dirty="0"/>
              <a:t>Nous avons deux variables (âge du client) quantitative  et la catégorie de livre qui est qualitative. De plus, nous 3 groupes à comparer. Le test </a:t>
            </a:r>
            <a:r>
              <a:rPr lang="fr-FR" sz="1200" dirty="0" err="1"/>
              <a:t>Anova</a:t>
            </a:r>
            <a:r>
              <a:rPr lang="fr-FR" sz="1200" dirty="0"/>
              <a:t> est donc parfaitement adapté au test à réaliser.</a:t>
            </a:r>
          </a:p>
          <a:p>
            <a:pPr marL="0" lvl="1" indent="0">
              <a:spcBef>
                <a:spcPts val="1000"/>
              </a:spcBef>
              <a:buNone/>
            </a:pPr>
            <a:r>
              <a:rPr lang="fr-FR" sz="1600" b="1" dirty="0"/>
              <a:t>Conclusion :</a:t>
            </a:r>
          </a:p>
          <a:p>
            <a:pPr marL="0" lvl="1" indent="0">
              <a:spcBef>
                <a:spcPts val="1000"/>
              </a:spcBef>
              <a:buNone/>
            </a:pPr>
            <a:r>
              <a:rPr lang="fr-FR" sz="1200" dirty="0"/>
              <a:t>Le test de ANOVA donne un coefficient de 39266,29  et une « </a:t>
            </a:r>
            <a:r>
              <a:rPr lang="fr-FR" sz="1200" dirty="0" err="1"/>
              <a:t>p_value</a:t>
            </a:r>
            <a:r>
              <a:rPr lang="fr-FR" sz="1200" dirty="0"/>
              <a:t> » de 0. </a:t>
            </a:r>
          </a:p>
          <a:p>
            <a:pPr marL="0" lvl="1" indent="0">
              <a:spcBef>
                <a:spcPts val="1000"/>
              </a:spcBef>
              <a:buNone/>
            </a:pPr>
            <a:r>
              <a:rPr lang="fr-FR" sz="1200" dirty="0"/>
              <a:t>L’hypothèse </a:t>
            </a:r>
            <a:r>
              <a:rPr lang="fr-FR" sz="1200" b="1" dirty="0"/>
              <a:t>nulle est rejetée, il y a donc bien un lien entre âge du client et la catégorie de livre.</a:t>
            </a:r>
            <a:endParaRPr lang="fr-FR" sz="1200" dirty="0"/>
          </a:p>
          <a:p>
            <a:pPr marL="0" lvl="1" indent="0">
              <a:spcBef>
                <a:spcPts val="1000"/>
              </a:spcBef>
              <a:buNone/>
            </a:pPr>
            <a:endParaRPr lang="fr-FR" sz="1600" b="1" dirty="0"/>
          </a:p>
        </p:txBody>
      </p:sp>
      <p:pic>
        <p:nvPicPr>
          <p:cNvPr id="6" name="Image 5">
            <a:extLst>
              <a:ext uri="{FF2B5EF4-FFF2-40B4-BE49-F238E27FC236}">
                <a16:creationId xmlns:a16="http://schemas.microsoft.com/office/drawing/2014/main" id="{EDA0D4C1-1D34-1388-2DFC-408CA710BB39}"/>
              </a:ext>
            </a:extLst>
          </p:cNvPr>
          <p:cNvPicPr>
            <a:picLocks noChangeAspect="1"/>
          </p:cNvPicPr>
          <p:nvPr/>
        </p:nvPicPr>
        <p:blipFill>
          <a:blip r:embed="rId3"/>
          <a:stretch>
            <a:fillRect/>
          </a:stretch>
        </p:blipFill>
        <p:spPr>
          <a:xfrm>
            <a:off x="8114327" y="3310360"/>
            <a:ext cx="3696216" cy="2762636"/>
          </a:xfrm>
          <a:prstGeom prst="rect">
            <a:avLst/>
          </a:prstGeom>
        </p:spPr>
      </p:pic>
      <p:sp>
        <p:nvSpPr>
          <p:cNvPr id="12" name="Rectangle : coins arrondis 11">
            <a:extLst>
              <a:ext uri="{FF2B5EF4-FFF2-40B4-BE49-F238E27FC236}">
                <a16:creationId xmlns:a16="http://schemas.microsoft.com/office/drawing/2014/main" id="{FDDAD889-88B5-7EE3-C89A-2737635F2717}"/>
              </a:ext>
            </a:extLst>
          </p:cNvPr>
          <p:cNvSpPr/>
          <p:nvPr/>
        </p:nvSpPr>
        <p:spPr>
          <a:xfrm>
            <a:off x="470679" y="4326193"/>
            <a:ext cx="7313969" cy="1498913"/>
          </a:xfrm>
          <a:prstGeom prst="round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indent="0">
              <a:spcBef>
                <a:spcPts val="1000"/>
              </a:spcBef>
              <a:buNone/>
            </a:pPr>
            <a:r>
              <a:rPr lang="fr-FR" sz="1800" dirty="0"/>
              <a:t>Il existe un lien entre l’âge du client et la </a:t>
            </a:r>
            <a:r>
              <a:rPr lang="fr-FR" sz="1800" dirty="0" err="1"/>
              <a:t>catégore</a:t>
            </a:r>
            <a:r>
              <a:rPr lang="fr-FR" sz="1800" dirty="0"/>
              <a:t> de livre acheté.</a:t>
            </a:r>
          </a:p>
          <a:p>
            <a:pPr marL="0" lvl="1" indent="0">
              <a:spcBef>
                <a:spcPts val="1000"/>
              </a:spcBef>
              <a:buNone/>
            </a:pPr>
            <a:r>
              <a:rPr lang="fr-FR" dirty="0"/>
              <a:t>Les 20/30 ans vont préférés des livres de catégorie 2, les 40/50 ans des livres de catégorie 0 alors que les autres préféreront des livres de catégorie 1.</a:t>
            </a:r>
            <a:endParaRPr lang="fr-FR" sz="1800" dirty="0"/>
          </a:p>
        </p:txBody>
      </p:sp>
    </p:spTree>
    <p:extLst>
      <p:ext uri="{BB962C8B-B14F-4D97-AF65-F5344CB8AC3E}">
        <p14:creationId xmlns:p14="http://schemas.microsoft.com/office/powerpoint/2010/main" val="3570542426"/>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5367</TotalTime>
  <Words>1564</Words>
  <Application>Microsoft Office PowerPoint</Application>
  <PresentationFormat>Grand écran</PresentationFormat>
  <Paragraphs>211</Paragraphs>
  <Slides>15</Slides>
  <Notes>1</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15</vt:i4>
      </vt:variant>
    </vt:vector>
  </HeadingPairs>
  <TitlesOfParts>
    <vt:vector size="21" baseType="lpstr">
      <vt:lpstr>Aptos</vt:lpstr>
      <vt:lpstr>Arial</vt:lpstr>
      <vt:lpstr>Calibri</vt:lpstr>
      <vt:lpstr>Calisto MT</vt:lpstr>
      <vt:lpstr>Univers Condensed</vt:lpstr>
      <vt:lpstr>ChronicleVTI</vt:lpstr>
      <vt:lpstr>Librairie  LAPAGE</vt:lpstr>
      <vt:lpstr>Sommaire</vt:lpstr>
      <vt:lpstr>Contexte</vt:lpstr>
      <vt:lpstr>Identification des anomalies des données</vt:lpstr>
      <vt:lpstr>Indicateurs de ventes</vt:lpstr>
      <vt:lpstr>Indicateurs de ventes</vt:lpstr>
      <vt:lpstr>Indicateurs de ventes</vt:lpstr>
      <vt:lpstr>Indicateurs de ventes</vt:lpstr>
      <vt:lpstr>Indicateurs de ventes</vt:lpstr>
      <vt:lpstr>Identification des tests à réaliser</vt:lpstr>
      <vt:lpstr>Analyse des comportements en ligne : Test 1</vt:lpstr>
      <vt:lpstr>Analyse des comportements en ligne : Test 2</vt:lpstr>
      <vt:lpstr>Analyse des comportements en ligne : Test 3</vt:lpstr>
      <vt:lpstr>Analyse des comportements en ligne : Test 4</vt:lpstr>
      <vt:lpstr>Analyse des comportements en ligne : Test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Romain RAMAT</dc:creator>
  <cp:lastModifiedBy>Romain RAMAT</cp:lastModifiedBy>
  <cp:revision>30</cp:revision>
  <dcterms:created xsi:type="dcterms:W3CDTF">2025-04-21T08:09:47Z</dcterms:created>
  <dcterms:modified xsi:type="dcterms:W3CDTF">2025-05-22T21:24:00Z</dcterms:modified>
</cp:coreProperties>
</file>