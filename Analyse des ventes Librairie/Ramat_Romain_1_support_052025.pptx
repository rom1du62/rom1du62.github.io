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17"/>
  </p:notesMasterIdLst>
  <p:sldIdLst>
    <p:sldId id="256" r:id="rId2"/>
    <p:sldId id="257" r:id="rId3"/>
    <p:sldId id="277" r:id="rId4"/>
    <p:sldId id="272" r:id="rId5"/>
    <p:sldId id="258" r:id="rId6"/>
    <p:sldId id="267" r:id="rId7"/>
    <p:sldId id="274" r:id="rId8"/>
    <p:sldId id="276" r:id="rId9"/>
    <p:sldId id="275" r:id="rId10"/>
    <p:sldId id="259" r:id="rId11"/>
    <p:sldId id="263" r:id="rId12"/>
    <p:sldId id="260" r:id="rId13"/>
    <p:sldId id="264" r:id="rId14"/>
    <p:sldId id="265" r:id="rId15"/>
    <p:sldId id="266"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CE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7" d="100"/>
          <a:sy n="97" d="100"/>
        </p:scale>
        <p:origin x="1110"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640B0F-AD0A-4957-BBAC-7298D5BCFE1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B4E0F538-49B6-46B2-B7A5-F15B4B7D06A8}">
      <dgm:prSet/>
      <dgm:spPr/>
      <dgm:t>
        <a:bodyPr/>
        <a:lstStyle/>
        <a:p>
          <a:r>
            <a:rPr lang="fr-FR"/>
            <a:t>Information sur les données :</a:t>
          </a:r>
          <a:endParaRPr lang="en-US"/>
        </a:p>
      </dgm:t>
    </dgm:pt>
    <dgm:pt modelId="{88462729-7EF7-4B25-85F5-A602F421F947}" type="parTrans" cxnId="{1D73077D-CEEE-4F23-B994-9EB1BE356C72}">
      <dgm:prSet/>
      <dgm:spPr/>
      <dgm:t>
        <a:bodyPr/>
        <a:lstStyle/>
        <a:p>
          <a:endParaRPr lang="en-US"/>
        </a:p>
      </dgm:t>
    </dgm:pt>
    <dgm:pt modelId="{40E6815A-BD96-4E9F-86E1-F0438950644C}" type="sibTrans" cxnId="{1D73077D-CEEE-4F23-B994-9EB1BE356C72}">
      <dgm:prSet/>
      <dgm:spPr/>
      <dgm:t>
        <a:bodyPr/>
        <a:lstStyle/>
        <a:p>
          <a:endParaRPr lang="en-US"/>
        </a:p>
      </dgm:t>
    </dgm:pt>
    <dgm:pt modelId="{C5E3BA29-73F1-400D-86A1-299B7AEBB2AD}">
      <dgm:prSet/>
      <dgm:spPr/>
      <dgm:t>
        <a:bodyPr/>
        <a:lstStyle/>
        <a:p>
          <a:r>
            <a:rPr lang="fr-FR" dirty="0"/>
            <a:t>Contexte et Présentation des manipulations sur le jeu de données</a:t>
          </a:r>
          <a:endParaRPr lang="en-US" dirty="0"/>
        </a:p>
      </dgm:t>
    </dgm:pt>
    <dgm:pt modelId="{FF9E780A-8EE1-442B-8357-38F854D7CB95}" type="parTrans" cxnId="{74C16C28-3F9F-4837-9EE9-37AA3C5B587D}">
      <dgm:prSet/>
      <dgm:spPr/>
      <dgm:t>
        <a:bodyPr/>
        <a:lstStyle/>
        <a:p>
          <a:endParaRPr lang="en-US"/>
        </a:p>
      </dgm:t>
    </dgm:pt>
    <dgm:pt modelId="{57A8BD56-6AF7-478D-A6C5-60062005BAC9}" type="sibTrans" cxnId="{74C16C28-3F9F-4837-9EE9-37AA3C5B587D}">
      <dgm:prSet/>
      <dgm:spPr/>
      <dgm:t>
        <a:bodyPr/>
        <a:lstStyle/>
        <a:p>
          <a:endParaRPr lang="en-US"/>
        </a:p>
      </dgm:t>
    </dgm:pt>
    <dgm:pt modelId="{6A8ABA22-5223-4B7F-A1FA-24F2D49631C0}">
      <dgm:prSet/>
      <dgm:spPr/>
      <dgm:t>
        <a:bodyPr/>
        <a:lstStyle/>
        <a:p>
          <a:r>
            <a:rPr lang="fr-FR"/>
            <a:t>Indicateurs de ventes :</a:t>
          </a:r>
          <a:endParaRPr lang="en-US"/>
        </a:p>
      </dgm:t>
    </dgm:pt>
    <dgm:pt modelId="{3F89F837-5EED-44F4-8259-5D0285523EC6}" type="parTrans" cxnId="{7257B09A-3FE5-4C61-9097-C88FA509E7FC}">
      <dgm:prSet/>
      <dgm:spPr/>
      <dgm:t>
        <a:bodyPr/>
        <a:lstStyle/>
        <a:p>
          <a:endParaRPr lang="en-US"/>
        </a:p>
      </dgm:t>
    </dgm:pt>
    <dgm:pt modelId="{07DA4516-E707-47A9-A48B-7C5780C545BB}" type="sibTrans" cxnId="{7257B09A-3FE5-4C61-9097-C88FA509E7FC}">
      <dgm:prSet/>
      <dgm:spPr/>
      <dgm:t>
        <a:bodyPr/>
        <a:lstStyle/>
        <a:p>
          <a:endParaRPr lang="en-US"/>
        </a:p>
      </dgm:t>
    </dgm:pt>
    <dgm:pt modelId="{382B82AB-AC91-4C59-B4D2-2ADD2F8B6955}">
      <dgm:prSet/>
      <dgm:spPr/>
      <dgm:t>
        <a:bodyPr/>
        <a:lstStyle/>
        <a:p>
          <a:r>
            <a:rPr lang="fr-FR" dirty="0"/>
            <a:t>Chiffre d’affaires avec la moyenne mobile</a:t>
          </a:r>
          <a:endParaRPr lang="en-US" dirty="0"/>
        </a:p>
      </dgm:t>
    </dgm:pt>
    <dgm:pt modelId="{4C0BC1A1-06FC-47B8-962B-A3618F5877A3}" type="parTrans" cxnId="{820F2BCC-C291-4D28-AA27-BCB2A0B12CBD}">
      <dgm:prSet/>
      <dgm:spPr/>
      <dgm:t>
        <a:bodyPr/>
        <a:lstStyle/>
        <a:p>
          <a:endParaRPr lang="en-US"/>
        </a:p>
      </dgm:t>
    </dgm:pt>
    <dgm:pt modelId="{977EF80A-2C6B-412E-8D22-2E0E48E2272C}" type="sibTrans" cxnId="{820F2BCC-C291-4D28-AA27-BCB2A0B12CBD}">
      <dgm:prSet/>
      <dgm:spPr/>
      <dgm:t>
        <a:bodyPr/>
        <a:lstStyle/>
        <a:p>
          <a:endParaRPr lang="en-US"/>
        </a:p>
      </dgm:t>
    </dgm:pt>
    <dgm:pt modelId="{77AE1AC2-080A-41A8-BDD0-4B45CBF7CCCA}">
      <dgm:prSet/>
      <dgm:spPr/>
      <dgm:t>
        <a:bodyPr/>
        <a:lstStyle/>
        <a:p>
          <a:r>
            <a:rPr lang="fr-FR"/>
            <a:t>Chiffre d’affaires par catégorie, </a:t>
          </a:r>
          <a:endParaRPr lang="en-US"/>
        </a:p>
      </dgm:t>
    </dgm:pt>
    <dgm:pt modelId="{B0E73543-578B-4B15-B0D8-27761F7DB137}" type="parTrans" cxnId="{13F7CB86-756D-4255-975A-E948E6045B77}">
      <dgm:prSet/>
      <dgm:spPr/>
      <dgm:t>
        <a:bodyPr/>
        <a:lstStyle/>
        <a:p>
          <a:endParaRPr lang="en-US"/>
        </a:p>
      </dgm:t>
    </dgm:pt>
    <dgm:pt modelId="{8B620739-FAD5-4CDB-A3CC-066BC2829C11}" type="sibTrans" cxnId="{13F7CB86-756D-4255-975A-E948E6045B77}">
      <dgm:prSet/>
      <dgm:spPr/>
      <dgm:t>
        <a:bodyPr/>
        <a:lstStyle/>
        <a:p>
          <a:endParaRPr lang="en-US"/>
        </a:p>
      </dgm:t>
    </dgm:pt>
    <dgm:pt modelId="{BBE7FD04-2B4D-446A-A7DC-5756AD16DA54}">
      <dgm:prSet/>
      <dgm:spPr/>
      <dgm:t>
        <a:bodyPr/>
        <a:lstStyle/>
        <a:p>
          <a:r>
            <a:rPr lang="fr-FR"/>
            <a:t>Nombre de clients par mois, </a:t>
          </a:r>
          <a:endParaRPr lang="en-US"/>
        </a:p>
      </dgm:t>
    </dgm:pt>
    <dgm:pt modelId="{C64398CB-81D2-4AAA-89A0-6EE73DF0DB5F}" type="parTrans" cxnId="{CD5AA2A1-CE33-403A-9714-2344416185E2}">
      <dgm:prSet/>
      <dgm:spPr/>
      <dgm:t>
        <a:bodyPr/>
        <a:lstStyle/>
        <a:p>
          <a:endParaRPr lang="en-US"/>
        </a:p>
      </dgm:t>
    </dgm:pt>
    <dgm:pt modelId="{C3E6CB10-9F45-4A25-A132-7D9705D95AF0}" type="sibTrans" cxnId="{CD5AA2A1-CE33-403A-9714-2344416185E2}">
      <dgm:prSet/>
      <dgm:spPr/>
      <dgm:t>
        <a:bodyPr/>
        <a:lstStyle/>
        <a:p>
          <a:endParaRPr lang="en-US"/>
        </a:p>
      </dgm:t>
    </dgm:pt>
    <dgm:pt modelId="{A9FB4A4E-AD6F-48AA-A177-4DF74745186B}">
      <dgm:prSet/>
      <dgm:spPr/>
      <dgm:t>
        <a:bodyPr/>
        <a:lstStyle/>
        <a:p>
          <a:r>
            <a:rPr lang="fr-FR"/>
            <a:t>Nombre de transactions, </a:t>
          </a:r>
          <a:endParaRPr lang="en-US"/>
        </a:p>
      </dgm:t>
    </dgm:pt>
    <dgm:pt modelId="{DD746225-E61B-4530-B91A-AD7F9776C8B4}" type="parTrans" cxnId="{C44BAF45-A27E-4BA1-99EE-AF72F0EF83A7}">
      <dgm:prSet/>
      <dgm:spPr/>
      <dgm:t>
        <a:bodyPr/>
        <a:lstStyle/>
        <a:p>
          <a:endParaRPr lang="en-US"/>
        </a:p>
      </dgm:t>
    </dgm:pt>
    <dgm:pt modelId="{20B2AD53-BD99-4917-98DD-FB81AD3E1E8D}" type="sibTrans" cxnId="{C44BAF45-A27E-4BA1-99EE-AF72F0EF83A7}">
      <dgm:prSet/>
      <dgm:spPr/>
      <dgm:t>
        <a:bodyPr/>
        <a:lstStyle/>
        <a:p>
          <a:endParaRPr lang="en-US"/>
        </a:p>
      </dgm:t>
    </dgm:pt>
    <dgm:pt modelId="{FF7695EB-370B-454F-9887-548CA072FA82}">
      <dgm:prSet/>
      <dgm:spPr/>
      <dgm:t>
        <a:bodyPr/>
        <a:lstStyle/>
        <a:p>
          <a:r>
            <a:rPr lang="fr-FR"/>
            <a:t>Nombre de produits vendus</a:t>
          </a:r>
          <a:endParaRPr lang="en-US"/>
        </a:p>
      </dgm:t>
    </dgm:pt>
    <dgm:pt modelId="{613425E0-216A-4C42-8E08-4C528A4C0850}" type="parTrans" cxnId="{153018E5-2A94-4CDA-B7C5-CC36C70E7231}">
      <dgm:prSet/>
      <dgm:spPr/>
      <dgm:t>
        <a:bodyPr/>
        <a:lstStyle/>
        <a:p>
          <a:endParaRPr lang="en-US"/>
        </a:p>
      </dgm:t>
    </dgm:pt>
    <dgm:pt modelId="{C1683869-DF26-4C0B-9490-3E7DC8C2550B}" type="sibTrans" cxnId="{153018E5-2A94-4CDA-B7C5-CC36C70E7231}">
      <dgm:prSet/>
      <dgm:spPr/>
      <dgm:t>
        <a:bodyPr/>
        <a:lstStyle/>
        <a:p>
          <a:endParaRPr lang="en-US"/>
        </a:p>
      </dgm:t>
    </dgm:pt>
    <dgm:pt modelId="{12EFEEF0-84FB-4AB2-9C7C-119A758915F4}">
      <dgm:prSet/>
      <dgm:spPr/>
      <dgm:t>
        <a:bodyPr/>
        <a:lstStyle/>
        <a:p>
          <a:r>
            <a:rPr lang="fr-FR"/>
            <a:t>Top, Flop, Répartition par catégorie</a:t>
          </a:r>
          <a:endParaRPr lang="en-US"/>
        </a:p>
      </dgm:t>
    </dgm:pt>
    <dgm:pt modelId="{846F049A-DA89-4CA6-8D37-41408845D8AC}" type="parTrans" cxnId="{DDB36A7C-D217-43D1-81DA-129E4A06EA2D}">
      <dgm:prSet/>
      <dgm:spPr/>
      <dgm:t>
        <a:bodyPr/>
        <a:lstStyle/>
        <a:p>
          <a:endParaRPr lang="en-US"/>
        </a:p>
      </dgm:t>
    </dgm:pt>
    <dgm:pt modelId="{F5A40839-A6D5-490E-954B-37A2F6F4437D}" type="sibTrans" cxnId="{DDB36A7C-D217-43D1-81DA-129E4A06EA2D}">
      <dgm:prSet/>
      <dgm:spPr/>
      <dgm:t>
        <a:bodyPr/>
        <a:lstStyle/>
        <a:p>
          <a:endParaRPr lang="en-US"/>
        </a:p>
      </dgm:t>
    </dgm:pt>
    <dgm:pt modelId="{FD6030D3-97C3-45F0-AD67-60FDF3FE6FC2}">
      <dgm:prSet/>
      <dgm:spPr/>
      <dgm:t>
        <a:bodyPr/>
        <a:lstStyle/>
        <a:p>
          <a:r>
            <a:rPr lang="fr-FR" dirty="0"/>
            <a:t>Analyses Statistique des comportements clientèle en ligne</a:t>
          </a:r>
          <a:endParaRPr lang="en-US" dirty="0"/>
        </a:p>
      </dgm:t>
    </dgm:pt>
    <dgm:pt modelId="{CBACBD01-9E06-4637-8B67-326F83EEA851}" type="parTrans" cxnId="{9A28C509-CD8A-4334-AEC8-4AD1644133B1}">
      <dgm:prSet/>
      <dgm:spPr/>
      <dgm:t>
        <a:bodyPr/>
        <a:lstStyle/>
        <a:p>
          <a:endParaRPr lang="en-US"/>
        </a:p>
      </dgm:t>
    </dgm:pt>
    <dgm:pt modelId="{D0CBDD63-87E2-44F6-998F-6E2C3F59F25B}" type="sibTrans" cxnId="{9A28C509-CD8A-4334-AEC8-4AD1644133B1}">
      <dgm:prSet/>
      <dgm:spPr/>
      <dgm:t>
        <a:bodyPr/>
        <a:lstStyle/>
        <a:p>
          <a:endParaRPr lang="en-US"/>
        </a:p>
      </dgm:t>
    </dgm:pt>
    <dgm:pt modelId="{E6531610-1312-4C45-BF26-E28FE2BBEB7D}">
      <dgm:prSet/>
      <dgm:spPr/>
      <dgm:t>
        <a:bodyPr/>
        <a:lstStyle/>
        <a:p>
          <a:r>
            <a:rPr lang="fr-FR"/>
            <a:t>Lien entre genre d'un client et les catégories des livres achetés</a:t>
          </a:r>
          <a:endParaRPr lang="en-US"/>
        </a:p>
      </dgm:t>
    </dgm:pt>
    <dgm:pt modelId="{AB142D28-1533-46F1-8C4B-CE10373034BB}" type="parTrans" cxnId="{48D52AF2-3930-432E-A4C4-D134BA51AD51}">
      <dgm:prSet/>
      <dgm:spPr/>
      <dgm:t>
        <a:bodyPr/>
        <a:lstStyle/>
        <a:p>
          <a:endParaRPr lang="en-US"/>
        </a:p>
      </dgm:t>
    </dgm:pt>
    <dgm:pt modelId="{68837772-2FBA-49B7-A2C1-7A0D84ABD45B}" type="sibTrans" cxnId="{48D52AF2-3930-432E-A4C4-D134BA51AD51}">
      <dgm:prSet/>
      <dgm:spPr/>
      <dgm:t>
        <a:bodyPr/>
        <a:lstStyle/>
        <a:p>
          <a:endParaRPr lang="en-US"/>
        </a:p>
      </dgm:t>
    </dgm:pt>
    <dgm:pt modelId="{76035391-17B7-4F36-8D53-25C9495E1CB9}">
      <dgm:prSet/>
      <dgm:spPr/>
      <dgm:t>
        <a:bodyPr/>
        <a:lstStyle/>
        <a:p>
          <a:r>
            <a:rPr lang="fr-FR"/>
            <a:t>Lien entre âge du client et le montant de ses achats</a:t>
          </a:r>
          <a:endParaRPr lang="en-US"/>
        </a:p>
      </dgm:t>
    </dgm:pt>
    <dgm:pt modelId="{21C756C3-88E9-4572-A599-CE7D3DB69DB1}" type="parTrans" cxnId="{F021856F-AF7C-410F-A7E2-502AB23E846E}">
      <dgm:prSet/>
      <dgm:spPr/>
      <dgm:t>
        <a:bodyPr/>
        <a:lstStyle/>
        <a:p>
          <a:endParaRPr lang="en-US"/>
        </a:p>
      </dgm:t>
    </dgm:pt>
    <dgm:pt modelId="{78E1A112-DB0D-4145-92B0-DD20C61A7582}" type="sibTrans" cxnId="{F021856F-AF7C-410F-A7E2-502AB23E846E}">
      <dgm:prSet/>
      <dgm:spPr/>
      <dgm:t>
        <a:bodyPr/>
        <a:lstStyle/>
        <a:p>
          <a:endParaRPr lang="en-US"/>
        </a:p>
      </dgm:t>
    </dgm:pt>
    <dgm:pt modelId="{2E8BDE4D-4CBF-4210-8475-823430D4B31C}">
      <dgm:prSet/>
      <dgm:spPr/>
      <dgm:t>
        <a:bodyPr/>
        <a:lstStyle/>
        <a:p>
          <a:r>
            <a:rPr lang="fr-FR"/>
            <a:t>Lien entre âge du client et ses fréquences d'achats</a:t>
          </a:r>
          <a:endParaRPr lang="en-US"/>
        </a:p>
      </dgm:t>
    </dgm:pt>
    <dgm:pt modelId="{8C27FD6B-F8C8-4AB5-87FD-D68D5179807D}" type="parTrans" cxnId="{62C74E7A-3E48-4EE2-B140-1A95B8D9D136}">
      <dgm:prSet/>
      <dgm:spPr/>
      <dgm:t>
        <a:bodyPr/>
        <a:lstStyle/>
        <a:p>
          <a:endParaRPr lang="en-US"/>
        </a:p>
      </dgm:t>
    </dgm:pt>
    <dgm:pt modelId="{5543A980-CC47-449B-89BD-DA428D17BBFB}" type="sibTrans" cxnId="{62C74E7A-3E48-4EE2-B140-1A95B8D9D136}">
      <dgm:prSet/>
      <dgm:spPr/>
      <dgm:t>
        <a:bodyPr/>
        <a:lstStyle/>
        <a:p>
          <a:endParaRPr lang="en-US"/>
        </a:p>
      </dgm:t>
    </dgm:pt>
    <dgm:pt modelId="{69DD291E-ECFF-4E7E-8A91-64231C338AF4}">
      <dgm:prSet/>
      <dgm:spPr/>
      <dgm:t>
        <a:bodyPr/>
        <a:lstStyle/>
        <a:p>
          <a:r>
            <a:rPr lang="fr-FR"/>
            <a:t>Lien entre âge du client et la taille du panier moyen</a:t>
          </a:r>
          <a:endParaRPr lang="en-US"/>
        </a:p>
      </dgm:t>
    </dgm:pt>
    <dgm:pt modelId="{6BF1BEE7-9E55-4BDF-A7A6-4F4C1165FDB5}" type="parTrans" cxnId="{37922F12-9678-41E9-AA96-28FED49BDF33}">
      <dgm:prSet/>
      <dgm:spPr/>
      <dgm:t>
        <a:bodyPr/>
        <a:lstStyle/>
        <a:p>
          <a:endParaRPr lang="en-US"/>
        </a:p>
      </dgm:t>
    </dgm:pt>
    <dgm:pt modelId="{5D2B0236-FB18-495D-9842-0E0FB43BFDA9}" type="sibTrans" cxnId="{37922F12-9678-41E9-AA96-28FED49BDF33}">
      <dgm:prSet/>
      <dgm:spPr/>
      <dgm:t>
        <a:bodyPr/>
        <a:lstStyle/>
        <a:p>
          <a:endParaRPr lang="en-US"/>
        </a:p>
      </dgm:t>
    </dgm:pt>
    <dgm:pt modelId="{DD5B6C51-17F9-422C-B4BD-1695F7FFBE30}">
      <dgm:prSet/>
      <dgm:spPr/>
      <dgm:t>
        <a:bodyPr/>
        <a:lstStyle/>
        <a:p>
          <a:r>
            <a:rPr lang="fr-FR"/>
            <a:t>Lien entre âge du client et les catégories des livres achetés</a:t>
          </a:r>
          <a:endParaRPr lang="en-US"/>
        </a:p>
      </dgm:t>
    </dgm:pt>
    <dgm:pt modelId="{CE31B283-108C-4192-8525-A326F46C5894}" type="parTrans" cxnId="{BCDC2E8A-403E-447F-9924-345E01BA030E}">
      <dgm:prSet/>
      <dgm:spPr/>
      <dgm:t>
        <a:bodyPr/>
        <a:lstStyle/>
        <a:p>
          <a:endParaRPr lang="en-US"/>
        </a:p>
      </dgm:t>
    </dgm:pt>
    <dgm:pt modelId="{D74490C0-90C1-48F3-8A78-71A4A554E321}" type="sibTrans" cxnId="{BCDC2E8A-403E-447F-9924-345E01BA030E}">
      <dgm:prSet/>
      <dgm:spPr/>
      <dgm:t>
        <a:bodyPr/>
        <a:lstStyle/>
        <a:p>
          <a:endParaRPr lang="en-US"/>
        </a:p>
      </dgm:t>
    </dgm:pt>
    <dgm:pt modelId="{ABC88874-59BE-4284-B719-45E95C570DA0}" type="pres">
      <dgm:prSet presAssocID="{99640B0F-AD0A-4957-BBAC-7298D5BCFE18}" presName="linear" presStyleCnt="0">
        <dgm:presLayoutVars>
          <dgm:animLvl val="lvl"/>
          <dgm:resizeHandles val="exact"/>
        </dgm:presLayoutVars>
      </dgm:prSet>
      <dgm:spPr/>
    </dgm:pt>
    <dgm:pt modelId="{2FA2EAEE-C8DC-489A-A6CD-E0BEA92A940D}" type="pres">
      <dgm:prSet presAssocID="{B4E0F538-49B6-46B2-B7A5-F15B4B7D06A8}" presName="parentText" presStyleLbl="node1" presStyleIdx="0" presStyleCnt="3">
        <dgm:presLayoutVars>
          <dgm:chMax val="0"/>
          <dgm:bulletEnabled val="1"/>
        </dgm:presLayoutVars>
      </dgm:prSet>
      <dgm:spPr/>
    </dgm:pt>
    <dgm:pt modelId="{84DBE7C1-C283-4A14-94BC-4C39718E85BB}" type="pres">
      <dgm:prSet presAssocID="{B4E0F538-49B6-46B2-B7A5-F15B4B7D06A8}" presName="childText" presStyleLbl="revTx" presStyleIdx="0" presStyleCnt="3">
        <dgm:presLayoutVars>
          <dgm:bulletEnabled val="1"/>
        </dgm:presLayoutVars>
      </dgm:prSet>
      <dgm:spPr/>
    </dgm:pt>
    <dgm:pt modelId="{02C28F0B-097E-4E49-8EFA-3370DAB30B42}" type="pres">
      <dgm:prSet presAssocID="{6A8ABA22-5223-4B7F-A1FA-24F2D49631C0}" presName="parentText" presStyleLbl="node1" presStyleIdx="1" presStyleCnt="3">
        <dgm:presLayoutVars>
          <dgm:chMax val="0"/>
          <dgm:bulletEnabled val="1"/>
        </dgm:presLayoutVars>
      </dgm:prSet>
      <dgm:spPr/>
    </dgm:pt>
    <dgm:pt modelId="{237AE290-8897-4710-B012-7C295237D311}" type="pres">
      <dgm:prSet presAssocID="{6A8ABA22-5223-4B7F-A1FA-24F2D49631C0}" presName="childText" presStyleLbl="revTx" presStyleIdx="1" presStyleCnt="3">
        <dgm:presLayoutVars>
          <dgm:bulletEnabled val="1"/>
        </dgm:presLayoutVars>
      </dgm:prSet>
      <dgm:spPr/>
    </dgm:pt>
    <dgm:pt modelId="{242AB3D2-86D9-4ADB-B552-2A478154B6E3}" type="pres">
      <dgm:prSet presAssocID="{FD6030D3-97C3-45F0-AD67-60FDF3FE6FC2}" presName="parentText" presStyleLbl="node1" presStyleIdx="2" presStyleCnt="3">
        <dgm:presLayoutVars>
          <dgm:chMax val="0"/>
          <dgm:bulletEnabled val="1"/>
        </dgm:presLayoutVars>
      </dgm:prSet>
      <dgm:spPr/>
    </dgm:pt>
    <dgm:pt modelId="{577E6B22-1D87-4C84-9F48-B26855F6186A}" type="pres">
      <dgm:prSet presAssocID="{FD6030D3-97C3-45F0-AD67-60FDF3FE6FC2}" presName="childText" presStyleLbl="revTx" presStyleIdx="2" presStyleCnt="3">
        <dgm:presLayoutVars>
          <dgm:bulletEnabled val="1"/>
        </dgm:presLayoutVars>
      </dgm:prSet>
      <dgm:spPr/>
    </dgm:pt>
  </dgm:ptLst>
  <dgm:cxnLst>
    <dgm:cxn modelId="{9A28C509-CD8A-4334-AEC8-4AD1644133B1}" srcId="{99640B0F-AD0A-4957-BBAC-7298D5BCFE18}" destId="{FD6030D3-97C3-45F0-AD67-60FDF3FE6FC2}" srcOrd="2" destOrd="0" parTransId="{CBACBD01-9E06-4637-8B67-326F83EEA851}" sibTransId="{D0CBDD63-87E2-44F6-998F-6E2C3F59F25B}"/>
    <dgm:cxn modelId="{37922F12-9678-41E9-AA96-28FED49BDF33}" srcId="{FD6030D3-97C3-45F0-AD67-60FDF3FE6FC2}" destId="{69DD291E-ECFF-4E7E-8A91-64231C338AF4}" srcOrd="3" destOrd="0" parTransId="{6BF1BEE7-9E55-4BDF-A7A6-4F4C1165FDB5}" sibTransId="{5D2B0236-FB18-495D-9842-0E0FB43BFDA9}"/>
    <dgm:cxn modelId="{2261E520-B781-4A04-BB5E-27BE6DC312C9}" type="presOf" srcId="{E6531610-1312-4C45-BF26-E28FE2BBEB7D}" destId="{577E6B22-1D87-4C84-9F48-B26855F6186A}" srcOrd="0" destOrd="0" presId="urn:microsoft.com/office/officeart/2005/8/layout/vList2"/>
    <dgm:cxn modelId="{74C16C28-3F9F-4837-9EE9-37AA3C5B587D}" srcId="{B4E0F538-49B6-46B2-B7A5-F15B4B7D06A8}" destId="{C5E3BA29-73F1-400D-86A1-299B7AEBB2AD}" srcOrd="0" destOrd="0" parTransId="{FF9E780A-8EE1-442B-8357-38F854D7CB95}" sibTransId="{57A8BD56-6AF7-478D-A6C5-60062005BAC9}"/>
    <dgm:cxn modelId="{796E602A-091F-4A29-8FA5-25622309E1FC}" type="presOf" srcId="{77AE1AC2-080A-41A8-BDD0-4B45CBF7CCCA}" destId="{237AE290-8897-4710-B012-7C295237D311}" srcOrd="0" destOrd="1" presId="urn:microsoft.com/office/officeart/2005/8/layout/vList2"/>
    <dgm:cxn modelId="{1AA70240-C78B-4A1E-87E2-64660D94206B}" type="presOf" srcId="{2E8BDE4D-4CBF-4210-8475-823430D4B31C}" destId="{577E6B22-1D87-4C84-9F48-B26855F6186A}" srcOrd="0" destOrd="2" presId="urn:microsoft.com/office/officeart/2005/8/layout/vList2"/>
    <dgm:cxn modelId="{6F4D7440-1823-48A3-90A6-84B2ED482200}" type="presOf" srcId="{A9FB4A4E-AD6F-48AA-A177-4DF74745186B}" destId="{237AE290-8897-4710-B012-7C295237D311}" srcOrd="0" destOrd="3" presId="urn:microsoft.com/office/officeart/2005/8/layout/vList2"/>
    <dgm:cxn modelId="{37A5905E-69ED-4C85-9921-09FE0C018179}" type="presOf" srcId="{BBE7FD04-2B4D-446A-A7DC-5756AD16DA54}" destId="{237AE290-8897-4710-B012-7C295237D311}" srcOrd="0" destOrd="2" presId="urn:microsoft.com/office/officeart/2005/8/layout/vList2"/>
    <dgm:cxn modelId="{C44BAF45-A27E-4BA1-99EE-AF72F0EF83A7}" srcId="{6A8ABA22-5223-4B7F-A1FA-24F2D49631C0}" destId="{A9FB4A4E-AD6F-48AA-A177-4DF74745186B}" srcOrd="3" destOrd="0" parTransId="{DD746225-E61B-4530-B91A-AD7F9776C8B4}" sibTransId="{20B2AD53-BD99-4917-98DD-FB81AD3E1E8D}"/>
    <dgm:cxn modelId="{F021856F-AF7C-410F-A7E2-502AB23E846E}" srcId="{FD6030D3-97C3-45F0-AD67-60FDF3FE6FC2}" destId="{76035391-17B7-4F36-8D53-25C9495E1CB9}" srcOrd="1" destOrd="0" parTransId="{21C756C3-88E9-4572-A599-CE7D3DB69DB1}" sibTransId="{78E1A112-DB0D-4145-92B0-DD20C61A7582}"/>
    <dgm:cxn modelId="{62C74E7A-3E48-4EE2-B140-1A95B8D9D136}" srcId="{FD6030D3-97C3-45F0-AD67-60FDF3FE6FC2}" destId="{2E8BDE4D-4CBF-4210-8475-823430D4B31C}" srcOrd="2" destOrd="0" parTransId="{8C27FD6B-F8C8-4AB5-87FD-D68D5179807D}" sibTransId="{5543A980-CC47-449B-89BD-DA428D17BBFB}"/>
    <dgm:cxn modelId="{DDB36A7C-D217-43D1-81DA-129E4A06EA2D}" srcId="{FF7695EB-370B-454F-9887-548CA072FA82}" destId="{12EFEEF0-84FB-4AB2-9C7C-119A758915F4}" srcOrd="0" destOrd="0" parTransId="{846F049A-DA89-4CA6-8D37-41408845D8AC}" sibTransId="{F5A40839-A6D5-490E-954B-37A2F6F4437D}"/>
    <dgm:cxn modelId="{1D73077D-CEEE-4F23-B994-9EB1BE356C72}" srcId="{99640B0F-AD0A-4957-BBAC-7298D5BCFE18}" destId="{B4E0F538-49B6-46B2-B7A5-F15B4B7D06A8}" srcOrd="0" destOrd="0" parTransId="{88462729-7EF7-4B25-85F5-A602F421F947}" sibTransId="{40E6815A-BD96-4E9F-86E1-F0438950644C}"/>
    <dgm:cxn modelId="{C929A17F-3CF7-42EF-B348-54118B009B87}" type="presOf" srcId="{B4E0F538-49B6-46B2-B7A5-F15B4B7D06A8}" destId="{2FA2EAEE-C8DC-489A-A6CD-E0BEA92A940D}" srcOrd="0" destOrd="0" presId="urn:microsoft.com/office/officeart/2005/8/layout/vList2"/>
    <dgm:cxn modelId="{E9AB4780-3F9C-447F-83E6-9AA2ABBA6E3B}" type="presOf" srcId="{FF7695EB-370B-454F-9887-548CA072FA82}" destId="{237AE290-8897-4710-B012-7C295237D311}" srcOrd="0" destOrd="4" presId="urn:microsoft.com/office/officeart/2005/8/layout/vList2"/>
    <dgm:cxn modelId="{37106483-714C-4FE9-B322-BD6AF68741D5}" type="presOf" srcId="{99640B0F-AD0A-4957-BBAC-7298D5BCFE18}" destId="{ABC88874-59BE-4284-B719-45E95C570DA0}" srcOrd="0" destOrd="0" presId="urn:microsoft.com/office/officeart/2005/8/layout/vList2"/>
    <dgm:cxn modelId="{13F7CB86-756D-4255-975A-E948E6045B77}" srcId="{6A8ABA22-5223-4B7F-A1FA-24F2D49631C0}" destId="{77AE1AC2-080A-41A8-BDD0-4B45CBF7CCCA}" srcOrd="1" destOrd="0" parTransId="{B0E73543-578B-4B15-B0D8-27761F7DB137}" sibTransId="{8B620739-FAD5-4CDB-A3CC-066BC2829C11}"/>
    <dgm:cxn modelId="{B617B988-4CAC-4ECE-8897-6CE71C27AA83}" type="presOf" srcId="{76035391-17B7-4F36-8D53-25C9495E1CB9}" destId="{577E6B22-1D87-4C84-9F48-B26855F6186A}" srcOrd="0" destOrd="1" presId="urn:microsoft.com/office/officeart/2005/8/layout/vList2"/>
    <dgm:cxn modelId="{BCDC2E8A-403E-447F-9924-345E01BA030E}" srcId="{FD6030D3-97C3-45F0-AD67-60FDF3FE6FC2}" destId="{DD5B6C51-17F9-422C-B4BD-1695F7FFBE30}" srcOrd="4" destOrd="0" parTransId="{CE31B283-108C-4192-8525-A326F46C5894}" sibTransId="{D74490C0-90C1-48F3-8A78-71A4A554E321}"/>
    <dgm:cxn modelId="{78D8458A-B3F2-48F2-BF61-EB3A7D53E3C3}" type="presOf" srcId="{C5E3BA29-73F1-400D-86A1-299B7AEBB2AD}" destId="{84DBE7C1-C283-4A14-94BC-4C39718E85BB}" srcOrd="0" destOrd="0" presId="urn:microsoft.com/office/officeart/2005/8/layout/vList2"/>
    <dgm:cxn modelId="{4029F699-E2A6-4FB1-89A6-126A1F8DD45B}" type="presOf" srcId="{12EFEEF0-84FB-4AB2-9C7C-119A758915F4}" destId="{237AE290-8897-4710-B012-7C295237D311}" srcOrd="0" destOrd="5" presId="urn:microsoft.com/office/officeart/2005/8/layout/vList2"/>
    <dgm:cxn modelId="{7257B09A-3FE5-4C61-9097-C88FA509E7FC}" srcId="{99640B0F-AD0A-4957-BBAC-7298D5BCFE18}" destId="{6A8ABA22-5223-4B7F-A1FA-24F2D49631C0}" srcOrd="1" destOrd="0" parTransId="{3F89F837-5EED-44F4-8259-5D0285523EC6}" sibTransId="{07DA4516-E707-47A9-A48B-7C5780C545BB}"/>
    <dgm:cxn modelId="{CB726A9B-1F6B-4611-B90D-F94D5050C48C}" type="presOf" srcId="{DD5B6C51-17F9-422C-B4BD-1695F7FFBE30}" destId="{577E6B22-1D87-4C84-9F48-B26855F6186A}" srcOrd="0" destOrd="4" presId="urn:microsoft.com/office/officeart/2005/8/layout/vList2"/>
    <dgm:cxn modelId="{CD5AA2A1-CE33-403A-9714-2344416185E2}" srcId="{6A8ABA22-5223-4B7F-A1FA-24F2D49631C0}" destId="{BBE7FD04-2B4D-446A-A7DC-5756AD16DA54}" srcOrd="2" destOrd="0" parTransId="{C64398CB-81D2-4AAA-89A0-6EE73DF0DB5F}" sibTransId="{C3E6CB10-9F45-4A25-A132-7D9705D95AF0}"/>
    <dgm:cxn modelId="{462F99AA-69E0-49C1-B5E7-B63C977DB445}" type="presOf" srcId="{69DD291E-ECFF-4E7E-8A91-64231C338AF4}" destId="{577E6B22-1D87-4C84-9F48-B26855F6186A}" srcOrd="0" destOrd="3" presId="urn:microsoft.com/office/officeart/2005/8/layout/vList2"/>
    <dgm:cxn modelId="{43B212B9-CB01-4D67-BE4C-AA7FD2D46D04}" type="presOf" srcId="{FD6030D3-97C3-45F0-AD67-60FDF3FE6FC2}" destId="{242AB3D2-86D9-4ADB-B552-2A478154B6E3}" srcOrd="0" destOrd="0" presId="urn:microsoft.com/office/officeart/2005/8/layout/vList2"/>
    <dgm:cxn modelId="{515C79BA-7633-4057-9913-E1CF62AA617D}" type="presOf" srcId="{6A8ABA22-5223-4B7F-A1FA-24F2D49631C0}" destId="{02C28F0B-097E-4E49-8EFA-3370DAB30B42}" srcOrd="0" destOrd="0" presId="urn:microsoft.com/office/officeart/2005/8/layout/vList2"/>
    <dgm:cxn modelId="{E22E31C2-CC49-40DD-B289-8C5CCCE915F4}" type="presOf" srcId="{382B82AB-AC91-4C59-B4D2-2ADD2F8B6955}" destId="{237AE290-8897-4710-B012-7C295237D311}" srcOrd="0" destOrd="0" presId="urn:microsoft.com/office/officeart/2005/8/layout/vList2"/>
    <dgm:cxn modelId="{820F2BCC-C291-4D28-AA27-BCB2A0B12CBD}" srcId="{6A8ABA22-5223-4B7F-A1FA-24F2D49631C0}" destId="{382B82AB-AC91-4C59-B4D2-2ADD2F8B6955}" srcOrd="0" destOrd="0" parTransId="{4C0BC1A1-06FC-47B8-962B-A3618F5877A3}" sibTransId="{977EF80A-2C6B-412E-8D22-2E0E48E2272C}"/>
    <dgm:cxn modelId="{153018E5-2A94-4CDA-B7C5-CC36C70E7231}" srcId="{6A8ABA22-5223-4B7F-A1FA-24F2D49631C0}" destId="{FF7695EB-370B-454F-9887-548CA072FA82}" srcOrd="4" destOrd="0" parTransId="{613425E0-216A-4C42-8E08-4C528A4C0850}" sibTransId="{C1683869-DF26-4C0B-9490-3E7DC8C2550B}"/>
    <dgm:cxn modelId="{48D52AF2-3930-432E-A4C4-D134BA51AD51}" srcId="{FD6030D3-97C3-45F0-AD67-60FDF3FE6FC2}" destId="{E6531610-1312-4C45-BF26-E28FE2BBEB7D}" srcOrd="0" destOrd="0" parTransId="{AB142D28-1533-46F1-8C4B-CE10373034BB}" sibTransId="{68837772-2FBA-49B7-A2C1-7A0D84ABD45B}"/>
    <dgm:cxn modelId="{470A37F1-FD28-42F1-A2FB-89A5FE847B6C}" type="presParOf" srcId="{ABC88874-59BE-4284-B719-45E95C570DA0}" destId="{2FA2EAEE-C8DC-489A-A6CD-E0BEA92A940D}" srcOrd="0" destOrd="0" presId="urn:microsoft.com/office/officeart/2005/8/layout/vList2"/>
    <dgm:cxn modelId="{5DEA73A6-26BB-432C-A2ED-78A9F112FDC9}" type="presParOf" srcId="{ABC88874-59BE-4284-B719-45E95C570DA0}" destId="{84DBE7C1-C283-4A14-94BC-4C39718E85BB}" srcOrd="1" destOrd="0" presId="urn:microsoft.com/office/officeart/2005/8/layout/vList2"/>
    <dgm:cxn modelId="{6BFF2F6B-172C-437E-A781-5D72F35C1FB0}" type="presParOf" srcId="{ABC88874-59BE-4284-B719-45E95C570DA0}" destId="{02C28F0B-097E-4E49-8EFA-3370DAB30B42}" srcOrd="2" destOrd="0" presId="urn:microsoft.com/office/officeart/2005/8/layout/vList2"/>
    <dgm:cxn modelId="{25573CE3-0489-4B0E-B1B8-499A6C6175A6}" type="presParOf" srcId="{ABC88874-59BE-4284-B719-45E95C570DA0}" destId="{237AE290-8897-4710-B012-7C295237D311}" srcOrd="3" destOrd="0" presId="urn:microsoft.com/office/officeart/2005/8/layout/vList2"/>
    <dgm:cxn modelId="{6C3F88A9-EB72-4BDC-9680-4D4B9DF1D62F}" type="presParOf" srcId="{ABC88874-59BE-4284-B719-45E95C570DA0}" destId="{242AB3D2-86D9-4ADB-B552-2A478154B6E3}" srcOrd="4" destOrd="0" presId="urn:microsoft.com/office/officeart/2005/8/layout/vList2"/>
    <dgm:cxn modelId="{1097B7DC-01CB-4C3B-BA1B-0BDA94AFD1C8}" type="presParOf" srcId="{ABC88874-59BE-4284-B719-45E95C570DA0}" destId="{577E6B22-1D87-4C84-9F48-B26855F6186A}"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A2EAEE-C8DC-489A-A6CD-E0BEA92A940D}">
      <dsp:nvSpPr>
        <dsp:cNvPr id="0" name=""/>
        <dsp:cNvSpPr/>
      </dsp:nvSpPr>
      <dsp:spPr>
        <a:xfrm>
          <a:off x="0" y="10842"/>
          <a:ext cx="10691265"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fr-FR" sz="2200" kern="1200"/>
            <a:t>Information sur les données :</a:t>
          </a:r>
          <a:endParaRPr lang="en-US" sz="2200" kern="1200"/>
        </a:p>
      </dsp:txBody>
      <dsp:txXfrm>
        <a:off x="25130" y="35972"/>
        <a:ext cx="10641005" cy="464540"/>
      </dsp:txXfrm>
    </dsp:sp>
    <dsp:sp modelId="{84DBE7C1-C283-4A14-94BC-4C39718E85BB}">
      <dsp:nvSpPr>
        <dsp:cNvPr id="0" name=""/>
        <dsp:cNvSpPr/>
      </dsp:nvSpPr>
      <dsp:spPr>
        <a:xfrm>
          <a:off x="0" y="525642"/>
          <a:ext cx="10691265" cy="3643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9448"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fr-FR" sz="1700" kern="1200" dirty="0"/>
            <a:t>Contexte et Présentation des manipulations sur le jeu de données</a:t>
          </a:r>
          <a:endParaRPr lang="en-US" sz="1700" kern="1200" dirty="0"/>
        </a:p>
      </dsp:txBody>
      <dsp:txXfrm>
        <a:off x="0" y="525642"/>
        <a:ext cx="10691265" cy="364320"/>
      </dsp:txXfrm>
    </dsp:sp>
    <dsp:sp modelId="{02C28F0B-097E-4E49-8EFA-3370DAB30B42}">
      <dsp:nvSpPr>
        <dsp:cNvPr id="0" name=""/>
        <dsp:cNvSpPr/>
      </dsp:nvSpPr>
      <dsp:spPr>
        <a:xfrm>
          <a:off x="0" y="889962"/>
          <a:ext cx="10691265"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fr-FR" sz="2200" kern="1200"/>
            <a:t>Indicateurs de ventes :</a:t>
          </a:r>
          <a:endParaRPr lang="en-US" sz="2200" kern="1200"/>
        </a:p>
      </dsp:txBody>
      <dsp:txXfrm>
        <a:off x="25130" y="915092"/>
        <a:ext cx="10641005" cy="464540"/>
      </dsp:txXfrm>
    </dsp:sp>
    <dsp:sp modelId="{237AE290-8897-4710-B012-7C295237D311}">
      <dsp:nvSpPr>
        <dsp:cNvPr id="0" name=""/>
        <dsp:cNvSpPr/>
      </dsp:nvSpPr>
      <dsp:spPr>
        <a:xfrm>
          <a:off x="0" y="1404763"/>
          <a:ext cx="10691265" cy="16849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9448"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fr-FR" sz="1700" kern="1200" dirty="0"/>
            <a:t>Chiffre d’affaires avec la moyenne mobile</a:t>
          </a:r>
          <a:endParaRPr lang="en-US" sz="1700" kern="1200" dirty="0"/>
        </a:p>
        <a:p>
          <a:pPr marL="171450" lvl="1" indent="-171450" algn="l" defTabSz="755650">
            <a:lnSpc>
              <a:spcPct val="90000"/>
            </a:lnSpc>
            <a:spcBef>
              <a:spcPct val="0"/>
            </a:spcBef>
            <a:spcAft>
              <a:spcPct val="20000"/>
            </a:spcAft>
            <a:buChar char="•"/>
          </a:pPr>
          <a:r>
            <a:rPr lang="fr-FR" sz="1700" kern="1200"/>
            <a:t>Chiffre d’affaires par catégorie, </a:t>
          </a:r>
          <a:endParaRPr lang="en-US" sz="1700" kern="1200"/>
        </a:p>
        <a:p>
          <a:pPr marL="171450" lvl="1" indent="-171450" algn="l" defTabSz="755650">
            <a:lnSpc>
              <a:spcPct val="90000"/>
            </a:lnSpc>
            <a:spcBef>
              <a:spcPct val="0"/>
            </a:spcBef>
            <a:spcAft>
              <a:spcPct val="20000"/>
            </a:spcAft>
            <a:buChar char="•"/>
          </a:pPr>
          <a:r>
            <a:rPr lang="fr-FR" sz="1700" kern="1200"/>
            <a:t>Nombre de clients par mois, </a:t>
          </a:r>
          <a:endParaRPr lang="en-US" sz="1700" kern="1200"/>
        </a:p>
        <a:p>
          <a:pPr marL="171450" lvl="1" indent="-171450" algn="l" defTabSz="755650">
            <a:lnSpc>
              <a:spcPct val="90000"/>
            </a:lnSpc>
            <a:spcBef>
              <a:spcPct val="0"/>
            </a:spcBef>
            <a:spcAft>
              <a:spcPct val="20000"/>
            </a:spcAft>
            <a:buChar char="•"/>
          </a:pPr>
          <a:r>
            <a:rPr lang="fr-FR" sz="1700" kern="1200"/>
            <a:t>Nombre de transactions, </a:t>
          </a:r>
          <a:endParaRPr lang="en-US" sz="1700" kern="1200"/>
        </a:p>
        <a:p>
          <a:pPr marL="171450" lvl="1" indent="-171450" algn="l" defTabSz="755650">
            <a:lnSpc>
              <a:spcPct val="90000"/>
            </a:lnSpc>
            <a:spcBef>
              <a:spcPct val="0"/>
            </a:spcBef>
            <a:spcAft>
              <a:spcPct val="20000"/>
            </a:spcAft>
            <a:buChar char="•"/>
          </a:pPr>
          <a:r>
            <a:rPr lang="fr-FR" sz="1700" kern="1200"/>
            <a:t>Nombre de produits vendus</a:t>
          </a:r>
          <a:endParaRPr lang="en-US" sz="1700" kern="1200"/>
        </a:p>
        <a:p>
          <a:pPr marL="342900" lvl="2" indent="-171450" algn="l" defTabSz="755650">
            <a:lnSpc>
              <a:spcPct val="90000"/>
            </a:lnSpc>
            <a:spcBef>
              <a:spcPct val="0"/>
            </a:spcBef>
            <a:spcAft>
              <a:spcPct val="20000"/>
            </a:spcAft>
            <a:buChar char="•"/>
          </a:pPr>
          <a:r>
            <a:rPr lang="fr-FR" sz="1700" kern="1200"/>
            <a:t>Top, Flop, Répartition par catégorie</a:t>
          </a:r>
          <a:endParaRPr lang="en-US" sz="1700" kern="1200"/>
        </a:p>
      </dsp:txBody>
      <dsp:txXfrm>
        <a:off x="0" y="1404763"/>
        <a:ext cx="10691265" cy="1684980"/>
      </dsp:txXfrm>
    </dsp:sp>
    <dsp:sp modelId="{242AB3D2-86D9-4ADB-B552-2A478154B6E3}">
      <dsp:nvSpPr>
        <dsp:cNvPr id="0" name=""/>
        <dsp:cNvSpPr/>
      </dsp:nvSpPr>
      <dsp:spPr>
        <a:xfrm>
          <a:off x="0" y="3089743"/>
          <a:ext cx="10691265" cy="51480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fr-FR" sz="2200" kern="1200" dirty="0"/>
            <a:t>Analyses Statistique des comportements clientèle en ligne</a:t>
          </a:r>
          <a:endParaRPr lang="en-US" sz="2200" kern="1200" dirty="0"/>
        </a:p>
      </dsp:txBody>
      <dsp:txXfrm>
        <a:off x="25130" y="3114873"/>
        <a:ext cx="10641005" cy="464540"/>
      </dsp:txXfrm>
    </dsp:sp>
    <dsp:sp modelId="{577E6B22-1D87-4C84-9F48-B26855F6186A}">
      <dsp:nvSpPr>
        <dsp:cNvPr id="0" name=""/>
        <dsp:cNvSpPr/>
      </dsp:nvSpPr>
      <dsp:spPr>
        <a:xfrm>
          <a:off x="0" y="3604543"/>
          <a:ext cx="10691265" cy="13889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9448" tIns="27940" rIns="156464" bIns="27940" numCol="1" spcCol="1270" anchor="t" anchorCtr="0">
          <a:noAutofit/>
        </a:bodyPr>
        <a:lstStyle/>
        <a:p>
          <a:pPr marL="171450" lvl="1" indent="-171450" algn="l" defTabSz="755650">
            <a:lnSpc>
              <a:spcPct val="90000"/>
            </a:lnSpc>
            <a:spcBef>
              <a:spcPct val="0"/>
            </a:spcBef>
            <a:spcAft>
              <a:spcPct val="20000"/>
            </a:spcAft>
            <a:buChar char="•"/>
          </a:pPr>
          <a:r>
            <a:rPr lang="fr-FR" sz="1700" kern="1200"/>
            <a:t>Lien entre genre d'un client et les catégories des livres achetés</a:t>
          </a:r>
          <a:endParaRPr lang="en-US" sz="1700" kern="1200"/>
        </a:p>
        <a:p>
          <a:pPr marL="171450" lvl="1" indent="-171450" algn="l" defTabSz="755650">
            <a:lnSpc>
              <a:spcPct val="90000"/>
            </a:lnSpc>
            <a:spcBef>
              <a:spcPct val="0"/>
            </a:spcBef>
            <a:spcAft>
              <a:spcPct val="20000"/>
            </a:spcAft>
            <a:buChar char="•"/>
          </a:pPr>
          <a:r>
            <a:rPr lang="fr-FR" sz="1700" kern="1200"/>
            <a:t>Lien entre âge du client et le montant de ses achats</a:t>
          </a:r>
          <a:endParaRPr lang="en-US" sz="1700" kern="1200"/>
        </a:p>
        <a:p>
          <a:pPr marL="171450" lvl="1" indent="-171450" algn="l" defTabSz="755650">
            <a:lnSpc>
              <a:spcPct val="90000"/>
            </a:lnSpc>
            <a:spcBef>
              <a:spcPct val="0"/>
            </a:spcBef>
            <a:spcAft>
              <a:spcPct val="20000"/>
            </a:spcAft>
            <a:buChar char="•"/>
          </a:pPr>
          <a:r>
            <a:rPr lang="fr-FR" sz="1700" kern="1200"/>
            <a:t>Lien entre âge du client et ses fréquences d'achats</a:t>
          </a:r>
          <a:endParaRPr lang="en-US" sz="1700" kern="1200"/>
        </a:p>
        <a:p>
          <a:pPr marL="171450" lvl="1" indent="-171450" algn="l" defTabSz="755650">
            <a:lnSpc>
              <a:spcPct val="90000"/>
            </a:lnSpc>
            <a:spcBef>
              <a:spcPct val="0"/>
            </a:spcBef>
            <a:spcAft>
              <a:spcPct val="20000"/>
            </a:spcAft>
            <a:buChar char="•"/>
          </a:pPr>
          <a:r>
            <a:rPr lang="fr-FR" sz="1700" kern="1200"/>
            <a:t>Lien entre âge du client et la taille du panier moyen</a:t>
          </a:r>
          <a:endParaRPr lang="en-US" sz="1700" kern="1200"/>
        </a:p>
        <a:p>
          <a:pPr marL="171450" lvl="1" indent="-171450" algn="l" defTabSz="755650">
            <a:lnSpc>
              <a:spcPct val="90000"/>
            </a:lnSpc>
            <a:spcBef>
              <a:spcPct val="0"/>
            </a:spcBef>
            <a:spcAft>
              <a:spcPct val="20000"/>
            </a:spcAft>
            <a:buChar char="•"/>
          </a:pPr>
          <a:r>
            <a:rPr lang="fr-FR" sz="1700" kern="1200"/>
            <a:t>Lien entre âge du client et les catégories des livres achetés</a:t>
          </a:r>
          <a:endParaRPr lang="en-US" sz="1700" kern="1200"/>
        </a:p>
      </dsp:txBody>
      <dsp:txXfrm>
        <a:off x="0" y="3604543"/>
        <a:ext cx="10691265" cy="138897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0A34D2-2A1D-494A-BCDF-8DCDEE53A946}" type="datetimeFigureOut">
              <a:rPr lang="fr-FR" smtClean="0"/>
              <a:t>10/11/2025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DE6878-DBD5-4A8F-AA79-1E301AFE1198}" type="slidenum">
              <a:rPr lang="fr-FR" smtClean="0"/>
              <a:t>‹N°›</a:t>
            </a:fld>
            <a:endParaRPr lang="fr-FR"/>
          </a:p>
        </p:txBody>
      </p:sp>
    </p:spTree>
    <p:extLst>
      <p:ext uri="{BB962C8B-B14F-4D97-AF65-F5344CB8AC3E}">
        <p14:creationId xmlns:p14="http://schemas.microsoft.com/office/powerpoint/2010/main" val="1290637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CBDE6878-DBD5-4A8F-AA79-1E301AFE1198}" type="slidenum">
              <a:rPr lang="fr-FR" smtClean="0"/>
              <a:t>15</a:t>
            </a:fld>
            <a:endParaRPr lang="fr-FR"/>
          </a:p>
        </p:txBody>
      </p:sp>
    </p:spTree>
    <p:extLst>
      <p:ext uri="{BB962C8B-B14F-4D97-AF65-F5344CB8AC3E}">
        <p14:creationId xmlns:p14="http://schemas.microsoft.com/office/powerpoint/2010/main" val="2585487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11/10/2025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530002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a:xfrm>
            <a:off x="381458" y="124275"/>
            <a:ext cx="10691265" cy="660729"/>
          </a:xfrm>
        </p:spPr>
        <p:txBody>
          <a:bodyPr>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a:xfrm>
            <a:off x="700635" y="957532"/>
            <a:ext cx="10691265" cy="500435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11/10/2025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1782828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11/10/2025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
        <p:nvSpPr>
          <p:cNvPr id="7" name="Title 1">
            <a:extLst>
              <a:ext uri="{FF2B5EF4-FFF2-40B4-BE49-F238E27FC236}">
                <a16:creationId xmlns:a16="http://schemas.microsoft.com/office/drawing/2014/main" id="{DC5FFC7F-2326-350D-2D5F-75A2565FDD44}"/>
              </a:ext>
            </a:extLst>
          </p:cNvPr>
          <p:cNvSpPr txBox="1">
            <a:spLocks/>
          </p:cNvSpPr>
          <p:nvPr userDrawn="1"/>
        </p:nvSpPr>
        <p:spPr>
          <a:xfrm>
            <a:off x="381458" y="124275"/>
            <a:ext cx="10691265" cy="66072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3600" kern="1200" cap="all" spc="30" baseline="0">
                <a:solidFill>
                  <a:schemeClr val="tx1"/>
                </a:solidFill>
                <a:latin typeface="+mj-lt"/>
                <a:ea typeface="+mj-ea"/>
                <a:cs typeface="+mj-cs"/>
              </a:defRPr>
            </a:lvl1pPr>
          </a:lstStyle>
          <a:p>
            <a:r>
              <a:rPr lang="en-US"/>
              <a:t>Click to edit Master title style</a:t>
            </a:r>
            <a:endParaRPr lang="en-US" dirty="0"/>
          </a:p>
        </p:txBody>
      </p:sp>
    </p:spTree>
    <p:extLst>
      <p:ext uri="{BB962C8B-B14F-4D97-AF65-F5344CB8AC3E}">
        <p14:creationId xmlns:p14="http://schemas.microsoft.com/office/powerpoint/2010/main" val="30244541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11/10/2025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
        <p:nvSpPr>
          <p:cNvPr id="8" name="Title 1">
            <a:extLst>
              <a:ext uri="{FF2B5EF4-FFF2-40B4-BE49-F238E27FC236}">
                <a16:creationId xmlns:a16="http://schemas.microsoft.com/office/drawing/2014/main" id="{31FCE38D-C966-5BD9-BB1F-AB4371780D97}"/>
              </a:ext>
            </a:extLst>
          </p:cNvPr>
          <p:cNvSpPr txBox="1">
            <a:spLocks/>
          </p:cNvSpPr>
          <p:nvPr userDrawn="1"/>
        </p:nvSpPr>
        <p:spPr>
          <a:xfrm>
            <a:off x="381458" y="124275"/>
            <a:ext cx="10691265" cy="66072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3600" kern="1200" cap="all" spc="30" baseline="0">
                <a:solidFill>
                  <a:schemeClr val="tx1"/>
                </a:solidFill>
                <a:latin typeface="+mj-lt"/>
                <a:ea typeface="+mj-ea"/>
                <a:cs typeface="+mj-cs"/>
              </a:defRPr>
            </a:lvl1pPr>
          </a:lstStyle>
          <a:p>
            <a:r>
              <a:rPr lang="en-US"/>
              <a:t>Click to edit Master title style</a:t>
            </a:r>
            <a:endParaRPr lang="en-US" dirty="0"/>
          </a:p>
        </p:txBody>
      </p:sp>
    </p:spTree>
    <p:extLst>
      <p:ext uri="{BB962C8B-B14F-4D97-AF65-F5344CB8AC3E}">
        <p14:creationId xmlns:p14="http://schemas.microsoft.com/office/powerpoint/2010/main" val="6424814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928403"/>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1614567"/>
            <a:ext cx="5212080" cy="431503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096000" y="928403"/>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096000" y="1614567"/>
            <a:ext cx="5212080" cy="431503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11/10/2025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
        <p:nvSpPr>
          <p:cNvPr id="10" name="Title 1">
            <a:extLst>
              <a:ext uri="{FF2B5EF4-FFF2-40B4-BE49-F238E27FC236}">
                <a16:creationId xmlns:a16="http://schemas.microsoft.com/office/drawing/2014/main" id="{70A09999-6048-32AF-0D10-209BBFA44CFD}"/>
              </a:ext>
            </a:extLst>
          </p:cNvPr>
          <p:cNvSpPr txBox="1">
            <a:spLocks/>
          </p:cNvSpPr>
          <p:nvPr userDrawn="1"/>
        </p:nvSpPr>
        <p:spPr>
          <a:xfrm>
            <a:off x="381458" y="124275"/>
            <a:ext cx="10691265" cy="66072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3600" kern="1200" cap="all" spc="30" baseline="0">
                <a:solidFill>
                  <a:schemeClr val="tx1"/>
                </a:solidFill>
                <a:latin typeface="+mj-lt"/>
                <a:ea typeface="+mj-ea"/>
                <a:cs typeface="+mj-cs"/>
              </a:defRPr>
            </a:lvl1pPr>
          </a:lstStyle>
          <a:p>
            <a:r>
              <a:rPr lang="en-US"/>
              <a:t>Click to edit Master title style</a:t>
            </a:r>
            <a:endParaRPr lang="en-US" dirty="0"/>
          </a:p>
        </p:txBody>
      </p:sp>
    </p:spTree>
    <p:extLst>
      <p:ext uri="{BB962C8B-B14F-4D97-AF65-F5344CB8AC3E}">
        <p14:creationId xmlns:p14="http://schemas.microsoft.com/office/powerpoint/2010/main" val="1509726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11/10/2025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
        <p:nvSpPr>
          <p:cNvPr id="6" name="Title 1">
            <a:extLst>
              <a:ext uri="{FF2B5EF4-FFF2-40B4-BE49-F238E27FC236}">
                <a16:creationId xmlns:a16="http://schemas.microsoft.com/office/drawing/2014/main" id="{88C907F2-2AB8-D581-0045-6D125C24858D}"/>
              </a:ext>
            </a:extLst>
          </p:cNvPr>
          <p:cNvSpPr txBox="1">
            <a:spLocks/>
          </p:cNvSpPr>
          <p:nvPr userDrawn="1"/>
        </p:nvSpPr>
        <p:spPr>
          <a:xfrm>
            <a:off x="381458" y="124275"/>
            <a:ext cx="10691265" cy="660729"/>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3600" kern="1200" cap="all" spc="30" baseline="0">
                <a:solidFill>
                  <a:schemeClr val="tx1"/>
                </a:solidFill>
                <a:latin typeface="+mj-lt"/>
                <a:ea typeface="+mj-ea"/>
                <a:cs typeface="+mj-cs"/>
              </a:defRPr>
            </a:lvl1pPr>
          </a:lstStyle>
          <a:p>
            <a:r>
              <a:rPr lang="en-US"/>
              <a:t>Click to edit Master title style</a:t>
            </a:r>
            <a:endParaRPr lang="en-US" dirty="0"/>
          </a:p>
        </p:txBody>
      </p:sp>
    </p:spTree>
    <p:extLst>
      <p:ext uri="{BB962C8B-B14F-4D97-AF65-F5344CB8AC3E}">
        <p14:creationId xmlns:p14="http://schemas.microsoft.com/office/powerpoint/2010/main" val="2778874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11/10/2025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69107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11/10/2025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96674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11/10/2025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37526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11/10/2025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5397979"/>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66" r:id="rId6"/>
    <p:sldLayoutId id="2147483662" r:id="rId7"/>
    <p:sldLayoutId id="2147483663" r:id="rId8"/>
    <p:sldLayoutId id="2147483664" r:id="rId9"/>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s://www.bing.com/ck/a?!&amp;&amp;p=1d17285e54a446449d3b8500c915d055fc5396975bf541ad33e1565db780972bJmltdHM9MTc0NjgzNTIwMA&amp;ptn=3&amp;ver=2&amp;hsh=4&amp;fclid=33d41a8b-f8db-6839-229d-0f28f96269d4&amp;u=a1L2ltYWdlcy9zZWFyY2g_cT1saXZyZSUyMGljb25lJkZPUk09SVFGUkJBJmlkPTI5NjdBNThFNEE2RTJGREIwOTAxNUNGRThCMjE3M0RBQjlENjFCNzk&amp;ntb=1"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9A6C826-302C-D8A6-72A1-062C0B0BE7E4}"/>
              </a:ext>
            </a:extLst>
          </p:cNvPr>
          <p:cNvSpPr>
            <a:spLocks noGrp="1"/>
          </p:cNvSpPr>
          <p:nvPr>
            <p:ph type="ctrTitle"/>
          </p:nvPr>
        </p:nvSpPr>
        <p:spPr>
          <a:xfrm>
            <a:off x="703400" y="908651"/>
            <a:ext cx="4937004" cy="4058682"/>
          </a:xfrm>
        </p:spPr>
        <p:txBody>
          <a:bodyPr anchor="t">
            <a:normAutofit/>
          </a:bodyPr>
          <a:lstStyle/>
          <a:p>
            <a:r>
              <a:rPr lang="fr-FR" sz="6500" dirty="0"/>
              <a:t>Librairie </a:t>
            </a:r>
            <a:br>
              <a:rPr lang="fr-FR" sz="6500" dirty="0"/>
            </a:br>
            <a:r>
              <a:rPr lang="fr-FR" sz="6500" dirty="0"/>
              <a:t>LAPAGE</a:t>
            </a:r>
          </a:p>
        </p:txBody>
      </p:sp>
      <p:sp>
        <p:nvSpPr>
          <p:cNvPr id="3" name="Sous-titre 2">
            <a:extLst>
              <a:ext uri="{FF2B5EF4-FFF2-40B4-BE49-F238E27FC236}">
                <a16:creationId xmlns:a16="http://schemas.microsoft.com/office/drawing/2014/main" id="{A0E480AD-C941-39F1-4588-19C6F55A7C5E}"/>
              </a:ext>
            </a:extLst>
          </p:cNvPr>
          <p:cNvSpPr>
            <a:spLocks noGrp="1"/>
          </p:cNvSpPr>
          <p:nvPr>
            <p:ph type="subTitle" idx="1"/>
          </p:nvPr>
        </p:nvSpPr>
        <p:spPr>
          <a:xfrm>
            <a:off x="703400" y="5103862"/>
            <a:ext cx="4172757" cy="845487"/>
          </a:xfrm>
        </p:spPr>
        <p:txBody>
          <a:bodyPr anchor="b">
            <a:normAutofit/>
          </a:bodyPr>
          <a:lstStyle/>
          <a:p>
            <a:r>
              <a:rPr lang="fr-FR" dirty="0"/>
              <a:t>Romain RAMAT 24/05/2025</a:t>
            </a:r>
          </a:p>
          <a:p>
            <a:endParaRPr lang="fr-FR" dirty="0"/>
          </a:p>
        </p:txBody>
      </p:sp>
      <p:cxnSp>
        <p:nvCxnSpPr>
          <p:cNvPr id="11" name="Straight Connector 10">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descr="Gros plan de pages de livre">
            <a:extLst>
              <a:ext uri="{FF2B5EF4-FFF2-40B4-BE49-F238E27FC236}">
                <a16:creationId xmlns:a16="http://schemas.microsoft.com/office/drawing/2014/main" id="{3C3762AC-705B-2210-8233-6D3E97D4A88A}"/>
              </a:ext>
            </a:extLst>
          </p:cNvPr>
          <p:cNvPicPr>
            <a:picLocks noChangeAspect="1"/>
          </p:cNvPicPr>
          <p:nvPr/>
        </p:nvPicPr>
        <p:blipFill>
          <a:blip r:embed="rId2"/>
          <a:srcRect l="28216" r="7635"/>
          <a:stretch/>
        </p:blipFill>
        <p:spPr>
          <a:xfrm>
            <a:off x="6326272" y="10"/>
            <a:ext cx="5865727" cy="6857990"/>
          </a:xfrm>
          <a:prstGeom prst="rect">
            <a:avLst/>
          </a:prstGeom>
        </p:spPr>
      </p:pic>
    </p:spTree>
    <p:extLst>
      <p:ext uri="{BB962C8B-B14F-4D97-AF65-F5344CB8AC3E}">
        <p14:creationId xmlns:p14="http://schemas.microsoft.com/office/powerpoint/2010/main" val="1276609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68C28C-E629-1370-5F43-D216189AFC0A}"/>
              </a:ext>
            </a:extLst>
          </p:cNvPr>
          <p:cNvSpPr>
            <a:spLocks noGrp="1"/>
          </p:cNvSpPr>
          <p:nvPr>
            <p:ph type="title"/>
          </p:nvPr>
        </p:nvSpPr>
        <p:spPr/>
        <p:txBody>
          <a:bodyPr>
            <a:normAutofit/>
          </a:bodyPr>
          <a:lstStyle/>
          <a:p>
            <a:r>
              <a:rPr lang="fr-FR" dirty="0"/>
              <a:t>Sommaire</a:t>
            </a:r>
          </a:p>
        </p:txBody>
      </p:sp>
      <p:graphicFrame>
        <p:nvGraphicFramePr>
          <p:cNvPr id="5" name="Espace réservé du contenu 2">
            <a:extLst>
              <a:ext uri="{FF2B5EF4-FFF2-40B4-BE49-F238E27FC236}">
                <a16:creationId xmlns:a16="http://schemas.microsoft.com/office/drawing/2014/main" id="{6BB97350-D2D6-26FB-27AB-C045485D0190}"/>
              </a:ext>
            </a:extLst>
          </p:cNvPr>
          <p:cNvGraphicFramePr>
            <a:graphicFrameLocks noGrp="1"/>
          </p:cNvGraphicFramePr>
          <p:nvPr>
            <p:ph idx="1"/>
            <p:extLst>
              <p:ext uri="{D42A27DB-BD31-4B8C-83A1-F6EECF244321}">
                <p14:modId xmlns:p14="http://schemas.microsoft.com/office/powerpoint/2010/main" val="1227661264"/>
              </p:ext>
            </p:extLst>
          </p:nvPr>
        </p:nvGraphicFramePr>
        <p:xfrm>
          <a:off x="700635" y="957532"/>
          <a:ext cx="10691265" cy="50043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52708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49332-ABE0-2233-4AE4-A2BB74F64AD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E139F0C-1F6A-A357-4D01-2BD9255DEF67}"/>
              </a:ext>
            </a:extLst>
          </p:cNvPr>
          <p:cNvSpPr>
            <a:spLocks noGrp="1"/>
          </p:cNvSpPr>
          <p:nvPr>
            <p:ph type="title"/>
          </p:nvPr>
        </p:nvSpPr>
        <p:spPr/>
        <p:txBody>
          <a:bodyPr/>
          <a:lstStyle/>
          <a:p>
            <a:r>
              <a:rPr lang="fr-FR" dirty="0"/>
              <a:t>Contexte</a:t>
            </a:r>
          </a:p>
        </p:txBody>
      </p:sp>
      <p:sp>
        <p:nvSpPr>
          <p:cNvPr id="3" name="Espace réservé du contenu 2">
            <a:extLst>
              <a:ext uri="{FF2B5EF4-FFF2-40B4-BE49-F238E27FC236}">
                <a16:creationId xmlns:a16="http://schemas.microsoft.com/office/drawing/2014/main" id="{004A0A42-3E27-1307-C60C-25B4861E0BCF}"/>
              </a:ext>
            </a:extLst>
          </p:cNvPr>
          <p:cNvSpPr>
            <a:spLocks noGrp="1"/>
          </p:cNvSpPr>
          <p:nvPr>
            <p:ph idx="1"/>
          </p:nvPr>
        </p:nvSpPr>
        <p:spPr/>
        <p:txBody>
          <a:bodyPr/>
          <a:lstStyle/>
          <a:p>
            <a:r>
              <a:rPr lang="fr-FR" dirty="0"/>
              <a:t>A l’origine l’entreprise </a:t>
            </a:r>
            <a:r>
              <a:rPr lang="fr-FR" dirty="0" err="1"/>
              <a:t>Lapage</a:t>
            </a:r>
            <a:r>
              <a:rPr lang="fr-FR" dirty="0"/>
              <a:t>, était une librairie physique avec des points de vente, elle a eu l’opportunité d’ouvrir un site en ligne il y a deux ans (Mars 2021), et souhaite un bilan de cette activité.</a:t>
            </a:r>
          </a:p>
          <a:p>
            <a:r>
              <a:rPr lang="fr-FR" dirty="0"/>
              <a:t>Ce rapport a pour objectif de présenter les chiffres clés et ainsi déterminer la stratégie à venir.</a:t>
            </a:r>
          </a:p>
          <a:p>
            <a:pPr marL="0" indent="0">
              <a:buNone/>
            </a:pPr>
            <a:r>
              <a:rPr lang="fr-FR" dirty="0"/>
              <a:t>Celui-ci a été construit sur base des 3 tables « </a:t>
            </a:r>
            <a:r>
              <a:rPr lang="fr-FR" dirty="0" err="1"/>
              <a:t>Customers</a:t>
            </a:r>
            <a:r>
              <a:rPr lang="fr-FR" dirty="0"/>
              <a:t>, Transactions et </a:t>
            </a:r>
            <a:r>
              <a:rPr lang="fr-FR" dirty="0" err="1"/>
              <a:t>Products</a:t>
            </a:r>
            <a:r>
              <a:rPr lang="fr-FR" dirty="0"/>
              <a:t> » qui reprennent les données brutes (non-nettoyés) des deux dernières années (03/2021 – 02/2023).</a:t>
            </a:r>
          </a:p>
          <a:p>
            <a:endParaRPr lang="fr-FR" dirty="0"/>
          </a:p>
          <a:p>
            <a:pPr marL="457200" lvl="1" indent="0" algn="r">
              <a:buNone/>
            </a:pPr>
            <a:endParaRPr lang="fr-FR" dirty="0"/>
          </a:p>
          <a:p>
            <a:pPr marL="457200" lvl="1" indent="0">
              <a:buNone/>
            </a:pPr>
            <a:endParaRPr lang="fr-FR" dirty="0"/>
          </a:p>
          <a:p>
            <a:pPr lvl="1"/>
            <a:endParaRPr lang="fr-FR" dirty="0"/>
          </a:p>
          <a:p>
            <a:pPr lvl="1"/>
            <a:endParaRPr lang="fr-FR" dirty="0">
              <a:hlinkClick r:id="rId2"/>
            </a:endParaRPr>
          </a:p>
          <a:p>
            <a:pPr lvl="1"/>
            <a:endParaRPr lang="fr-FR" dirty="0"/>
          </a:p>
          <a:p>
            <a:pPr lvl="1"/>
            <a:endParaRPr lang="fr-FR" dirty="0"/>
          </a:p>
          <a:p>
            <a:pPr lvl="1"/>
            <a:endParaRPr lang="fr-FR" dirty="0"/>
          </a:p>
          <a:p>
            <a:pPr lvl="1"/>
            <a:endParaRPr lang="fr-FR" dirty="0"/>
          </a:p>
        </p:txBody>
      </p:sp>
      <p:sp>
        <p:nvSpPr>
          <p:cNvPr id="4" name="Rectangle 3">
            <a:extLst>
              <a:ext uri="{FF2B5EF4-FFF2-40B4-BE49-F238E27FC236}">
                <a16:creationId xmlns:a16="http://schemas.microsoft.com/office/drawing/2014/main" id="{20A89B13-145B-0220-85C2-D94E3D9298B4}"/>
              </a:ext>
            </a:extLst>
          </p:cNvPr>
          <p:cNvSpPr/>
          <p:nvPr/>
        </p:nvSpPr>
        <p:spPr>
          <a:xfrm>
            <a:off x="2741971" y="4558481"/>
            <a:ext cx="1347019" cy="1091380"/>
          </a:xfrm>
          <a:prstGeom prst="rect">
            <a:avLst/>
          </a:prstGeom>
          <a:solidFill>
            <a:schemeClr val="accent1">
              <a:lumMod val="60000"/>
              <a:lumOff val="4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dirty="0" err="1"/>
              <a:t>sex</a:t>
            </a:r>
            <a:r>
              <a:rPr lang="fr-FR" sz="1400" dirty="0"/>
              <a:t> :varchar(1)</a:t>
            </a:r>
          </a:p>
          <a:p>
            <a:r>
              <a:rPr lang="fr-FR" sz="1400" dirty="0" err="1"/>
              <a:t>birth:Integer</a:t>
            </a:r>
            <a:endParaRPr lang="fr-FR" sz="1400" dirty="0"/>
          </a:p>
        </p:txBody>
      </p:sp>
      <p:sp>
        <p:nvSpPr>
          <p:cNvPr id="5" name="Rectangle 4">
            <a:extLst>
              <a:ext uri="{FF2B5EF4-FFF2-40B4-BE49-F238E27FC236}">
                <a16:creationId xmlns:a16="http://schemas.microsoft.com/office/drawing/2014/main" id="{2442C91A-D805-D786-2442-9E3028C38F50}"/>
              </a:ext>
            </a:extLst>
          </p:cNvPr>
          <p:cNvSpPr/>
          <p:nvPr/>
        </p:nvSpPr>
        <p:spPr>
          <a:xfrm>
            <a:off x="5101713" y="4558481"/>
            <a:ext cx="1347019" cy="1091380"/>
          </a:xfrm>
          <a:prstGeom prst="rect">
            <a:avLst/>
          </a:prstGeom>
          <a:solidFill>
            <a:schemeClr val="accent1">
              <a:lumMod val="60000"/>
              <a:lumOff val="4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fr-FR" sz="1400" dirty="0"/>
          </a:p>
          <a:p>
            <a:endParaRPr lang="fr-FR" sz="1400" dirty="0"/>
          </a:p>
          <a:p>
            <a:endParaRPr lang="fr-FR" sz="1400" dirty="0"/>
          </a:p>
          <a:p>
            <a:pPr algn="ctr"/>
            <a:r>
              <a:rPr lang="fr-FR" sz="1400" dirty="0"/>
              <a:t>date : date</a:t>
            </a:r>
          </a:p>
        </p:txBody>
      </p:sp>
      <p:sp>
        <p:nvSpPr>
          <p:cNvPr id="6" name="Rectangle 5">
            <a:extLst>
              <a:ext uri="{FF2B5EF4-FFF2-40B4-BE49-F238E27FC236}">
                <a16:creationId xmlns:a16="http://schemas.microsoft.com/office/drawing/2014/main" id="{977A28CB-0C1B-8C66-9181-079F00453329}"/>
              </a:ext>
            </a:extLst>
          </p:cNvPr>
          <p:cNvSpPr/>
          <p:nvPr/>
        </p:nvSpPr>
        <p:spPr>
          <a:xfrm>
            <a:off x="7766255" y="4558481"/>
            <a:ext cx="1347019" cy="1091380"/>
          </a:xfrm>
          <a:prstGeom prst="rect">
            <a:avLst/>
          </a:prstGeom>
          <a:solidFill>
            <a:schemeClr val="accent1">
              <a:lumMod val="60000"/>
              <a:lumOff val="4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sz="1400" dirty="0" err="1"/>
              <a:t>categ</a:t>
            </a:r>
            <a:r>
              <a:rPr lang="fr-FR" sz="1400" dirty="0"/>
              <a:t> : Integer</a:t>
            </a:r>
          </a:p>
          <a:p>
            <a:r>
              <a:rPr lang="fr-FR" sz="1400" dirty="0" err="1"/>
              <a:t>price</a:t>
            </a:r>
            <a:r>
              <a:rPr lang="fr-FR" sz="1400" dirty="0"/>
              <a:t> : </a:t>
            </a:r>
            <a:r>
              <a:rPr lang="fr-FR" sz="1400" dirty="0" err="1"/>
              <a:t>float</a:t>
            </a:r>
            <a:endParaRPr lang="fr-FR" sz="1400" dirty="0"/>
          </a:p>
        </p:txBody>
      </p:sp>
      <p:sp>
        <p:nvSpPr>
          <p:cNvPr id="7" name="ZoneTexte 6">
            <a:extLst>
              <a:ext uri="{FF2B5EF4-FFF2-40B4-BE49-F238E27FC236}">
                <a16:creationId xmlns:a16="http://schemas.microsoft.com/office/drawing/2014/main" id="{E1393F20-4B8E-EC2C-6263-5FEF34822BF8}"/>
              </a:ext>
            </a:extLst>
          </p:cNvPr>
          <p:cNvSpPr txBox="1"/>
          <p:nvPr/>
        </p:nvSpPr>
        <p:spPr>
          <a:xfrm>
            <a:off x="2741971" y="4558481"/>
            <a:ext cx="1347019" cy="307777"/>
          </a:xfrm>
          <a:prstGeom prst="rect">
            <a:avLst/>
          </a:prstGeom>
          <a:noFill/>
          <a:ln>
            <a:solidFill>
              <a:schemeClr val="bg1">
                <a:lumMod val="95000"/>
              </a:schemeClr>
            </a:solidFill>
          </a:ln>
        </p:spPr>
        <p:txBody>
          <a:bodyPr wrap="square" rtlCol="0">
            <a:spAutoFit/>
          </a:bodyPr>
          <a:lstStyle/>
          <a:p>
            <a:pPr algn="ctr"/>
            <a:r>
              <a:rPr lang="fr-FR" sz="1400" dirty="0" err="1">
                <a:solidFill>
                  <a:schemeClr val="bg1"/>
                </a:solidFill>
              </a:rPr>
              <a:t>client_id</a:t>
            </a:r>
            <a:r>
              <a:rPr lang="fr-FR" sz="1400" dirty="0">
                <a:solidFill>
                  <a:schemeClr val="bg1"/>
                </a:solidFill>
              </a:rPr>
              <a:t> (pk)</a:t>
            </a:r>
          </a:p>
        </p:txBody>
      </p:sp>
      <p:sp>
        <p:nvSpPr>
          <p:cNvPr id="8" name="ZoneTexte 7">
            <a:extLst>
              <a:ext uri="{FF2B5EF4-FFF2-40B4-BE49-F238E27FC236}">
                <a16:creationId xmlns:a16="http://schemas.microsoft.com/office/drawing/2014/main" id="{277FF0F2-20D9-8FF5-6F2D-A3B95F9B91BF}"/>
              </a:ext>
            </a:extLst>
          </p:cNvPr>
          <p:cNvSpPr txBox="1"/>
          <p:nvPr/>
        </p:nvSpPr>
        <p:spPr>
          <a:xfrm>
            <a:off x="5101713" y="4558481"/>
            <a:ext cx="1347019" cy="738664"/>
          </a:xfrm>
          <a:prstGeom prst="rect">
            <a:avLst/>
          </a:prstGeom>
          <a:noFill/>
          <a:ln>
            <a:solidFill>
              <a:schemeClr val="bg1">
                <a:lumMod val="95000"/>
              </a:schemeClr>
            </a:solidFill>
          </a:ln>
        </p:spPr>
        <p:txBody>
          <a:bodyPr wrap="square" rtlCol="0">
            <a:spAutoFit/>
          </a:bodyPr>
          <a:lstStyle/>
          <a:p>
            <a:pPr algn="ctr"/>
            <a:r>
              <a:rPr lang="fr-FR" sz="1400" dirty="0" err="1">
                <a:solidFill>
                  <a:schemeClr val="bg1"/>
                </a:solidFill>
              </a:rPr>
              <a:t>Session_id</a:t>
            </a:r>
            <a:r>
              <a:rPr lang="fr-FR" sz="1400" dirty="0">
                <a:solidFill>
                  <a:schemeClr val="bg1"/>
                </a:solidFill>
              </a:rPr>
              <a:t>(pk)</a:t>
            </a:r>
          </a:p>
          <a:p>
            <a:pPr algn="ctr"/>
            <a:r>
              <a:rPr lang="fr-FR" sz="1400" dirty="0" err="1">
                <a:solidFill>
                  <a:schemeClr val="bg1"/>
                </a:solidFill>
              </a:rPr>
              <a:t>client_id</a:t>
            </a:r>
            <a:r>
              <a:rPr lang="fr-FR" sz="1400" dirty="0">
                <a:solidFill>
                  <a:schemeClr val="bg1"/>
                </a:solidFill>
              </a:rPr>
              <a:t> (</a:t>
            </a:r>
            <a:r>
              <a:rPr lang="fr-FR" sz="1400" dirty="0" err="1">
                <a:solidFill>
                  <a:schemeClr val="bg1"/>
                </a:solidFill>
              </a:rPr>
              <a:t>fk</a:t>
            </a:r>
            <a:r>
              <a:rPr lang="fr-FR" sz="1400" dirty="0">
                <a:solidFill>
                  <a:schemeClr val="bg1"/>
                </a:solidFill>
              </a:rPr>
              <a:t>)</a:t>
            </a:r>
          </a:p>
          <a:p>
            <a:pPr algn="ctr"/>
            <a:r>
              <a:rPr lang="fr-FR" sz="1400" dirty="0" err="1">
                <a:solidFill>
                  <a:schemeClr val="bg1"/>
                </a:solidFill>
              </a:rPr>
              <a:t>id_prod</a:t>
            </a:r>
            <a:r>
              <a:rPr lang="fr-FR" sz="1400" dirty="0">
                <a:solidFill>
                  <a:schemeClr val="bg1"/>
                </a:solidFill>
              </a:rPr>
              <a:t>(</a:t>
            </a:r>
            <a:r>
              <a:rPr lang="fr-FR" sz="1400" dirty="0" err="1">
                <a:solidFill>
                  <a:schemeClr val="bg1"/>
                </a:solidFill>
              </a:rPr>
              <a:t>fk</a:t>
            </a:r>
            <a:r>
              <a:rPr lang="fr-FR" sz="1400" dirty="0">
                <a:solidFill>
                  <a:schemeClr val="bg1"/>
                </a:solidFill>
              </a:rPr>
              <a:t>)</a:t>
            </a:r>
          </a:p>
        </p:txBody>
      </p:sp>
      <p:sp>
        <p:nvSpPr>
          <p:cNvPr id="9" name="ZoneTexte 8">
            <a:extLst>
              <a:ext uri="{FF2B5EF4-FFF2-40B4-BE49-F238E27FC236}">
                <a16:creationId xmlns:a16="http://schemas.microsoft.com/office/drawing/2014/main" id="{7B0DD9E9-CB85-CC0C-52F5-59E98DD670D8}"/>
              </a:ext>
            </a:extLst>
          </p:cNvPr>
          <p:cNvSpPr txBox="1"/>
          <p:nvPr/>
        </p:nvSpPr>
        <p:spPr>
          <a:xfrm>
            <a:off x="7766254" y="4554188"/>
            <a:ext cx="1347019" cy="307777"/>
          </a:xfrm>
          <a:prstGeom prst="rect">
            <a:avLst/>
          </a:prstGeom>
          <a:noFill/>
          <a:ln>
            <a:solidFill>
              <a:schemeClr val="bg1">
                <a:lumMod val="95000"/>
              </a:schemeClr>
            </a:solidFill>
          </a:ln>
        </p:spPr>
        <p:txBody>
          <a:bodyPr wrap="square" rtlCol="0">
            <a:spAutoFit/>
          </a:bodyPr>
          <a:lstStyle/>
          <a:p>
            <a:pPr algn="ctr"/>
            <a:r>
              <a:rPr lang="fr-FR" sz="1400" dirty="0" err="1">
                <a:solidFill>
                  <a:schemeClr val="bg1"/>
                </a:solidFill>
              </a:rPr>
              <a:t>id_prod</a:t>
            </a:r>
            <a:r>
              <a:rPr lang="fr-FR" sz="1400" dirty="0">
                <a:solidFill>
                  <a:schemeClr val="bg1"/>
                </a:solidFill>
              </a:rPr>
              <a:t>(pk)</a:t>
            </a:r>
          </a:p>
        </p:txBody>
      </p:sp>
      <p:sp>
        <p:nvSpPr>
          <p:cNvPr id="10" name="Rectangle 9">
            <a:extLst>
              <a:ext uri="{FF2B5EF4-FFF2-40B4-BE49-F238E27FC236}">
                <a16:creationId xmlns:a16="http://schemas.microsoft.com/office/drawing/2014/main" id="{0E8A86E6-9D41-8489-8FCA-110844023CAF}"/>
              </a:ext>
            </a:extLst>
          </p:cNvPr>
          <p:cNvSpPr/>
          <p:nvPr/>
        </p:nvSpPr>
        <p:spPr>
          <a:xfrm>
            <a:off x="2741970" y="4246410"/>
            <a:ext cx="1347019" cy="307777"/>
          </a:xfrm>
          <a:prstGeom prst="rect">
            <a:avLst/>
          </a:prstGeom>
          <a:solidFill>
            <a:schemeClr val="accent1">
              <a:lumMod val="7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customers</a:t>
            </a:r>
            <a:endParaRPr lang="fr-FR" dirty="0"/>
          </a:p>
        </p:txBody>
      </p:sp>
      <p:sp>
        <p:nvSpPr>
          <p:cNvPr id="11" name="Rectangle 10">
            <a:extLst>
              <a:ext uri="{FF2B5EF4-FFF2-40B4-BE49-F238E27FC236}">
                <a16:creationId xmlns:a16="http://schemas.microsoft.com/office/drawing/2014/main" id="{D9906252-DB31-397C-5468-54B59A12A437}"/>
              </a:ext>
            </a:extLst>
          </p:cNvPr>
          <p:cNvSpPr/>
          <p:nvPr/>
        </p:nvSpPr>
        <p:spPr>
          <a:xfrm>
            <a:off x="5101713" y="4278468"/>
            <a:ext cx="1347019" cy="307777"/>
          </a:xfrm>
          <a:prstGeom prst="rect">
            <a:avLst/>
          </a:prstGeom>
          <a:solidFill>
            <a:schemeClr val="accent1">
              <a:lumMod val="7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transactions</a:t>
            </a:r>
          </a:p>
        </p:txBody>
      </p:sp>
      <p:sp>
        <p:nvSpPr>
          <p:cNvPr id="12" name="Rectangle 11">
            <a:extLst>
              <a:ext uri="{FF2B5EF4-FFF2-40B4-BE49-F238E27FC236}">
                <a16:creationId xmlns:a16="http://schemas.microsoft.com/office/drawing/2014/main" id="{C15810BB-FDD0-0E1C-A6DD-F9D9C96895E4}"/>
              </a:ext>
            </a:extLst>
          </p:cNvPr>
          <p:cNvSpPr/>
          <p:nvPr/>
        </p:nvSpPr>
        <p:spPr>
          <a:xfrm>
            <a:off x="7766254" y="4278467"/>
            <a:ext cx="1347019" cy="307777"/>
          </a:xfrm>
          <a:prstGeom prst="rect">
            <a:avLst/>
          </a:prstGeom>
          <a:solidFill>
            <a:schemeClr val="accent1">
              <a:lumMod val="75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products</a:t>
            </a:r>
            <a:endParaRPr lang="fr-FR" dirty="0"/>
          </a:p>
        </p:txBody>
      </p:sp>
      <p:cxnSp>
        <p:nvCxnSpPr>
          <p:cNvPr id="13" name="Connecteur : en angle 12">
            <a:extLst>
              <a:ext uri="{FF2B5EF4-FFF2-40B4-BE49-F238E27FC236}">
                <a16:creationId xmlns:a16="http://schemas.microsoft.com/office/drawing/2014/main" id="{297163E0-87F9-077A-9F3D-E79EF95252FA}"/>
              </a:ext>
            </a:extLst>
          </p:cNvPr>
          <p:cNvCxnSpPr>
            <a:endCxn id="7" idx="3"/>
          </p:cNvCxnSpPr>
          <p:nvPr/>
        </p:nvCxnSpPr>
        <p:spPr>
          <a:xfrm rot="10800000">
            <a:off x="4088991" y="4712371"/>
            <a:ext cx="1012723" cy="2154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necteur : en angle 13">
            <a:extLst>
              <a:ext uri="{FF2B5EF4-FFF2-40B4-BE49-F238E27FC236}">
                <a16:creationId xmlns:a16="http://schemas.microsoft.com/office/drawing/2014/main" id="{F8DF2E7F-4C0C-D89A-FEBE-1965A7BE35BF}"/>
              </a:ext>
            </a:extLst>
          </p:cNvPr>
          <p:cNvCxnSpPr>
            <a:cxnSpLocks/>
            <a:endCxn id="9" idx="1"/>
          </p:cNvCxnSpPr>
          <p:nvPr/>
        </p:nvCxnSpPr>
        <p:spPr>
          <a:xfrm flipV="1">
            <a:off x="6448731" y="4708077"/>
            <a:ext cx="1317523" cy="39609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ZoneTexte 14">
            <a:extLst>
              <a:ext uri="{FF2B5EF4-FFF2-40B4-BE49-F238E27FC236}">
                <a16:creationId xmlns:a16="http://schemas.microsoft.com/office/drawing/2014/main" id="{39919CF8-DBF1-1B21-D93C-7419FACED3E5}"/>
              </a:ext>
            </a:extLst>
          </p:cNvPr>
          <p:cNvSpPr txBox="1"/>
          <p:nvPr/>
        </p:nvSpPr>
        <p:spPr>
          <a:xfrm>
            <a:off x="8021893" y="5738423"/>
            <a:ext cx="942624" cy="307777"/>
          </a:xfrm>
          <a:prstGeom prst="rect">
            <a:avLst/>
          </a:prstGeom>
          <a:noFill/>
        </p:spPr>
        <p:txBody>
          <a:bodyPr wrap="square" rtlCol="0">
            <a:spAutoFit/>
          </a:bodyPr>
          <a:lstStyle/>
          <a:p>
            <a:r>
              <a:rPr lang="fr-FR" sz="1400" dirty="0"/>
              <a:t>(3287,3)</a:t>
            </a:r>
          </a:p>
        </p:txBody>
      </p:sp>
      <p:sp>
        <p:nvSpPr>
          <p:cNvPr id="16" name="ZoneTexte 15">
            <a:extLst>
              <a:ext uri="{FF2B5EF4-FFF2-40B4-BE49-F238E27FC236}">
                <a16:creationId xmlns:a16="http://schemas.microsoft.com/office/drawing/2014/main" id="{075C2766-439C-C6D6-7022-D74BC796CD7D}"/>
              </a:ext>
            </a:extLst>
          </p:cNvPr>
          <p:cNvSpPr txBox="1"/>
          <p:nvPr/>
        </p:nvSpPr>
        <p:spPr>
          <a:xfrm>
            <a:off x="5200034" y="5726100"/>
            <a:ext cx="1067645" cy="307777"/>
          </a:xfrm>
          <a:prstGeom prst="rect">
            <a:avLst/>
          </a:prstGeom>
          <a:noFill/>
        </p:spPr>
        <p:txBody>
          <a:bodyPr wrap="square" rtlCol="0">
            <a:spAutoFit/>
          </a:bodyPr>
          <a:lstStyle/>
          <a:p>
            <a:r>
              <a:rPr lang="fr-FR" sz="1400" dirty="0"/>
              <a:t>(679532,4)</a:t>
            </a:r>
          </a:p>
        </p:txBody>
      </p:sp>
      <p:sp>
        <p:nvSpPr>
          <p:cNvPr id="17" name="ZoneTexte 16">
            <a:extLst>
              <a:ext uri="{FF2B5EF4-FFF2-40B4-BE49-F238E27FC236}">
                <a16:creationId xmlns:a16="http://schemas.microsoft.com/office/drawing/2014/main" id="{82ED395D-AE33-B5C7-7447-C8590F740EF2}"/>
              </a:ext>
            </a:extLst>
          </p:cNvPr>
          <p:cNvSpPr txBox="1"/>
          <p:nvPr/>
        </p:nvSpPr>
        <p:spPr>
          <a:xfrm>
            <a:off x="2995489" y="5726099"/>
            <a:ext cx="839979" cy="307777"/>
          </a:xfrm>
          <a:prstGeom prst="rect">
            <a:avLst/>
          </a:prstGeom>
          <a:noFill/>
        </p:spPr>
        <p:txBody>
          <a:bodyPr wrap="square" rtlCol="0">
            <a:spAutoFit/>
          </a:bodyPr>
          <a:lstStyle/>
          <a:p>
            <a:r>
              <a:rPr lang="fr-FR" sz="1400" dirty="0"/>
              <a:t>(8623,3)</a:t>
            </a:r>
          </a:p>
        </p:txBody>
      </p:sp>
      <p:pic>
        <p:nvPicPr>
          <p:cNvPr id="1026" name="Picture 2">
            <a:extLst>
              <a:ext uri="{FF2B5EF4-FFF2-40B4-BE49-F238E27FC236}">
                <a16:creationId xmlns:a16="http://schemas.microsoft.com/office/drawing/2014/main" id="{3A505F5D-56D6-58EC-46E3-D8725669D9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4964" y="3584687"/>
            <a:ext cx="852716" cy="5212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9502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D20CE2C-5938-49CB-9CD9-E40474BAA95F}"/>
              </a:ext>
            </a:extLst>
          </p:cNvPr>
          <p:cNvSpPr>
            <a:spLocks noGrp="1"/>
          </p:cNvSpPr>
          <p:nvPr>
            <p:ph type="title"/>
          </p:nvPr>
        </p:nvSpPr>
        <p:spPr/>
        <p:txBody>
          <a:bodyPr/>
          <a:lstStyle/>
          <a:p>
            <a:r>
              <a:rPr lang="fr-FR" dirty="0"/>
              <a:t>Identification des anomalies des données</a:t>
            </a:r>
          </a:p>
        </p:txBody>
      </p:sp>
      <p:sp>
        <p:nvSpPr>
          <p:cNvPr id="3" name="Espace réservé du contenu 2">
            <a:extLst>
              <a:ext uri="{FF2B5EF4-FFF2-40B4-BE49-F238E27FC236}">
                <a16:creationId xmlns:a16="http://schemas.microsoft.com/office/drawing/2014/main" id="{862DF582-F627-795C-7CA4-5C0166E0FE5D}"/>
              </a:ext>
            </a:extLst>
          </p:cNvPr>
          <p:cNvSpPr>
            <a:spLocks noGrp="1"/>
          </p:cNvSpPr>
          <p:nvPr>
            <p:ph idx="1"/>
          </p:nvPr>
        </p:nvSpPr>
        <p:spPr/>
        <p:txBody>
          <a:bodyPr/>
          <a:lstStyle/>
          <a:p>
            <a:pPr lvl="1"/>
            <a:r>
              <a:rPr lang="fr-FR" dirty="0"/>
              <a:t>Retrait dans la table « </a:t>
            </a:r>
            <a:r>
              <a:rPr lang="fr-FR" dirty="0" err="1"/>
              <a:t>Customers</a:t>
            </a:r>
            <a:r>
              <a:rPr lang="fr-FR" dirty="0"/>
              <a:t> » :</a:t>
            </a:r>
          </a:p>
          <a:p>
            <a:pPr lvl="2"/>
            <a:r>
              <a:rPr lang="fr-FR" dirty="0"/>
              <a:t>2 clients tests (ct_0 et ct_1) </a:t>
            </a:r>
          </a:p>
          <a:p>
            <a:pPr lvl="1"/>
            <a:r>
              <a:rPr lang="fr-FR" dirty="0"/>
              <a:t>Retrait dans table « Product » :</a:t>
            </a:r>
          </a:p>
          <a:p>
            <a:pPr lvl="2"/>
            <a:r>
              <a:rPr lang="fr-FR" dirty="0"/>
              <a:t>1 produit à prix négatif « T_0 » de test</a:t>
            </a:r>
          </a:p>
          <a:p>
            <a:pPr lvl="1"/>
            <a:r>
              <a:rPr lang="fr-FR" dirty="0"/>
              <a:t>Retrait dans table « Transaction » :</a:t>
            </a:r>
          </a:p>
          <a:p>
            <a:pPr lvl="2"/>
            <a:r>
              <a:rPr lang="fr-FR" dirty="0"/>
              <a:t>221 valeurs de test sur la journée du 01/03/2021</a:t>
            </a:r>
          </a:p>
          <a:p>
            <a:pPr lvl="1"/>
            <a:r>
              <a:rPr lang="fr-FR" dirty="0"/>
              <a:t>Dans le </a:t>
            </a:r>
            <a:r>
              <a:rPr lang="fr-FR" dirty="0" err="1"/>
              <a:t>dataFrame</a:t>
            </a:r>
            <a:r>
              <a:rPr lang="fr-FR" dirty="0"/>
              <a:t> mergé :</a:t>
            </a:r>
          </a:p>
          <a:p>
            <a:pPr lvl="2"/>
            <a:r>
              <a:rPr lang="fr-FR" dirty="0"/>
              <a:t>221 prix de catégorie 0 moyennés à 10,63</a:t>
            </a:r>
          </a:p>
          <a:p>
            <a:pPr lvl="2"/>
            <a:r>
              <a:rPr lang="fr-FR" dirty="0"/>
              <a:t>Retrait des clients sans achats</a:t>
            </a:r>
          </a:p>
          <a:p>
            <a:pPr lvl="2"/>
            <a:r>
              <a:rPr lang="fr-FR" dirty="0"/>
              <a:t>Retrait du mois d’octobre car aucune vente des produits de catégorie 1 entre le 1 au 28/10/2021</a:t>
            </a:r>
          </a:p>
          <a:p>
            <a:pPr lvl="2"/>
            <a:r>
              <a:rPr lang="fr-FR" dirty="0"/>
              <a:t>4 Clients atypiques :  « c_1609 »,  « c_4958 », « c_6714 », « c_3454 » retirés pour les calculs statistiques</a:t>
            </a:r>
          </a:p>
          <a:p>
            <a:pPr lvl="2"/>
            <a:endParaRPr lang="fr-FR" dirty="0"/>
          </a:p>
          <a:p>
            <a:pPr marL="457200" lvl="1" indent="0">
              <a:buNone/>
            </a:pPr>
            <a:endParaRPr lang="fr-FR" dirty="0"/>
          </a:p>
          <a:p>
            <a:pPr marL="457200" lvl="1" indent="0">
              <a:buNone/>
            </a:pPr>
            <a:endParaRPr lang="fr-FR" dirty="0"/>
          </a:p>
        </p:txBody>
      </p:sp>
    </p:spTree>
    <p:extLst>
      <p:ext uri="{BB962C8B-B14F-4D97-AF65-F5344CB8AC3E}">
        <p14:creationId xmlns:p14="http://schemas.microsoft.com/office/powerpoint/2010/main" val="32094685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8A4B7F-0966-EE0C-EDDF-C1CA43D230E4}"/>
              </a:ext>
            </a:extLst>
          </p:cNvPr>
          <p:cNvSpPr>
            <a:spLocks noGrp="1"/>
          </p:cNvSpPr>
          <p:nvPr>
            <p:ph type="title"/>
          </p:nvPr>
        </p:nvSpPr>
        <p:spPr/>
        <p:txBody>
          <a:bodyPr/>
          <a:lstStyle/>
          <a:p>
            <a:r>
              <a:rPr lang="fr-FR" dirty="0"/>
              <a:t>Indicateurs de ventes</a:t>
            </a:r>
          </a:p>
        </p:txBody>
      </p:sp>
      <p:sp>
        <p:nvSpPr>
          <p:cNvPr id="3" name="Espace réservé du contenu 2">
            <a:extLst>
              <a:ext uri="{FF2B5EF4-FFF2-40B4-BE49-F238E27FC236}">
                <a16:creationId xmlns:a16="http://schemas.microsoft.com/office/drawing/2014/main" id="{20798D76-8A09-266D-D29E-F0D67A296EB6}"/>
              </a:ext>
            </a:extLst>
          </p:cNvPr>
          <p:cNvSpPr>
            <a:spLocks noGrp="1"/>
          </p:cNvSpPr>
          <p:nvPr>
            <p:ph idx="1"/>
          </p:nvPr>
        </p:nvSpPr>
        <p:spPr>
          <a:xfrm>
            <a:off x="700635" y="785004"/>
            <a:ext cx="10691265" cy="5004356"/>
          </a:xfrm>
        </p:spPr>
        <p:txBody>
          <a:bodyPr/>
          <a:lstStyle/>
          <a:p>
            <a:r>
              <a:rPr lang="fr-FR" sz="2000" dirty="0">
                <a:latin typeface="Calibri" panose="020F0502020204030204" pitchFamily="34" charset="0"/>
              </a:rPr>
              <a:t>Evolution du chiffre d’affaires avec la moyenne mobile (sur 30 jours)</a:t>
            </a:r>
          </a:p>
          <a:p>
            <a:endParaRPr lang="fr-FR" dirty="0"/>
          </a:p>
        </p:txBody>
      </p:sp>
      <p:grpSp>
        <p:nvGrpSpPr>
          <p:cNvPr id="14" name="Groupe 13">
            <a:extLst>
              <a:ext uri="{FF2B5EF4-FFF2-40B4-BE49-F238E27FC236}">
                <a16:creationId xmlns:a16="http://schemas.microsoft.com/office/drawing/2014/main" id="{F41F2F8C-3656-EAA4-C8DA-1564AA5BCD7F}"/>
              </a:ext>
            </a:extLst>
          </p:cNvPr>
          <p:cNvGrpSpPr/>
          <p:nvPr/>
        </p:nvGrpSpPr>
        <p:grpSpPr>
          <a:xfrm>
            <a:off x="7435215" y="1358322"/>
            <a:ext cx="3752850" cy="3489843"/>
            <a:chOff x="7524139" y="1354279"/>
            <a:chExt cx="3967226" cy="4078664"/>
          </a:xfrm>
        </p:grpSpPr>
        <p:pic>
          <p:nvPicPr>
            <p:cNvPr id="6" name="Image 5">
              <a:extLst>
                <a:ext uri="{FF2B5EF4-FFF2-40B4-BE49-F238E27FC236}">
                  <a16:creationId xmlns:a16="http://schemas.microsoft.com/office/drawing/2014/main" id="{A50419B8-3609-BA4C-FF01-832FDD05923E}"/>
                </a:ext>
              </a:extLst>
            </p:cNvPr>
            <p:cNvPicPr>
              <a:picLocks noChangeAspect="1"/>
            </p:cNvPicPr>
            <p:nvPr/>
          </p:nvPicPr>
          <p:blipFill>
            <a:blip r:embed="rId2"/>
            <a:stretch>
              <a:fillRect/>
            </a:stretch>
          </p:blipFill>
          <p:spPr>
            <a:xfrm>
              <a:off x="7524139" y="1354279"/>
              <a:ext cx="3967226" cy="4078664"/>
            </a:xfrm>
            <a:prstGeom prst="rect">
              <a:avLst/>
            </a:prstGeom>
          </p:spPr>
        </p:pic>
        <p:cxnSp>
          <p:nvCxnSpPr>
            <p:cNvPr id="8" name="Connecteur droit 7">
              <a:extLst>
                <a:ext uri="{FF2B5EF4-FFF2-40B4-BE49-F238E27FC236}">
                  <a16:creationId xmlns:a16="http://schemas.microsoft.com/office/drawing/2014/main" id="{CE651FD1-EAB4-7600-2B2D-EEA79D745B33}"/>
                </a:ext>
              </a:extLst>
            </p:cNvPr>
            <p:cNvCxnSpPr>
              <a:cxnSpLocks/>
            </p:cNvCxnSpPr>
            <p:nvPr/>
          </p:nvCxnSpPr>
          <p:spPr>
            <a:xfrm>
              <a:off x="9677400" y="4335564"/>
              <a:ext cx="0" cy="843309"/>
            </a:xfrm>
            <a:prstGeom prst="line">
              <a:avLst/>
            </a:prstGeom>
            <a:ln w="25400">
              <a:prstDash val="dash"/>
            </a:ln>
          </p:spPr>
          <p:style>
            <a:lnRef idx="1">
              <a:schemeClr val="accent1"/>
            </a:lnRef>
            <a:fillRef idx="0">
              <a:schemeClr val="accent1"/>
            </a:fillRef>
            <a:effectRef idx="0">
              <a:schemeClr val="accent1"/>
            </a:effectRef>
            <a:fontRef idx="minor">
              <a:schemeClr val="tx1"/>
            </a:fontRef>
          </p:style>
        </p:cxnSp>
        <p:cxnSp>
          <p:nvCxnSpPr>
            <p:cNvPr id="9" name="Connecteur droit 8">
              <a:extLst>
                <a:ext uri="{FF2B5EF4-FFF2-40B4-BE49-F238E27FC236}">
                  <a16:creationId xmlns:a16="http://schemas.microsoft.com/office/drawing/2014/main" id="{EFAAA499-A9F7-D1A6-6206-1D751BE82D44}"/>
                </a:ext>
              </a:extLst>
            </p:cNvPr>
            <p:cNvCxnSpPr>
              <a:cxnSpLocks/>
            </p:cNvCxnSpPr>
            <p:nvPr/>
          </p:nvCxnSpPr>
          <p:spPr>
            <a:xfrm flipH="1">
              <a:off x="7877175" y="4350198"/>
              <a:ext cx="1800225" cy="0"/>
            </a:xfrm>
            <a:prstGeom prst="line">
              <a:avLst/>
            </a:prstGeom>
            <a:ln w="25400">
              <a:prstDash val="dash"/>
            </a:ln>
          </p:spPr>
          <p:style>
            <a:lnRef idx="1">
              <a:schemeClr val="accent1"/>
            </a:lnRef>
            <a:fillRef idx="0">
              <a:schemeClr val="accent1"/>
            </a:fillRef>
            <a:effectRef idx="0">
              <a:schemeClr val="accent1"/>
            </a:effectRef>
            <a:fontRef idx="minor">
              <a:schemeClr val="tx1"/>
            </a:fontRef>
          </p:style>
        </p:cxnSp>
      </p:grpSp>
      <p:sp>
        <p:nvSpPr>
          <p:cNvPr id="15" name="Rectangle : coins arrondis 14">
            <a:extLst>
              <a:ext uri="{FF2B5EF4-FFF2-40B4-BE49-F238E27FC236}">
                <a16:creationId xmlns:a16="http://schemas.microsoft.com/office/drawing/2014/main" id="{79B546F2-CB72-19AC-0752-18CEBBF5D9BF}"/>
              </a:ext>
            </a:extLst>
          </p:cNvPr>
          <p:cNvSpPr/>
          <p:nvPr/>
        </p:nvSpPr>
        <p:spPr>
          <a:xfrm>
            <a:off x="827383" y="5053781"/>
            <a:ext cx="10724106" cy="1019215"/>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Evolution constante du chiffre d'affaires</a:t>
            </a:r>
          </a:p>
          <a:p>
            <a:pPr algn="ctr"/>
            <a:r>
              <a:rPr lang="fr-FR" dirty="0"/>
              <a:t>Répartition inégale : 50 % des clients ne génèrent que 20 % du chiffre d’affaires.</a:t>
            </a:r>
          </a:p>
          <a:p>
            <a:pPr algn="ctr"/>
            <a:r>
              <a:rPr lang="fr-FR" dirty="0"/>
              <a:t>4 clients atypiques représentent 7,43% du chiffres d’affaires. Indice de Gini </a:t>
            </a:r>
          </a:p>
        </p:txBody>
      </p:sp>
      <p:pic>
        <p:nvPicPr>
          <p:cNvPr id="11" name="Image 10">
            <a:extLst>
              <a:ext uri="{FF2B5EF4-FFF2-40B4-BE49-F238E27FC236}">
                <a16:creationId xmlns:a16="http://schemas.microsoft.com/office/drawing/2014/main" id="{04F46F02-B8B3-7276-661F-64C38D4EFA3F}"/>
              </a:ext>
            </a:extLst>
          </p:cNvPr>
          <p:cNvPicPr>
            <a:picLocks noChangeAspect="1"/>
          </p:cNvPicPr>
          <p:nvPr/>
        </p:nvPicPr>
        <p:blipFill>
          <a:blip r:embed="rId3"/>
          <a:stretch>
            <a:fillRect/>
          </a:stretch>
        </p:blipFill>
        <p:spPr>
          <a:xfrm>
            <a:off x="638791" y="1195474"/>
            <a:ext cx="6420770" cy="3769075"/>
          </a:xfrm>
          <a:prstGeom prst="rect">
            <a:avLst/>
          </a:prstGeom>
        </p:spPr>
      </p:pic>
    </p:spTree>
    <p:extLst>
      <p:ext uri="{BB962C8B-B14F-4D97-AF65-F5344CB8AC3E}">
        <p14:creationId xmlns:p14="http://schemas.microsoft.com/office/powerpoint/2010/main" val="1482552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05CF6-2743-A98D-B370-D70E76BEFBB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F6A2D74-C83C-DFC0-90BC-0EA79F11A80B}"/>
              </a:ext>
            </a:extLst>
          </p:cNvPr>
          <p:cNvSpPr>
            <a:spLocks noGrp="1"/>
          </p:cNvSpPr>
          <p:nvPr>
            <p:ph type="title"/>
          </p:nvPr>
        </p:nvSpPr>
        <p:spPr/>
        <p:txBody>
          <a:bodyPr/>
          <a:lstStyle/>
          <a:p>
            <a:r>
              <a:rPr lang="fr-FR" dirty="0"/>
              <a:t>Indicateurs de ventes</a:t>
            </a:r>
          </a:p>
        </p:txBody>
      </p:sp>
      <p:sp>
        <p:nvSpPr>
          <p:cNvPr id="3" name="Espace réservé du contenu 2">
            <a:extLst>
              <a:ext uri="{FF2B5EF4-FFF2-40B4-BE49-F238E27FC236}">
                <a16:creationId xmlns:a16="http://schemas.microsoft.com/office/drawing/2014/main" id="{2EE4BC4F-B008-FB00-B17C-99AB01C93A2C}"/>
              </a:ext>
            </a:extLst>
          </p:cNvPr>
          <p:cNvSpPr>
            <a:spLocks noGrp="1"/>
          </p:cNvSpPr>
          <p:nvPr>
            <p:ph idx="1"/>
          </p:nvPr>
        </p:nvSpPr>
        <p:spPr/>
        <p:txBody>
          <a:bodyPr/>
          <a:lstStyle/>
          <a:p>
            <a:r>
              <a:rPr lang="fr-FR" dirty="0"/>
              <a:t>Chiffre d’affaires par catégorie</a:t>
            </a:r>
          </a:p>
        </p:txBody>
      </p:sp>
      <p:sp>
        <p:nvSpPr>
          <p:cNvPr id="15" name="Rectangle : coins arrondis 14">
            <a:extLst>
              <a:ext uri="{FF2B5EF4-FFF2-40B4-BE49-F238E27FC236}">
                <a16:creationId xmlns:a16="http://schemas.microsoft.com/office/drawing/2014/main" id="{540B6F56-4AFE-D5B4-0BD8-52A229B9CCE8}"/>
              </a:ext>
            </a:extLst>
          </p:cNvPr>
          <p:cNvSpPr/>
          <p:nvPr/>
        </p:nvSpPr>
        <p:spPr>
          <a:xfrm>
            <a:off x="1246780" y="4988369"/>
            <a:ext cx="10030820" cy="973519"/>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60% des ventes de catégorie 0, mais ne représentent que 36% du chiffre d'affaires</a:t>
            </a:r>
          </a:p>
        </p:txBody>
      </p:sp>
      <p:pic>
        <p:nvPicPr>
          <p:cNvPr id="5" name="Image 4">
            <a:extLst>
              <a:ext uri="{FF2B5EF4-FFF2-40B4-BE49-F238E27FC236}">
                <a16:creationId xmlns:a16="http://schemas.microsoft.com/office/drawing/2014/main" id="{2D1A7131-E76B-D167-9BD1-CDA9FF228B26}"/>
              </a:ext>
            </a:extLst>
          </p:cNvPr>
          <p:cNvPicPr>
            <a:picLocks noChangeAspect="1"/>
          </p:cNvPicPr>
          <p:nvPr/>
        </p:nvPicPr>
        <p:blipFill>
          <a:blip r:embed="rId2"/>
          <a:stretch>
            <a:fillRect/>
          </a:stretch>
        </p:blipFill>
        <p:spPr>
          <a:xfrm>
            <a:off x="3422705" y="1575628"/>
            <a:ext cx="4204103" cy="3257629"/>
          </a:xfrm>
          <a:prstGeom prst="rect">
            <a:avLst/>
          </a:prstGeom>
        </p:spPr>
      </p:pic>
      <p:pic>
        <p:nvPicPr>
          <p:cNvPr id="4" name="Image 3">
            <a:extLst>
              <a:ext uri="{FF2B5EF4-FFF2-40B4-BE49-F238E27FC236}">
                <a16:creationId xmlns:a16="http://schemas.microsoft.com/office/drawing/2014/main" id="{76E2E731-B587-0C25-2AC5-7525222D4CAB}"/>
              </a:ext>
            </a:extLst>
          </p:cNvPr>
          <p:cNvPicPr>
            <a:picLocks noChangeAspect="1"/>
          </p:cNvPicPr>
          <p:nvPr/>
        </p:nvPicPr>
        <p:blipFill>
          <a:blip r:embed="rId3"/>
          <a:stretch>
            <a:fillRect/>
          </a:stretch>
        </p:blipFill>
        <p:spPr>
          <a:xfrm>
            <a:off x="8257671" y="1734462"/>
            <a:ext cx="3233694" cy="3059514"/>
          </a:xfrm>
          <a:prstGeom prst="rect">
            <a:avLst/>
          </a:prstGeom>
        </p:spPr>
      </p:pic>
      <p:pic>
        <p:nvPicPr>
          <p:cNvPr id="7" name="Image 6">
            <a:extLst>
              <a:ext uri="{FF2B5EF4-FFF2-40B4-BE49-F238E27FC236}">
                <a16:creationId xmlns:a16="http://schemas.microsoft.com/office/drawing/2014/main" id="{65CC356C-CBAE-2C99-0EA0-0079DAC4B27E}"/>
              </a:ext>
            </a:extLst>
          </p:cNvPr>
          <p:cNvPicPr>
            <a:picLocks noChangeAspect="1"/>
          </p:cNvPicPr>
          <p:nvPr/>
        </p:nvPicPr>
        <p:blipFill>
          <a:blip r:embed="rId4"/>
          <a:stretch>
            <a:fillRect/>
          </a:stretch>
        </p:blipFill>
        <p:spPr>
          <a:xfrm>
            <a:off x="246968" y="1420516"/>
            <a:ext cx="3175737" cy="3096012"/>
          </a:xfrm>
          <a:prstGeom prst="rect">
            <a:avLst/>
          </a:prstGeom>
        </p:spPr>
      </p:pic>
    </p:spTree>
    <p:extLst>
      <p:ext uri="{BB962C8B-B14F-4D97-AF65-F5344CB8AC3E}">
        <p14:creationId xmlns:p14="http://schemas.microsoft.com/office/powerpoint/2010/main" val="7427048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22C38-A6FE-8583-8A7F-45E60B06E66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1D8C4914-0E3F-2B32-AC0E-0E50F73C12A9}"/>
              </a:ext>
            </a:extLst>
          </p:cNvPr>
          <p:cNvSpPr>
            <a:spLocks noGrp="1"/>
          </p:cNvSpPr>
          <p:nvPr>
            <p:ph type="title"/>
          </p:nvPr>
        </p:nvSpPr>
        <p:spPr/>
        <p:txBody>
          <a:bodyPr/>
          <a:lstStyle/>
          <a:p>
            <a:r>
              <a:rPr lang="fr-FR" dirty="0"/>
              <a:t>Indicateurs de ventes</a:t>
            </a:r>
          </a:p>
        </p:txBody>
      </p:sp>
      <p:sp>
        <p:nvSpPr>
          <p:cNvPr id="3" name="Espace réservé du contenu 2">
            <a:extLst>
              <a:ext uri="{FF2B5EF4-FFF2-40B4-BE49-F238E27FC236}">
                <a16:creationId xmlns:a16="http://schemas.microsoft.com/office/drawing/2014/main" id="{9931F78B-7B93-9D0A-8DF7-F1085B8285B1}"/>
              </a:ext>
            </a:extLst>
          </p:cNvPr>
          <p:cNvSpPr>
            <a:spLocks noGrp="1"/>
          </p:cNvSpPr>
          <p:nvPr>
            <p:ph idx="1"/>
          </p:nvPr>
        </p:nvSpPr>
        <p:spPr/>
        <p:txBody>
          <a:bodyPr/>
          <a:lstStyle/>
          <a:p>
            <a:r>
              <a:rPr lang="fr-FR" dirty="0"/>
              <a:t>Nombre de clients par mois</a:t>
            </a:r>
          </a:p>
        </p:txBody>
      </p:sp>
      <p:sp>
        <p:nvSpPr>
          <p:cNvPr id="6" name="Rectangle : coins arrondis 5">
            <a:extLst>
              <a:ext uri="{FF2B5EF4-FFF2-40B4-BE49-F238E27FC236}">
                <a16:creationId xmlns:a16="http://schemas.microsoft.com/office/drawing/2014/main" id="{0429321B-81D6-ED9E-44FD-D5274E42C1B9}"/>
              </a:ext>
            </a:extLst>
          </p:cNvPr>
          <p:cNvSpPr/>
          <p:nvPr/>
        </p:nvSpPr>
        <p:spPr>
          <a:xfrm>
            <a:off x="8496300" y="1462020"/>
            <a:ext cx="3314242" cy="3326290"/>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r>
              <a:rPr lang="fr-FR" dirty="0"/>
              <a:t>Progression constante du nombre de client par mois, malgré une chute du nombre de client sur le mois d’Octobre 2021.</a:t>
            </a:r>
          </a:p>
          <a:p>
            <a:pPr algn="ctr"/>
            <a:endParaRPr lang="fr-FR" dirty="0"/>
          </a:p>
          <a:p>
            <a:pPr algn="ctr"/>
            <a:r>
              <a:rPr lang="fr-FR" dirty="0"/>
              <a:t>Cette anomalie est très certainement occasionnée par un bug des valeurs remontés sur octobre</a:t>
            </a:r>
          </a:p>
        </p:txBody>
      </p:sp>
      <p:pic>
        <p:nvPicPr>
          <p:cNvPr id="5" name="Image 4">
            <a:extLst>
              <a:ext uri="{FF2B5EF4-FFF2-40B4-BE49-F238E27FC236}">
                <a16:creationId xmlns:a16="http://schemas.microsoft.com/office/drawing/2014/main" id="{81427DC2-B285-42E4-539A-0A6AB407075D}"/>
              </a:ext>
            </a:extLst>
          </p:cNvPr>
          <p:cNvPicPr>
            <a:picLocks noChangeAspect="1"/>
          </p:cNvPicPr>
          <p:nvPr/>
        </p:nvPicPr>
        <p:blipFill>
          <a:blip r:embed="rId2"/>
          <a:stretch>
            <a:fillRect/>
          </a:stretch>
        </p:blipFill>
        <p:spPr>
          <a:xfrm>
            <a:off x="381458" y="1462020"/>
            <a:ext cx="7926303" cy="3796365"/>
          </a:xfrm>
          <a:prstGeom prst="rect">
            <a:avLst/>
          </a:prstGeom>
        </p:spPr>
      </p:pic>
    </p:spTree>
    <p:extLst>
      <p:ext uri="{BB962C8B-B14F-4D97-AF65-F5344CB8AC3E}">
        <p14:creationId xmlns:p14="http://schemas.microsoft.com/office/powerpoint/2010/main" val="11477693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BFECD-EDF4-A4A8-629F-48DBCAC28F4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567B254-A1B4-BAA1-E96F-D4923CD4E898}"/>
              </a:ext>
            </a:extLst>
          </p:cNvPr>
          <p:cNvSpPr>
            <a:spLocks noGrp="1"/>
          </p:cNvSpPr>
          <p:nvPr>
            <p:ph type="title"/>
          </p:nvPr>
        </p:nvSpPr>
        <p:spPr/>
        <p:txBody>
          <a:bodyPr/>
          <a:lstStyle/>
          <a:p>
            <a:r>
              <a:rPr lang="fr-FR" dirty="0"/>
              <a:t>Indicateurs de ventes</a:t>
            </a:r>
          </a:p>
        </p:txBody>
      </p:sp>
      <p:sp>
        <p:nvSpPr>
          <p:cNvPr id="3" name="Espace réservé du contenu 2">
            <a:extLst>
              <a:ext uri="{FF2B5EF4-FFF2-40B4-BE49-F238E27FC236}">
                <a16:creationId xmlns:a16="http://schemas.microsoft.com/office/drawing/2014/main" id="{B7C5E7B5-47E6-735B-5AE6-E77DCF557CD1}"/>
              </a:ext>
            </a:extLst>
          </p:cNvPr>
          <p:cNvSpPr>
            <a:spLocks noGrp="1"/>
          </p:cNvSpPr>
          <p:nvPr>
            <p:ph idx="1"/>
          </p:nvPr>
        </p:nvSpPr>
        <p:spPr/>
        <p:txBody>
          <a:bodyPr/>
          <a:lstStyle/>
          <a:p>
            <a:r>
              <a:rPr lang="fr-FR" dirty="0"/>
              <a:t>Nombre de transactions</a:t>
            </a:r>
          </a:p>
        </p:txBody>
      </p:sp>
      <p:sp>
        <p:nvSpPr>
          <p:cNvPr id="10" name="Rectangle : coins arrondis 9">
            <a:extLst>
              <a:ext uri="{FF2B5EF4-FFF2-40B4-BE49-F238E27FC236}">
                <a16:creationId xmlns:a16="http://schemas.microsoft.com/office/drawing/2014/main" id="{FF3CF26D-F716-4B43-66E1-C1820349DB01}"/>
              </a:ext>
            </a:extLst>
          </p:cNvPr>
          <p:cNvSpPr/>
          <p:nvPr/>
        </p:nvSpPr>
        <p:spPr>
          <a:xfrm>
            <a:off x="8496300" y="1533831"/>
            <a:ext cx="3314242" cy="2066619"/>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Progression constante au globale du nombre de transaction sur les 3 dernières années</a:t>
            </a:r>
          </a:p>
        </p:txBody>
      </p:sp>
      <p:pic>
        <p:nvPicPr>
          <p:cNvPr id="5" name="Image 4">
            <a:extLst>
              <a:ext uri="{FF2B5EF4-FFF2-40B4-BE49-F238E27FC236}">
                <a16:creationId xmlns:a16="http://schemas.microsoft.com/office/drawing/2014/main" id="{5D5E3603-CF4F-5049-0269-4F57540A7B5C}"/>
              </a:ext>
            </a:extLst>
          </p:cNvPr>
          <p:cNvPicPr>
            <a:picLocks noChangeAspect="1"/>
          </p:cNvPicPr>
          <p:nvPr/>
        </p:nvPicPr>
        <p:blipFill>
          <a:blip r:embed="rId2"/>
          <a:stretch>
            <a:fillRect/>
          </a:stretch>
        </p:blipFill>
        <p:spPr>
          <a:xfrm>
            <a:off x="624956" y="1408973"/>
            <a:ext cx="7378502" cy="4382956"/>
          </a:xfrm>
          <a:prstGeom prst="rect">
            <a:avLst/>
          </a:prstGeom>
        </p:spPr>
      </p:pic>
    </p:spTree>
    <p:extLst>
      <p:ext uri="{BB962C8B-B14F-4D97-AF65-F5344CB8AC3E}">
        <p14:creationId xmlns:p14="http://schemas.microsoft.com/office/powerpoint/2010/main" val="31141101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BAF55-3166-5727-71A9-C62D873BA62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E6F015F-D4CA-4243-378D-D751B3079ACB}"/>
              </a:ext>
            </a:extLst>
          </p:cNvPr>
          <p:cNvSpPr>
            <a:spLocks noGrp="1"/>
          </p:cNvSpPr>
          <p:nvPr>
            <p:ph type="title"/>
          </p:nvPr>
        </p:nvSpPr>
        <p:spPr/>
        <p:txBody>
          <a:bodyPr/>
          <a:lstStyle/>
          <a:p>
            <a:r>
              <a:rPr lang="fr-FR" dirty="0"/>
              <a:t>Indicateurs de ventes</a:t>
            </a:r>
          </a:p>
        </p:txBody>
      </p:sp>
      <p:sp>
        <p:nvSpPr>
          <p:cNvPr id="3" name="Espace réservé du contenu 2">
            <a:extLst>
              <a:ext uri="{FF2B5EF4-FFF2-40B4-BE49-F238E27FC236}">
                <a16:creationId xmlns:a16="http://schemas.microsoft.com/office/drawing/2014/main" id="{B1BB1B96-D42C-CB1F-8FF9-5BBB4EF20E7C}"/>
              </a:ext>
            </a:extLst>
          </p:cNvPr>
          <p:cNvSpPr>
            <a:spLocks noGrp="1"/>
          </p:cNvSpPr>
          <p:nvPr>
            <p:ph idx="1"/>
          </p:nvPr>
        </p:nvSpPr>
        <p:spPr/>
        <p:txBody>
          <a:bodyPr/>
          <a:lstStyle/>
          <a:p>
            <a:r>
              <a:rPr lang="fr-FR" dirty="0"/>
              <a:t>Nombre de produits vendus par mois (TOP / FLOP / Répartition par Catégories)</a:t>
            </a:r>
          </a:p>
        </p:txBody>
      </p:sp>
      <p:graphicFrame>
        <p:nvGraphicFramePr>
          <p:cNvPr id="7" name="Tableau 6">
            <a:extLst>
              <a:ext uri="{FF2B5EF4-FFF2-40B4-BE49-F238E27FC236}">
                <a16:creationId xmlns:a16="http://schemas.microsoft.com/office/drawing/2014/main" id="{8B1964AF-1012-EADC-67A0-FBAD48A51419}"/>
              </a:ext>
            </a:extLst>
          </p:cNvPr>
          <p:cNvGraphicFramePr>
            <a:graphicFrameLocks noGrp="1"/>
          </p:cNvGraphicFramePr>
          <p:nvPr>
            <p:extLst>
              <p:ext uri="{D42A27DB-BD31-4B8C-83A1-F6EECF244321}">
                <p14:modId xmlns:p14="http://schemas.microsoft.com/office/powerpoint/2010/main" val="3358579386"/>
              </p:ext>
            </p:extLst>
          </p:nvPr>
        </p:nvGraphicFramePr>
        <p:xfrm>
          <a:off x="5252980" y="1758010"/>
          <a:ext cx="1213076" cy="3839394"/>
        </p:xfrm>
        <a:graphic>
          <a:graphicData uri="http://schemas.openxmlformats.org/drawingml/2006/table">
            <a:tbl>
              <a:tblPr/>
              <a:tblGrid>
                <a:gridCol w="436620">
                  <a:extLst>
                    <a:ext uri="{9D8B030D-6E8A-4147-A177-3AD203B41FA5}">
                      <a16:colId xmlns:a16="http://schemas.microsoft.com/office/drawing/2014/main" val="3169069336"/>
                    </a:ext>
                  </a:extLst>
                </a:gridCol>
                <a:gridCol w="776456">
                  <a:extLst>
                    <a:ext uri="{9D8B030D-6E8A-4147-A177-3AD203B41FA5}">
                      <a16:colId xmlns:a16="http://schemas.microsoft.com/office/drawing/2014/main" val="3400002400"/>
                    </a:ext>
                  </a:extLst>
                </a:gridCol>
              </a:tblGrid>
              <a:tr h="287704">
                <a:tc>
                  <a:txBody>
                    <a:bodyPr/>
                    <a:lstStyle/>
                    <a:p>
                      <a:pPr algn="l" fontAlgn="ctr"/>
                      <a:r>
                        <a:rPr lang="fr-FR" sz="800" b="1" dirty="0">
                          <a:effectLst/>
                        </a:rPr>
                        <a:t>Product ID</a:t>
                      </a:r>
                    </a:p>
                  </a:txBody>
                  <a:tcPr marL="41101" marR="41101" marT="20550" marB="20550" anchor="ctr">
                    <a:lnL>
                      <a:noFill/>
                    </a:lnL>
                    <a:lnR>
                      <a:noFill/>
                    </a:lnR>
                    <a:lnT>
                      <a:noFill/>
                    </a:lnT>
                    <a:lnB>
                      <a:noFill/>
                    </a:lnB>
                    <a:solidFill>
                      <a:srgbClr val="8ACEEA"/>
                    </a:solidFill>
                  </a:tcPr>
                </a:tc>
                <a:tc>
                  <a:txBody>
                    <a:bodyPr/>
                    <a:lstStyle/>
                    <a:p>
                      <a:pPr algn="l" fontAlgn="ctr"/>
                      <a:r>
                        <a:rPr lang="fr-FR" sz="800" b="1" dirty="0">
                          <a:effectLst/>
                        </a:rPr>
                        <a:t>Nb Ventes</a:t>
                      </a:r>
                    </a:p>
                  </a:txBody>
                  <a:tcPr marL="41101" marR="41101" marT="20550" marB="20550" anchor="ctr">
                    <a:lnL>
                      <a:noFill/>
                    </a:lnL>
                    <a:lnR>
                      <a:noFill/>
                    </a:lnR>
                    <a:lnT>
                      <a:noFill/>
                    </a:lnT>
                    <a:lnB>
                      <a:noFill/>
                    </a:lnB>
                    <a:solidFill>
                      <a:srgbClr val="8ACEEA"/>
                    </a:solidFill>
                  </a:tcPr>
                </a:tc>
                <a:extLst>
                  <a:ext uri="{0D108BD9-81ED-4DB2-BD59-A6C34878D82A}">
                    <a16:rowId xmlns:a16="http://schemas.microsoft.com/office/drawing/2014/main" val="1675092816"/>
                  </a:ext>
                </a:extLst>
              </a:tr>
              <a:tr h="164402">
                <a:tc>
                  <a:txBody>
                    <a:bodyPr/>
                    <a:lstStyle/>
                    <a:p>
                      <a:pPr algn="l" fontAlgn="ctr"/>
                      <a:r>
                        <a:rPr lang="fr-FR" sz="800" dirty="0">
                          <a:effectLst/>
                        </a:rPr>
                        <a:t>0_1016</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321169148"/>
                  </a:ext>
                </a:extLst>
              </a:tr>
              <a:tr h="164402">
                <a:tc>
                  <a:txBody>
                    <a:bodyPr/>
                    <a:lstStyle/>
                    <a:p>
                      <a:pPr algn="l" fontAlgn="ctr"/>
                      <a:r>
                        <a:rPr lang="fr-FR" sz="800">
                          <a:effectLst/>
                        </a:rPr>
                        <a:t>0_1620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346640323"/>
                  </a:ext>
                </a:extLst>
              </a:tr>
              <a:tr h="164402">
                <a:tc>
                  <a:txBody>
                    <a:bodyPr/>
                    <a:lstStyle/>
                    <a:p>
                      <a:pPr algn="l" fontAlgn="ctr"/>
                      <a:r>
                        <a:rPr lang="fr-FR" sz="800" dirty="0">
                          <a:effectLst/>
                        </a:rPr>
                        <a:t>0_1624</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367796083"/>
                  </a:ext>
                </a:extLst>
              </a:tr>
              <a:tr h="164402">
                <a:tc>
                  <a:txBody>
                    <a:bodyPr/>
                    <a:lstStyle/>
                    <a:p>
                      <a:pPr algn="l" fontAlgn="ctr"/>
                      <a:r>
                        <a:rPr lang="fr-FR" sz="800">
                          <a:effectLst/>
                        </a:rPr>
                        <a:t>0_322</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106001702"/>
                  </a:ext>
                </a:extLst>
              </a:tr>
              <a:tr h="164402">
                <a:tc>
                  <a:txBody>
                    <a:bodyPr/>
                    <a:lstStyle/>
                    <a:p>
                      <a:pPr algn="l" fontAlgn="ctr"/>
                      <a:r>
                        <a:rPr lang="fr-FR" sz="800" dirty="0">
                          <a:effectLst/>
                        </a:rPr>
                        <a:t>1_0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4121623033"/>
                  </a:ext>
                </a:extLst>
              </a:tr>
              <a:tr h="164402">
                <a:tc>
                  <a:txBody>
                    <a:bodyPr/>
                    <a:lstStyle/>
                    <a:p>
                      <a:pPr algn="l" fontAlgn="ctr"/>
                      <a:r>
                        <a:rPr lang="fr-FR" sz="800">
                          <a:effectLst/>
                        </a:rPr>
                        <a:t>0_1025</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3521800477"/>
                  </a:ext>
                </a:extLst>
              </a:tr>
              <a:tr h="164402">
                <a:tc>
                  <a:txBody>
                    <a:bodyPr/>
                    <a:lstStyle/>
                    <a:p>
                      <a:pPr algn="l" fontAlgn="ctr"/>
                      <a:r>
                        <a:rPr lang="fr-FR" sz="800" dirty="0">
                          <a:effectLst/>
                        </a:rPr>
                        <a:t>0_310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1038671864"/>
                  </a:ext>
                </a:extLst>
              </a:tr>
              <a:tr h="164402">
                <a:tc>
                  <a:txBody>
                    <a:bodyPr/>
                    <a:lstStyle/>
                    <a:p>
                      <a:pPr algn="l" fontAlgn="ctr"/>
                      <a:r>
                        <a:rPr lang="fr-FR" sz="800" dirty="0">
                          <a:effectLst/>
                        </a:rPr>
                        <a:t>0_299</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364923175"/>
                  </a:ext>
                </a:extLst>
              </a:tr>
              <a:tr h="263650">
                <a:tc>
                  <a:txBody>
                    <a:bodyPr/>
                    <a:lstStyle/>
                    <a:p>
                      <a:pPr algn="l" fontAlgn="ctr"/>
                      <a:r>
                        <a:rPr lang="fr-FR" sz="800" dirty="0">
                          <a:effectLst/>
                        </a:rPr>
                        <a:t>0_1318</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688069904"/>
                  </a:ext>
                </a:extLst>
              </a:tr>
              <a:tr h="164402">
                <a:tc>
                  <a:txBody>
                    <a:bodyPr/>
                    <a:lstStyle/>
                    <a:p>
                      <a:pPr algn="l" fontAlgn="ctr"/>
                      <a:r>
                        <a:rPr lang="fr-FR" sz="800">
                          <a:effectLst/>
                        </a:rPr>
                        <a:t>0_1645</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3874304224"/>
                  </a:ext>
                </a:extLst>
              </a:tr>
              <a:tr h="164402">
                <a:tc>
                  <a:txBody>
                    <a:bodyPr/>
                    <a:lstStyle/>
                    <a:p>
                      <a:pPr algn="l" fontAlgn="ctr"/>
                      <a:r>
                        <a:rPr lang="fr-FR" sz="800" dirty="0">
                          <a:effectLst/>
                        </a:rPr>
                        <a:t>1_394</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1068010425"/>
                  </a:ext>
                </a:extLst>
              </a:tr>
              <a:tr h="164402">
                <a:tc>
                  <a:txBody>
                    <a:bodyPr/>
                    <a:lstStyle/>
                    <a:p>
                      <a:pPr algn="l" fontAlgn="ctr"/>
                      <a:r>
                        <a:rPr lang="fr-FR" sz="800">
                          <a:effectLst/>
                        </a:rPr>
                        <a:t>0_1062</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566282233"/>
                  </a:ext>
                </a:extLst>
              </a:tr>
              <a:tr h="164402">
                <a:tc>
                  <a:txBody>
                    <a:bodyPr/>
                    <a:lstStyle/>
                    <a:p>
                      <a:pPr algn="l" fontAlgn="ctr"/>
                      <a:r>
                        <a:rPr lang="fr-FR" sz="800" dirty="0">
                          <a:effectLst/>
                        </a:rPr>
                        <a:t>2_72</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4016738228"/>
                  </a:ext>
                </a:extLst>
              </a:tr>
              <a:tr h="164402">
                <a:tc>
                  <a:txBody>
                    <a:bodyPr/>
                    <a:lstStyle/>
                    <a:p>
                      <a:pPr algn="l" fontAlgn="ctr"/>
                      <a:r>
                        <a:rPr lang="fr-FR" sz="800">
                          <a:effectLst/>
                        </a:rPr>
                        <a:t>0_2308</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1884150100"/>
                  </a:ext>
                </a:extLst>
              </a:tr>
              <a:tr h="164402">
                <a:tc>
                  <a:txBody>
                    <a:bodyPr/>
                    <a:lstStyle/>
                    <a:p>
                      <a:pPr algn="l" fontAlgn="ctr"/>
                      <a:r>
                        <a:rPr lang="fr-FR" sz="800" dirty="0">
                          <a:effectLst/>
                        </a:rPr>
                        <a:t>0_1014</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3200730604"/>
                  </a:ext>
                </a:extLst>
              </a:tr>
              <a:tr h="164402">
                <a:tc>
                  <a:txBody>
                    <a:bodyPr/>
                    <a:lstStyle/>
                    <a:p>
                      <a:pPr algn="l" fontAlgn="ctr"/>
                      <a:r>
                        <a:rPr lang="fr-FR" sz="800" dirty="0">
                          <a:effectLst/>
                        </a:rPr>
                        <a:t>0_1800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988792409"/>
                  </a:ext>
                </a:extLst>
              </a:tr>
              <a:tr h="164402">
                <a:tc>
                  <a:txBody>
                    <a:bodyPr/>
                    <a:lstStyle/>
                    <a:p>
                      <a:pPr algn="l" fontAlgn="ctr"/>
                      <a:r>
                        <a:rPr lang="fr-FR" sz="800" dirty="0">
                          <a:effectLst/>
                        </a:rPr>
                        <a:t>0_510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028602463"/>
                  </a:ext>
                </a:extLst>
              </a:tr>
              <a:tr h="164402">
                <a:tc>
                  <a:txBody>
                    <a:bodyPr/>
                    <a:lstStyle/>
                    <a:p>
                      <a:pPr algn="l" fontAlgn="ctr"/>
                      <a:r>
                        <a:rPr lang="fr-FR" sz="800" dirty="0">
                          <a:effectLst/>
                        </a:rPr>
                        <a:t>2_87</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177534307"/>
                  </a:ext>
                </a:extLst>
              </a:tr>
              <a:tr h="164402">
                <a:tc>
                  <a:txBody>
                    <a:bodyPr/>
                    <a:lstStyle/>
                    <a:p>
                      <a:pPr algn="l" fontAlgn="ctr"/>
                      <a:r>
                        <a:rPr lang="fr-FR" sz="800" dirty="0">
                          <a:effectLst/>
                        </a:rPr>
                        <a:t>0_1780</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613611102"/>
                  </a:ext>
                </a:extLst>
              </a:tr>
              <a:tr h="164402">
                <a:tc>
                  <a:txBody>
                    <a:bodyPr/>
                    <a:lstStyle/>
                    <a:p>
                      <a:pPr algn="l" fontAlgn="ctr"/>
                      <a:r>
                        <a:rPr lang="fr-FR" sz="800" dirty="0">
                          <a:effectLst/>
                        </a:rPr>
                        <a:t>2_86</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1362874396"/>
                  </a:ext>
                </a:extLst>
              </a:tr>
              <a:tr h="164402">
                <a:tc>
                  <a:txBody>
                    <a:bodyPr/>
                    <a:lstStyle/>
                    <a:p>
                      <a:pPr algn="l" fontAlgn="ctr"/>
                      <a:r>
                        <a:rPr lang="fr-FR" sz="800" dirty="0">
                          <a:effectLst/>
                        </a:rPr>
                        <a:t>0_1119</a:t>
                      </a:r>
                    </a:p>
                  </a:txBody>
                  <a:tcPr marL="41101" marR="41101" marT="20550" marB="20550" anchor="ctr">
                    <a:lnL>
                      <a:noFill/>
                    </a:lnL>
                    <a:lnR>
                      <a:noFill/>
                    </a:lnR>
                    <a:lnT>
                      <a:noFill/>
                    </a:lnT>
                    <a:lnB>
                      <a:noFill/>
                    </a:lnB>
                    <a:solidFill>
                      <a:srgbClr val="FFFFFF"/>
                    </a:solidFill>
                  </a:tcPr>
                </a:tc>
                <a:tc>
                  <a:txBody>
                    <a:bodyPr/>
                    <a:lstStyle/>
                    <a:p>
                      <a:pPr algn="l" fontAlgn="ctr"/>
                      <a:r>
                        <a:rPr lang="fr-FR" sz="800" dirty="0">
                          <a:effectLst/>
                        </a:rPr>
                        <a:t>0</a:t>
                      </a:r>
                    </a:p>
                  </a:txBody>
                  <a:tcPr marL="41101" marR="41101" marT="20550" marB="20550" anchor="ctr">
                    <a:lnL>
                      <a:noFill/>
                    </a:lnL>
                    <a:lnR>
                      <a:noFill/>
                    </a:lnR>
                    <a:lnT>
                      <a:noFill/>
                    </a:lnT>
                    <a:lnB>
                      <a:noFill/>
                    </a:lnB>
                    <a:solidFill>
                      <a:srgbClr val="FFFFFF"/>
                    </a:solidFill>
                  </a:tcPr>
                </a:tc>
                <a:extLst>
                  <a:ext uri="{0D108BD9-81ED-4DB2-BD59-A6C34878D82A}">
                    <a16:rowId xmlns:a16="http://schemas.microsoft.com/office/drawing/2014/main" val="2744831662"/>
                  </a:ext>
                </a:extLst>
              </a:tr>
            </a:tbl>
          </a:graphicData>
        </a:graphic>
      </p:graphicFrame>
      <p:pic>
        <p:nvPicPr>
          <p:cNvPr id="13" name="Image 12">
            <a:extLst>
              <a:ext uri="{FF2B5EF4-FFF2-40B4-BE49-F238E27FC236}">
                <a16:creationId xmlns:a16="http://schemas.microsoft.com/office/drawing/2014/main" id="{56A33C3E-FBF6-D6BA-A849-63472344B5AF}"/>
              </a:ext>
            </a:extLst>
          </p:cNvPr>
          <p:cNvPicPr>
            <a:picLocks noChangeAspect="1"/>
          </p:cNvPicPr>
          <p:nvPr/>
        </p:nvPicPr>
        <p:blipFill>
          <a:blip r:embed="rId2"/>
          <a:stretch>
            <a:fillRect/>
          </a:stretch>
        </p:blipFill>
        <p:spPr>
          <a:xfrm>
            <a:off x="324091" y="1656410"/>
            <a:ext cx="4342200" cy="3355704"/>
          </a:xfrm>
          <a:prstGeom prst="rect">
            <a:avLst/>
          </a:prstGeom>
        </p:spPr>
      </p:pic>
      <p:sp>
        <p:nvSpPr>
          <p:cNvPr id="4" name="Rectangle : coins arrondis 3">
            <a:extLst>
              <a:ext uri="{FF2B5EF4-FFF2-40B4-BE49-F238E27FC236}">
                <a16:creationId xmlns:a16="http://schemas.microsoft.com/office/drawing/2014/main" id="{1061CA65-E165-8C26-43F3-1EB289197CF2}"/>
              </a:ext>
            </a:extLst>
          </p:cNvPr>
          <p:cNvSpPr/>
          <p:nvPr/>
        </p:nvSpPr>
        <p:spPr>
          <a:xfrm>
            <a:off x="6654328" y="4432300"/>
            <a:ext cx="4837037" cy="1702116"/>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Le nombre de ventes varie entre 2252 et 0 selon les produits.</a:t>
            </a:r>
          </a:p>
          <a:p>
            <a:pPr algn="ctr"/>
            <a:r>
              <a:rPr lang="fr-FR" dirty="0"/>
              <a:t>60% des produits vendus appartiennent à la catégorie 0</a:t>
            </a:r>
          </a:p>
          <a:p>
            <a:pPr algn="ctr"/>
            <a:r>
              <a:rPr lang="fr-FR" dirty="0"/>
              <a:t>21 produits sans acheteurs</a:t>
            </a:r>
          </a:p>
        </p:txBody>
      </p:sp>
      <p:pic>
        <p:nvPicPr>
          <p:cNvPr id="6" name="Image 5">
            <a:extLst>
              <a:ext uri="{FF2B5EF4-FFF2-40B4-BE49-F238E27FC236}">
                <a16:creationId xmlns:a16="http://schemas.microsoft.com/office/drawing/2014/main" id="{D88D5C92-EE2E-170D-583A-19664F29467D}"/>
              </a:ext>
            </a:extLst>
          </p:cNvPr>
          <p:cNvPicPr>
            <a:picLocks noChangeAspect="1"/>
          </p:cNvPicPr>
          <p:nvPr/>
        </p:nvPicPr>
        <p:blipFill>
          <a:blip r:embed="rId3"/>
          <a:stretch>
            <a:fillRect/>
          </a:stretch>
        </p:blipFill>
        <p:spPr>
          <a:xfrm>
            <a:off x="7525711" y="1463217"/>
            <a:ext cx="3094273" cy="2882819"/>
          </a:xfrm>
          <a:prstGeom prst="rect">
            <a:avLst/>
          </a:prstGeom>
        </p:spPr>
      </p:pic>
    </p:spTree>
    <p:extLst>
      <p:ext uri="{BB962C8B-B14F-4D97-AF65-F5344CB8AC3E}">
        <p14:creationId xmlns:p14="http://schemas.microsoft.com/office/powerpoint/2010/main" val="221762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25C763-3A0C-504B-F009-C1E8728667C3}"/>
              </a:ext>
            </a:extLst>
          </p:cNvPr>
          <p:cNvSpPr>
            <a:spLocks noGrp="1"/>
          </p:cNvSpPr>
          <p:nvPr>
            <p:ph type="title"/>
          </p:nvPr>
        </p:nvSpPr>
        <p:spPr/>
        <p:txBody>
          <a:bodyPr/>
          <a:lstStyle/>
          <a:p>
            <a:r>
              <a:rPr lang="fr-FR" dirty="0"/>
              <a:t>Identification des tests à réaliser</a:t>
            </a:r>
          </a:p>
        </p:txBody>
      </p:sp>
      <p:graphicFrame>
        <p:nvGraphicFramePr>
          <p:cNvPr id="4" name="Espace réservé du contenu 3">
            <a:extLst>
              <a:ext uri="{FF2B5EF4-FFF2-40B4-BE49-F238E27FC236}">
                <a16:creationId xmlns:a16="http://schemas.microsoft.com/office/drawing/2014/main" id="{D674AD5F-0349-E63F-2C63-DB36D774C510}"/>
              </a:ext>
            </a:extLst>
          </p:cNvPr>
          <p:cNvGraphicFramePr>
            <a:graphicFrameLocks noGrp="1"/>
          </p:cNvGraphicFramePr>
          <p:nvPr>
            <p:ph idx="1"/>
            <p:extLst>
              <p:ext uri="{D42A27DB-BD31-4B8C-83A1-F6EECF244321}">
                <p14:modId xmlns:p14="http://schemas.microsoft.com/office/powerpoint/2010/main" val="1367760749"/>
              </p:ext>
            </p:extLst>
          </p:nvPr>
        </p:nvGraphicFramePr>
        <p:xfrm>
          <a:off x="481781" y="957263"/>
          <a:ext cx="10910121" cy="4348797"/>
        </p:xfrm>
        <a:graphic>
          <a:graphicData uri="http://schemas.openxmlformats.org/drawingml/2006/table">
            <a:tbl>
              <a:tblPr firstRow="1" bandRow="1">
                <a:tableStyleId>{5C22544A-7EE6-4342-B048-85BDC9FD1C3A}</a:tableStyleId>
              </a:tblPr>
              <a:tblGrid>
                <a:gridCol w="2652288">
                  <a:extLst>
                    <a:ext uri="{9D8B030D-6E8A-4147-A177-3AD203B41FA5}">
                      <a16:colId xmlns:a16="http://schemas.microsoft.com/office/drawing/2014/main" val="1021880705"/>
                    </a:ext>
                  </a:extLst>
                </a:gridCol>
                <a:gridCol w="2752611">
                  <a:extLst>
                    <a:ext uri="{9D8B030D-6E8A-4147-A177-3AD203B41FA5}">
                      <a16:colId xmlns:a16="http://schemas.microsoft.com/office/drawing/2014/main" val="427531323"/>
                    </a:ext>
                  </a:extLst>
                </a:gridCol>
                <a:gridCol w="2752611">
                  <a:extLst>
                    <a:ext uri="{9D8B030D-6E8A-4147-A177-3AD203B41FA5}">
                      <a16:colId xmlns:a16="http://schemas.microsoft.com/office/drawing/2014/main" val="3819104853"/>
                    </a:ext>
                  </a:extLst>
                </a:gridCol>
                <a:gridCol w="2752611">
                  <a:extLst>
                    <a:ext uri="{9D8B030D-6E8A-4147-A177-3AD203B41FA5}">
                      <a16:colId xmlns:a16="http://schemas.microsoft.com/office/drawing/2014/main" val="1740875003"/>
                    </a:ext>
                  </a:extLst>
                </a:gridCol>
              </a:tblGrid>
              <a:tr h="630237">
                <a:tc>
                  <a:txBody>
                    <a:bodyPr/>
                    <a:lstStyle/>
                    <a:p>
                      <a:r>
                        <a:rPr lang="fr-FR" dirty="0"/>
                        <a:t>Formulation</a:t>
                      </a:r>
                    </a:p>
                  </a:txBody>
                  <a:tcPr/>
                </a:tc>
                <a:tc>
                  <a:txBody>
                    <a:bodyPr/>
                    <a:lstStyle/>
                    <a:p>
                      <a:r>
                        <a:rPr lang="fr-FR" dirty="0"/>
                        <a:t>Type de données</a:t>
                      </a:r>
                    </a:p>
                  </a:txBody>
                  <a:tcPr/>
                </a:tc>
                <a:tc>
                  <a:txBody>
                    <a:bodyPr/>
                    <a:lstStyle/>
                    <a:p>
                      <a:pPr algn="ctr"/>
                      <a:r>
                        <a:rPr lang="fr-FR" dirty="0"/>
                        <a:t>Test </a:t>
                      </a:r>
                    </a:p>
                  </a:txBody>
                  <a:tcPr/>
                </a:tc>
                <a:tc>
                  <a:txBody>
                    <a:bodyPr/>
                    <a:lstStyle/>
                    <a:p>
                      <a:pPr algn="ctr"/>
                      <a:r>
                        <a:rPr lang="fr-FR" dirty="0"/>
                        <a:t>Graphique</a:t>
                      </a:r>
                    </a:p>
                  </a:txBody>
                  <a:tcPr/>
                </a:tc>
                <a:extLst>
                  <a:ext uri="{0D108BD9-81ED-4DB2-BD59-A6C34878D82A}">
                    <a16:rowId xmlns:a16="http://schemas.microsoft.com/office/drawing/2014/main" val="29654051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Lien entre genre d'un client et les catégories des livres achetés</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400" kern="1200" dirty="0">
                        <a:solidFill>
                          <a:schemeClr val="dk1"/>
                        </a:solidFill>
                        <a:latin typeface="Calibri" panose="020F0502020204030204" pitchFamily="34" charset="0"/>
                        <a:ea typeface="+mn-ea"/>
                        <a:cs typeface="+mn-cs"/>
                      </a:endParaRPr>
                    </a:p>
                  </a:txBody>
                  <a:tcPr marL="72000" marR="72000"/>
                </a:tc>
                <a:tc>
                  <a:txBody>
                    <a:bodyPr/>
                    <a:lstStyle/>
                    <a:p>
                      <a:pPr algn="ctr"/>
                      <a:r>
                        <a:rPr lang="fr-FR" sz="1400" kern="1200" dirty="0">
                          <a:solidFill>
                            <a:schemeClr val="dk1"/>
                          </a:solidFill>
                          <a:latin typeface="Calibri" panose="020F0502020204030204" pitchFamily="34" charset="0"/>
                          <a:ea typeface="+mn-ea"/>
                          <a:cs typeface="+mn-cs"/>
                        </a:rPr>
                        <a:t>Association de valeurs qualitative</a:t>
                      </a:r>
                    </a:p>
                    <a:p>
                      <a:pPr algn="ctr"/>
                      <a:r>
                        <a:rPr lang="fr-FR" sz="1400" kern="1200" dirty="0">
                          <a:solidFill>
                            <a:schemeClr val="dk1"/>
                          </a:solidFill>
                          <a:latin typeface="Calibri" panose="020F0502020204030204" pitchFamily="34" charset="0"/>
                          <a:ea typeface="+mn-ea"/>
                          <a:cs typeface="+mn-cs"/>
                        </a:rPr>
                        <a:t>Tableau de contingence</a:t>
                      </a:r>
                    </a:p>
                  </a:txBody>
                  <a:tcPr marL="72000" marR="72000"/>
                </a:tc>
                <a:tc>
                  <a:txBody>
                    <a:bodyPr/>
                    <a:lstStyle/>
                    <a:p>
                      <a:r>
                        <a:rPr lang="fr-FR" sz="1400" kern="1200" dirty="0">
                          <a:solidFill>
                            <a:schemeClr val="dk1"/>
                          </a:solidFill>
                          <a:latin typeface="Calibri" panose="020F0502020204030204" pitchFamily="34" charset="0"/>
                          <a:ea typeface="+mn-ea"/>
                          <a:cs typeface="+mn-cs"/>
                        </a:rPr>
                        <a:t>Chi-2</a:t>
                      </a:r>
                    </a:p>
                  </a:txBody>
                  <a:tcPr/>
                </a:tc>
                <a:tc>
                  <a:txBody>
                    <a:bodyPr/>
                    <a:lstStyle/>
                    <a:p>
                      <a:r>
                        <a:rPr lang="fr-FR" sz="1400" kern="1200" dirty="0" err="1">
                          <a:solidFill>
                            <a:schemeClr val="dk1"/>
                          </a:solidFill>
                          <a:latin typeface="Calibri" panose="020F0502020204030204" pitchFamily="34" charset="0"/>
                          <a:ea typeface="+mn-ea"/>
                          <a:cs typeface="+mn-cs"/>
                        </a:rPr>
                        <a:t>Heatmap</a:t>
                      </a:r>
                      <a:endParaRPr lang="fr-FR" sz="1400" kern="1200" dirty="0">
                        <a:solidFill>
                          <a:schemeClr val="dk1"/>
                        </a:solidFill>
                        <a:latin typeface="Calibri" panose="020F0502020204030204" pitchFamily="34" charset="0"/>
                        <a:ea typeface="+mn-ea"/>
                        <a:cs typeface="+mn-cs"/>
                      </a:endParaRPr>
                    </a:p>
                  </a:txBody>
                  <a:tcPr/>
                </a:tc>
                <a:extLst>
                  <a:ext uri="{0D108BD9-81ED-4DB2-BD59-A6C34878D82A}">
                    <a16:rowId xmlns:a16="http://schemas.microsoft.com/office/drawing/2014/main" val="276995642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Lien entre âge du client et le montant total des achats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400" kern="1200" dirty="0">
                        <a:solidFill>
                          <a:schemeClr val="dk1"/>
                        </a:solidFill>
                        <a:latin typeface="Calibri" panose="020F0502020204030204" pitchFamily="34" charset="0"/>
                        <a:ea typeface="+mn-ea"/>
                        <a:cs typeface="+mn-cs"/>
                      </a:endParaRPr>
                    </a:p>
                  </a:txBody>
                  <a:tcPr marL="72000" marR="72000"/>
                </a:tc>
                <a:tc>
                  <a:txBody>
                    <a:bodyPr/>
                    <a:lstStyle/>
                    <a:p>
                      <a:pPr algn="ctr"/>
                      <a:r>
                        <a:rPr lang="fr-FR" sz="1400" kern="1200" dirty="0">
                          <a:solidFill>
                            <a:schemeClr val="dk1"/>
                          </a:solidFill>
                          <a:latin typeface="Calibri" panose="020F0502020204030204" pitchFamily="34" charset="0"/>
                          <a:ea typeface="+mn-ea"/>
                          <a:cs typeface="+mn-cs"/>
                        </a:rPr>
                        <a:t>Quantitative / Quantitative</a:t>
                      </a:r>
                    </a:p>
                  </a:txBody>
                  <a:tcPr marL="72000" marR="72000"/>
                </a:tc>
                <a:tc>
                  <a:txBody>
                    <a:bodyPr/>
                    <a:lstStyle/>
                    <a:p>
                      <a:r>
                        <a:rPr lang="fr-FR" sz="1400" kern="1200" dirty="0">
                          <a:solidFill>
                            <a:schemeClr val="dk1"/>
                          </a:solidFill>
                          <a:latin typeface="Calibri" panose="020F0502020204030204" pitchFamily="34" charset="0"/>
                          <a:ea typeface="+mn-ea"/>
                          <a:cs typeface="+mn-cs"/>
                        </a:rPr>
                        <a:t>Pearson / Spearman</a:t>
                      </a:r>
                    </a:p>
                  </a:txBody>
                  <a:tcPr/>
                </a:tc>
                <a:tc>
                  <a:txBody>
                    <a:bodyPr/>
                    <a:lstStyle/>
                    <a:p>
                      <a:r>
                        <a:rPr lang="fr-FR" sz="1400" kern="1200" dirty="0" err="1">
                          <a:solidFill>
                            <a:schemeClr val="dk1"/>
                          </a:solidFill>
                          <a:latin typeface="Calibri" panose="020F0502020204030204" pitchFamily="34" charset="0"/>
                          <a:ea typeface="+mn-ea"/>
                          <a:cs typeface="+mn-cs"/>
                        </a:rPr>
                        <a:t>Scatter</a:t>
                      </a:r>
                      <a:r>
                        <a:rPr lang="fr-FR" sz="1400" kern="1200" dirty="0">
                          <a:solidFill>
                            <a:schemeClr val="dk1"/>
                          </a:solidFill>
                          <a:latin typeface="Calibri" panose="020F0502020204030204" pitchFamily="34" charset="0"/>
                          <a:ea typeface="+mn-ea"/>
                          <a:cs typeface="+mn-cs"/>
                        </a:rPr>
                        <a:t> plot</a:t>
                      </a:r>
                    </a:p>
                  </a:txBody>
                  <a:tcPr/>
                </a:tc>
                <a:extLst>
                  <a:ext uri="{0D108BD9-81ED-4DB2-BD59-A6C34878D82A}">
                    <a16:rowId xmlns:a16="http://schemas.microsoft.com/office/drawing/2014/main" val="138773296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Lien entre âge du client et ses fréquences d'achats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400" kern="1200" dirty="0">
                        <a:solidFill>
                          <a:schemeClr val="dk1"/>
                        </a:solidFill>
                        <a:latin typeface="Calibri" panose="020F0502020204030204" pitchFamily="34" charset="0"/>
                        <a:ea typeface="+mn-ea"/>
                        <a:cs typeface="+mn-cs"/>
                      </a:endParaRPr>
                    </a:p>
                  </a:txBody>
                  <a:tcPr marL="72000" marR="7200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Quantitative / Quantitative</a:t>
                      </a:r>
                    </a:p>
                  </a:txBody>
                  <a:tcPr marL="72000" marR="720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Pearson / Spearman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err="1">
                          <a:solidFill>
                            <a:schemeClr val="dk1"/>
                          </a:solidFill>
                          <a:latin typeface="Calibri" panose="020F0502020204030204" pitchFamily="34" charset="0"/>
                          <a:ea typeface="+mn-ea"/>
                          <a:cs typeface="+mn-cs"/>
                        </a:rPr>
                        <a:t>Scatter</a:t>
                      </a:r>
                      <a:r>
                        <a:rPr lang="fr-FR" sz="1400" kern="1200" dirty="0">
                          <a:solidFill>
                            <a:schemeClr val="dk1"/>
                          </a:solidFill>
                          <a:latin typeface="Calibri" panose="020F0502020204030204" pitchFamily="34" charset="0"/>
                          <a:ea typeface="+mn-ea"/>
                          <a:cs typeface="+mn-cs"/>
                        </a:rPr>
                        <a:t> plot</a:t>
                      </a:r>
                    </a:p>
                  </a:txBody>
                  <a:tcPr/>
                </a:tc>
                <a:extLst>
                  <a:ext uri="{0D108BD9-81ED-4DB2-BD59-A6C34878D82A}">
                    <a16:rowId xmlns:a16="http://schemas.microsoft.com/office/drawing/2014/main" val="35421359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Lien entre âge du client et la taille du panier moyen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400" kern="1200" dirty="0">
                        <a:solidFill>
                          <a:schemeClr val="dk1"/>
                        </a:solidFill>
                        <a:latin typeface="Calibri" panose="020F0502020204030204" pitchFamily="34" charset="0"/>
                        <a:ea typeface="+mn-ea"/>
                        <a:cs typeface="+mn-cs"/>
                      </a:endParaRPr>
                    </a:p>
                  </a:txBody>
                  <a:tcPr marL="72000" marR="7200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Quantitative / Moyenne quantitative</a:t>
                      </a:r>
                    </a:p>
                  </a:txBody>
                  <a:tcPr marL="72000" marR="7200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Spearman</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400" kern="1200" dirty="0">
                        <a:solidFill>
                          <a:schemeClr val="dk1"/>
                        </a:solidFill>
                        <a:latin typeface="Calibri" panose="020F0502020204030204" pitchFamily="34"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err="1">
                          <a:solidFill>
                            <a:schemeClr val="dk1"/>
                          </a:solidFill>
                          <a:latin typeface="Calibri" panose="020F0502020204030204" pitchFamily="34" charset="0"/>
                          <a:ea typeface="+mn-ea"/>
                          <a:cs typeface="+mn-cs"/>
                        </a:rPr>
                        <a:t>Scatter</a:t>
                      </a:r>
                      <a:r>
                        <a:rPr lang="fr-FR" sz="1400" kern="1200" dirty="0">
                          <a:solidFill>
                            <a:schemeClr val="dk1"/>
                          </a:solidFill>
                          <a:latin typeface="Calibri" panose="020F0502020204030204" pitchFamily="34" charset="0"/>
                          <a:ea typeface="+mn-ea"/>
                          <a:cs typeface="+mn-cs"/>
                        </a:rPr>
                        <a:t> plot</a:t>
                      </a:r>
                    </a:p>
                  </a:txBody>
                  <a:tcPr/>
                </a:tc>
                <a:extLst>
                  <a:ext uri="{0D108BD9-81ED-4DB2-BD59-A6C34878D82A}">
                    <a16:rowId xmlns:a16="http://schemas.microsoft.com/office/drawing/2014/main" val="214194977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kern="1200" dirty="0">
                          <a:solidFill>
                            <a:schemeClr val="dk1"/>
                          </a:solidFill>
                          <a:latin typeface="Calibri" panose="020F0502020204030204" pitchFamily="34" charset="0"/>
                          <a:ea typeface="+mn-ea"/>
                          <a:cs typeface="+mn-cs"/>
                        </a:rPr>
                        <a:t>Lien entre âge du client et les catégories des livres achetés</a:t>
                      </a:r>
                    </a:p>
                    <a:p>
                      <a:pPr algn="l"/>
                      <a:endParaRPr lang="fr-FR" dirty="0"/>
                    </a:p>
                  </a:txBody>
                  <a:tcPr marL="72000" marR="72000"/>
                </a:tc>
                <a:tc>
                  <a:txBody>
                    <a:bodyPr/>
                    <a:lstStyle/>
                    <a:p>
                      <a:pPr algn="ctr"/>
                      <a:r>
                        <a:rPr lang="fr-FR" sz="1400" kern="1200" dirty="0">
                          <a:solidFill>
                            <a:schemeClr val="dk1"/>
                          </a:solidFill>
                          <a:latin typeface="Calibri" panose="020F0502020204030204" pitchFamily="34" charset="0"/>
                          <a:ea typeface="+mn-ea"/>
                          <a:cs typeface="+mn-cs"/>
                        </a:rPr>
                        <a:t>Quantitative / Qualitative</a:t>
                      </a:r>
                    </a:p>
                  </a:txBody>
                  <a:tcPr marL="72000" marR="72000"/>
                </a:tc>
                <a:tc>
                  <a:txBody>
                    <a:bodyPr/>
                    <a:lstStyle/>
                    <a:p>
                      <a:r>
                        <a:rPr lang="fr-FR" sz="1400" kern="1200" dirty="0" err="1">
                          <a:solidFill>
                            <a:schemeClr val="dk1"/>
                          </a:solidFill>
                          <a:latin typeface="Calibri" panose="020F0502020204030204" pitchFamily="34" charset="0"/>
                          <a:ea typeface="+mn-ea"/>
                          <a:cs typeface="+mn-cs"/>
                        </a:rPr>
                        <a:t>Anova</a:t>
                      </a:r>
                      <a:r>
                        <a:rPr lang="fr-FR" sz="1400" kern="1200" dirty="0">
                          <a:solidFill>
                            <a:schemeClr val="dk1"/>
                          </a:solidFill>
                          <a:latin typeface="Calibri" panose="020F0502020204030204" pitchFamily="34" charset="0"/>
                          <a:ea typeface="+mn-ea"/>
                          <a:cs typeface="+mn-cs"/>
                        </a:rPr>
                        <a:t> /</a:t>
                      </a:r>
                      <a:r>
                        <a:rPr lang="fr-FR" sz="1400" kern="1200" dirty="0" err="1">
                          <a:solidFill>
                            <a:schemeClr val="dk1"/>
                          </a:solidFill>
                          <a:latin typeface="Calibri" panose="020F0502020204030204" pitchFamily="34" charset="0"/>
                          <a:ea typeface="+mn-ea"/>
                          <a:cs typeface="+mn-cs"/>
                        </a:rPr>
                        <a:t>Kruskal</a:t>
                      </a:r>
                      <a:r>
                        <a:rPr lang="fr-FR" sz="1400" kern="1200" dirty="0">
                          <a:solidFill>
                            <a:schemeClr val="dk1"/>
                          </a:solidFill>
                          <a:latin typeface="Calibri" panose="020F0502020204030204" pitchFamily="34" charset="0"/>
                          <a:ea typeface="+mn-ea"/>
                          <a:cs typeface="+mn-cs"/>
                        </a:rPr>
                        <a:t>-Wallis</a:t>
                      </a:r>
                    </a:p>
                  </a:txBody>
                  <a:tcPr/>
                </a:tc>
                <a:tc>
                  <a:txBody>
                    <a:bodyPr/>
                    <a:lstStyle/>
                    <a:p>
                      <a:r>
                        <a:rPr lang="fr-FR" sz="1400" kern="1200" dirty="0" err="1">
                          <a:solidFill>
                            <a:schemeClr val="dk1"/>
                          </a:solidFill>
                          <a:latin typeface="Calibri" panose="020F0502020204030204" pitchFamily="34" charset="0"/>
                          <a:ea typeface="+mn-ea"/>
                          <a:cs typeface="+mn-cs"/>
                        </a:rPr>
                        <a:t>Boxplot</a:t>
                      </a:r>
                      <a:endParaRPr lang="fr-FR" sz="1400" kern="1200" dirty="0">
                        <a:solidFill>
                          <a:schemeClr val="dk1"/>
                        </a:solidFill>
                        <a:latin typeface="Calibri" panose="020F0502020204030204" pitchFamily="34" charset="0"/>
                        <a:ea typeface="+mn-ea"/>
                        <a:cs typeface="+mn-cs"/>
                      </a:endParaRPr>
                    </a:p>
                  </a:txBody>
                  <a:tcPr/>
                </a:tc>
                <a:extLst>
                  <a:ext uri="{0D108BD9-81ED-4DB2-BD59-A6C34878D82A}">
                    <a16:rowId xmlns:a16="http://schemas.microsoft.com/office/drawing/2014/main" val="3512704118"/>
                  </a:ext>
                </a:extLst>
              </a:tr>
            </a:tbl>
          </a:graphicData>
        </a:graphic>
      </p:graphicFrame>
    </p:spTree>
    <p:extLst>
      <p:ext uri="{BB962C8B-B14F-4D97-AF65-F5344CB8AC3E}">
        <p14:creationId xmlns:p14="http://schemas.microsoft.com/office/powerpoint/2010/main" val="33559603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0E651-E7E8-7DC3-189C-A4E3DB9607F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D334B99-7487-C1DA-9034-F05AD3AB4D10}"/>
              </a:ext>
            </a:extLst>
          </p:cNvPr>
          <p:cNvSpPr>
            <a:spLocks noGrp="1"/>
          </p:cNvSpPr>
          <p:nvPr>
            <p:ph type="title"/>
          </p:nvPr>
        </p:nvSpPr>
        <p:spPr/>
        <p:txBody>
          <a:bodyPr/>
          <a:lstStyle/>
          <a:p>
            <a:r>
              <a:rPr lang="fr-FR" dirty="0"/>
              <a:t>Analyse des comportements en ligne : Test 1</a:t>
            </a:r>
          </a:p>
        </p:txBody>
      </p:sp>
      <p:sp>
        <p:nvSpPr>
          <p:cNvPr id="3" name="Espace réservé du contenu 2">
            <a:extLst>
              <a:ext uri="{FF2B5EF4-FFF2-40B4-BE49-F238E27FC236}">
                <a16:creationId xmlns:a16="http://schemas.microsoft.com/office/drawing/2014/main" id="{90FDFEE9-7F8D-058D-562F-3E01F8CC6BC6}"/>
              </a:ext>
            </a:extLst>
          </p:cNvPr>
          <p:cNvSpPr>
            <a:spLocks noGrp="1"/>
          </p:cNvSpPr>
          <p:nvPr>
            <p:ph idx="1"/>
          </p:nvPr>
        </p:nvSpPr>
        <p:spPr>
          <a:xfrm>
            <a:off x="276455" y="926822"/>
            <a:ext cx="11021465" cy="5004356"/>
          </a:xfrm>
        </p:spPr>
        <p:txBody>
          <a:bodyPr>
            <a:normAutofit/>
          </a:bodyPr>
          <a:lstStyle/>
          <a:p>
            <a:pPr marL="0" indent="0">
              <a:buNone/>
            </a:pPr>
            <a:r>
              <a:rPr lang="fr-FR" sz="1600" b="1" dirty="0">
                <a:latin typeface="Calibri" panose="020F0502020204030204" pitchFamily="34" charset="0"/>
              </a:rPr>
              <a:t>Question :  </a:t>
            </a:r>
            <a:r>
              <a:rPr lang="fr-FR" sz="1600" dirty="0">
                <a:latin typeface="Calibri" panose="020F0502020204030204" pitchFamily="34" charset="0"/>
              </a:rPr>
              <a:t>Existe-t-il un lien entre le </a:t>
            </a:r>
            <a:r>
              <a:rPr lang="fr-FR" sz="1600" b="1" u="sng" dirty="0">
                <a:latin typeface="Calibri" panose="020F0502020204030204" pitchFamily="34" charset="0"/>
              </a:rPr>
              <a:t>genre d'un client</a:t>
            </a:r>
            <a:r>
              <a:rPr lang="fr-FR" sz="1600" dirty="0">
                <a:latin typeface="Calibri" panose="020F0502020204030204" pitchFamily="34" charset="0"/>
              </a:rPr>
              <a:t> et les </a:t>
            </a:r>
            <a:r>
              <a:rPr lang="fr-FR" sz="1600" b="1" u="sng" dirty="0">
                <a:latin typeface="Calibri" panose="020F0502020204030204" pitchFamily="34" charset="0"/>
              </a:rPr>
              <a:t>catégories des livres achetés</a:t>
            </a:r>
          </a:p>
          <a:p>
            <a:pPr marL="0" indent="0">
              <a:buNone/>
            </a:pPr>
            <a:r>
              <a:rPr lang="fr-FR" sz="1600" b="1" dirty="0"/>
              <a:t>Hypothèses : </a:t>
            </a:r>
          </a:p>
          <a:p>
            <a:pPr marL="457200" lvl="1" indent="0">
              <a:buNone/>
            </a:pPr>
            <a:r>
              <a:rPr lang="fr-FR" sz="1200" dirty="0"/>
              <a:t>H0 : Il n’existe pas de lien entre le genre d’un client et les catégories de livres achetés</a:t>
            </a:r>
          </a:p>
          <a:p>
            <a:pPr marL="457200" lvl="1" indent="0">
              <a:buNone/>
            </a:pPr>
            <a:r>
              <a:rPr lang="fr-FR" sz="1200" dirty="0"/>
              <a:t>H1 : Il peut exister un lien entre le genre d’un client et les catégories de livres achetés</a:t>
            </a:r>
          </a:p>
          <a:p>
            <a:pPr marL="0" lvl="1" indent="0">
              <a:spcBef>
                <a:spcPts val="1000"/>
              </a:spcBef>
              <a:buNone/>
            </a:pPr>
            <a:r>
              <a:rPr lang="fr-FR" sz="1600" b="1" dirty="0"/>
              <a:t>Choix du test statistique : </a:t>
            </a:r>
          </a:p>
          <a:p>
            <a:pPr marL="0" lvl="1" indent="0">
              <a:spcBef>
                <a:spcPts val="1000"/>
              </a:spcBef>
              <a:buNone/>
            </a:pPr>
            <a:r>
              <a:rPr lang="fr-FR" sz="1200" dirty="0"/>
              <a:t>Sélection du test de Chi² car il s’agit de valeurs qualitatives (Genre et Catégorie),</a:t>
            </a:r>
          </a:p>
          <a:p>
            <a:pPr marL="0" lvl="1" indent="0">
              <a:spcBef>
                <a:spcPts val="1000"/>
              </a:spcBef>
              <a:buNone/>
            </a:pPr>
            <a:r>
              <a:rPr lang="fr-FR" sz="1200" dirty="0"/>
              <a:t> et construction d’un test de contingence de (2 x 3.)</a:t>
            </a:r>
          </a:p>
          <a:p>
            <a:pPr marL="0" lvl="1" indent="0">
              <a:spcBef>
                <a:spcPts val="1000"/>
              </a:spcBef>
              <a:buNone/>
            </a:pPr>
            <a:r>
              <a:rPr lang="fr-FR" sz="1600" b="1" dirty="0"/>
              <a:t>Conclusion :</a:t>
            </a:r>
          </a:p>
          <a:p>
            <a:pPr marL="0" lvl="1" indent="0">
              <a:spcBef>
                <a:spcPts val="1000"/>
              </a:spcBef>
              <a:buNone/>
            </a:pPr>
            <a:r>
              <a:rPr lang="fr-FR" sz="1200" dirty="0"/>
              <a:t>Le test donne un Chi² de 20,21 et une « </a:t>
            </a:r>
            <a:r>
              <a:rPr lang="fr-FR" sz="1200" dirty="0" err="1"/>
              <a:t>p_value</a:t>
            </a:r>
            <a:r>
              <a:rPr lang="fr-FR" sz="1200" dirty="0"/>
              <a:t> » de 0. </a:t>
            </a:r>
          </a:p>
          <a:p>
            <a:pPr marL="0" lvl="1" indent="0">
              <a:spcBef>
                <a:spcPts val="1000"/>
              </a:spcBef>
              <a:buNone/>
            </a:pPr>
            <a:r>
              <a:rPr lang="fr-FR" sz="1200" dirty="0"/>
              <a:t>L’hypothèse 0 est rejetée, avec un indice de confiance élevé en raison </a:t>
            </a:r>
          </a:p>
          <a:p>
            <a:pPr marL="0" lvl="1" indent="0">
              <a:spcBef>
                <a:spcPts val="1000"/>
              </a:spcBef>
              <a:buNone/>
            </a:pPr>
            <a:r>
              <a:rPr lang="fr-FR" sz="1200" dirty="0"/>
              <a:t>d’un </a:t>
            </a:r>
            <a:r>
              <a:rPr lang="fr-FR" sz="1200" dirty="0" err="1"/>
              <a:t>p_value</a:t>
            </a:r>
            <a:r>
              <a:rPr lang="fr-FR" sz="1200" dirty="0"/>
              <a:t> à 0.</a:t>
            </a:r>
          </a:p>
        </p:txBody>
      </p:sp>
      <p:pic>
        <p:nvPicPr>
          <p:cNvPr id="8" name="Image 7">
            <a:extLst>
              <a:ext uri="{FF2B5EF4-FFF2-40B4-BE49-F238E27FC236}">
                <a16:creationId xmlns:a16="http://schemas.microsoft.com/office/drawing/2014/main" id="{8973710A-EF48-6A73-371B-332463A97546}"/>
              </a:ext>
            </a:extLst>
          </p:cNvPr>
          <p:cNvPicPr>
            <a:picLocks noChangeAspect="1"/>
          </p:cNvPicPr>
          <p:nvPr/>
        </p:nvPicPr>
        <p:blipFill>
          <a:blip r:embed="rId2"/>
          <a:stretch>
            <a:fillRect/>
          </a:stretch>
        </p:blipFill>
        <p:spPr>
          <a:xfrm>
            <a:off x="5895605" y="2871598"/>
            <a:ext cx="5724895" cy="2934524"/>
          </a:xfrm>
          <a:prstGeom prst="rect">
            <a:avLst/>
          </a:prstGeom>
        </p:spPr>
      </p:pic>
      <p:sp>
        <p:nvSpPr>
          <p:cNvPr id="4" name="Rectangle : coins arrondis 3">
            <a:extLst>
              <a:ext uri="{FF2B5EF4-FFF2-40B4-BE49-F238E27FC236}">
                <a16:creationId xmlns:a16="http://schemas.microsoft.com/office/drawing/2014/main" id="{3D7DD820-4D1B-6280-AA40-B693EF72F05D}"/>
              </a:ext>
            </a:extLst>
          </p:cNvPr>
          <p:cNvSpPr/>
          <p:nvPr/>
        </p:nvSpPr>
        <p:spPr>
          <a:xfrm>
            <a:off x="381458" y="4724400"/>
            <a:ext cx="5345632" cy="1348596"/>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lvl="1" indent="0">
              <a:spcBef>
                <a:spcPts val="1000"/>
              </a:spcBef>
              <a:buNone/>
            </a:pPr>
            <a:r>
              <a:rPr lang="fr-FR" sz="1800" dirty="0"/>
              <a:t>Il existe un lien entre le genre du client et la catégorie de livres achetée</a:t>
            </a:r>
          </a:p>
        </p:txBody>
      </p:sp>
    </p:spTree>
    <p:extLst>
      <p:ext uri="{BB962C8B-B14F-4D97-AF65-F5344CB8AC3E}">
        <p14:creationId xmlns:p14="http://schemas.microsoft.com/office/powerpoint/2010/main" val="20129916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A406A7-798F-1BA0-C195-DC420F0C2AA4}"/>
              </a:ext>
            </a:extLst>
          </p:cNvPr>
          <p:cNvSpPr>
            <a:spLocks noGrp="1"/>
          </p:cNvSpPr>
          <p:nvPr>
            <p:ph type="title"/>
          </p:nvPr>
        </p:nvSpPr>
        <p:spPr/>
        <p:txBody>
          <a:bodyPr/>
          <a:lstStyle/>
          <a:p>
            <a:r>
              <a:rPr lang="fr-FR" dirty="0"/>
              <a:t>Analyse des comportements en ligne : Test 2</a:t>
            </a:r>
          </a:p>
        </p:txBody>
      </p:sp>
      <p:sp>
        <p:nvSpPr>
          <p:cNvPr id="3" name="Espace réservé du contenu 2">
            <a:extLst>
              <a:ext uri="{FF2B5EF4-FFF2-40B4-BE49-F238E27FC236}">
                <a16:creationId xmlns:a16="http://schemas.microsoft.com/office/drawing/2014/main" id="{DC7F97E9-F9C6-90B2-64BD-68E642F37823}"/>
              </a:ext>
            </a:extLst>
          </p:cNvPr>
          <p:cNvSpPr>
            <a:spLocks noGrp="1"/>
          </p:cNvSpPr>
          <p:nvPr>
            <p:ph idx="1"/>
          </p:nvPr>
        </p:nvSpPr>
        <p:spPr>
          <a:xfrm>
            <a:off x="291060" y="926822"/>
            <a:ext cx="10691265" cy="5004356"/>
          </a:xfrm>
        </p:spPr>
        <p:txBody>
          <a:bodyPr>
            <a:normAutofit/>
          </a:bodyPr>
          <a:lstStyle/>
          <a:p>
            <a:pPr marL="0" indent="0">
              <a:buNone/>
            </a:pPr>
            <a:r>
              <a:rPr lang="fr-FR" sz="1600" b="1" dirty="0"/>
              <a:t>Question : </a:t>
            </a:r>
            <a:r>
              <a:rPr lang="fr-FR" sz="1600" dirty="0">
                <a:latin typeface="Calibri" panose="020F0502020204030204" pitchFamily="34" charset="0"/>
              </a:rPr>
              <a:t>Existe-t-il un lien entre </a:t>
            </a:r>
            <a:r>
              <a:rPr lang="fr-FR" sz="1600" b="1" u="sng" dirty="0">
                <a:latin typeface="Calibri" panose="020F0502020204030204" pitchFamily="34" charset="0"/>
              </a:rPr>
              <a:t>l’âge du client</a:t>
            </a:r>
            <a:r>
              <a:rPr lang="fr-FR" sz="1600" dirty="0">
                <a:latin typeface="Calibri" panose="020F0502020204030204" pitchFamily="34" charset="0"/>
              </a:rPr>
              <a:t> et le </a:t>
            </a:r>
            <a:r>
              <a:rPr lang="fr-FR" sz="1600" b="1" u="sng" dirty="0">
                <a:latin typeface="Calibri" panose="020F0502020204030204" pitchFamily="34" charset="0"/>
              </a:rPr>
              <a:t>montant total des achats</a:t>
            </a:r>
          </a:p>
          <a:p>
            <a:pPr marL="0" indent="0">
              <a:buNone/>
            </a:pPr>
            <a:r>
              <a:rPr lang="fr-FR" sz="1600" b="1" dirty="0"/>
              <a:t>Hypothèses : </a:t>
            </a:r>
          </a:p>
          <a:p>
            <a:pPr marL="457200" lvl="1" indent="0">
              <a:buNone/>
            </a:pPr>
            <a:r>
              <a:rPr lang="fr-FR" sz="1200" dirty="0"/>
              <a:t>H0 : Il n’existe pas de lien entre l’âge du client et le montant total des achats</a:t>
            </a:r>
          </a:p>
          <a:p>
            <a:pPr marL="457200" lvl="1" indent="0">
              <a:buNone/>
            </a:pPr>
            <a:r>
              <a:rPr lang="fr-FR" sz="1200" dirty="0"/>
              <a:t>H1 : Il peut exister un lien entre l’âge du client et le montant total des achats</a:t>
            </a:r>
          </a:p>
          <a:p>
            <a:pPr marL="0" lvl="1" indent="0">
              <a:spcBef>
                <a:spcPts val="1000"/>
              </a:spcBef>
              <a:buNone/>
            </a:pPr>
            <a:r>
              <a:rPr lang="fr-FR" sz="1600" b="1" dirty="0"/>
              <a:t>Choix du test statistique : </a:t>
            </a:r>
          </a:p>
          <a:p>
            <a:pPr marL="0" lvl="1" indent="0">
              <a:spcBef>
                <a:spcPts val="1000"/>
              </a:spcBef>
              <a:buNone/>
            </a:pPr>
            <a:r>
              <a:rPr lang="fr-FR" sz="1200" dirty="0"/>
              <a:t>Les deux variables (âge du client et Montant total d’achats) sont quantitatives, les données ne suivent pas une distribution normale et la relation entre les variables est linéaire, ce qui correspond </a:t>
            </a:r>
            <a:r>
              <a:rPr lang="fr-FR" sz="1200" b="1" dirty="0"/>
              <a:t>aux conditions d'application du test de Spearman</a:t>
            </a:r>
            <a:r>
              <a:rPr lang="fr-FR" sz="1200" dirty="0"/>
              <a:t>.</a:t>
            </a:r>
          </a:p>
          <a:p>
            <a:pPr marL="0" lvl="1" indent="0">
              <a:spcBef>
                <a:spcPts val="1000"/>
              </a:spcBef>
              <a:buNone/>
            </a:pPr>
            <a:r>
              <a:rPr lang="fr-FR" sz="1600" b="1" dirty="0"/>
              <a:t>Conclusion : </a:t>
            </a:r>
          </a:p>
          <a:p>
            <a:pPr marL="0" lvl="1" indent="0">
              <a:spcBef>
                <a:spcPts val="1000"/>
              </a:spcBef>
              <a:buNone/>
            </a:pPr>
            <a:r>
              <a:rPr lang="fr-FR" sz="1200" dirty="0"/>
              <a:t>Le test de Spearman donne un coefficient négatif et élevé de -0,87 et une « </a:t>
            </a:r>
            <a:r>
              <a:rPr lang="fr-FR" sz="1200" dirty="0" err="1"/>
              <a:t>p_value</a:t>
            </a:r>
            <a:r>
              <a:rPr lang="fr-FR" sz="1200" dirty="0"/>
              <a:t> » de 0. </a:t>
            </a:r>
          </a:p>
          <a:p>
            <a:pPr marL="0" lvl="1" indent="0">
              <a:spcBef>
                <a:spcPts val="1000"/>
              </a:spcBef>
              <a:buNone/>
            </a:pPr>
            <a:r>
              <a:rPr lang="fr-FR" sz="1200" dirty="0"/>
              <a:t>L’hypothèse 0 est rejetée, avec un indice de confiance élevé en raison d’un </a:t>
            </a:r>
            <a:r>
              <a:rPr lang="fr-FR" sz="1200" dirty="0" err="1"/>
              <a:t>p_value</a:t>
            </a:r>
            <a:r>
              <a:rPr lang="fr-FR" sz="1200" dirty="0"/>
              <a:t> à 0.</a:t>
            </a:r>
          </a:p>
          <a:p>
            <a:pPr marL="0" lvl="1" indent="0">
              <a:spcBef>
                <a:spcPts val="1000"/>
              </a:spcBef>
              <a:buNone/>
            </a:pPr>
            <a:endParaRPr lang="fr-FR" sz="1600" b="1" dirty="0"/>
          </a:p>
        </p:txBody>
      </p:sp>
      <p:pic>
        <p:nvPicPr>
          <p:cNvPr id="5" name="Image 4">
            <a:extLst>
              <a:ext uri="{FF2B5EF4-FFF2-40B4-BE49-F238E27FC236}">
                <a16:creationId xmlns:a16="http://schemas.microsoft.com/office/drawing/2014/main" id="{6D74D3AC-1B31-97A5-CF3B-3CB1C5CED6C6}"/>
              </a:ext>
            </a:extLst>
          </p:cNvPr>
          <p:cNvPicPr>
            <a:picLocks noChangeAspect="1"/>
          </p:cNvPicPr>
          <p:nvPr/>
        </p:nvPicPr>
        <p:blipFill>
          <a:blip r:embed="rId2"/>
          <a:stretch>
            <a:fillRect/>
          </a:stretch>
        </p:blipFill>
        <p:spPr>
          <a:xfrm>
            <a:off x="6581161" y="2919781"/>
            <a:ext cx="4401164" cy="3153215"/>
          </a:xfrm>
          <a:prstGeom prst="rect">
            <a:avLst/>
          </a:prstGeom>
        </p:spPr>
      </p:pic>
      <p:sp>
        <p:nvSpPr>
          <p:cNvPr id="4" name="Rectangle : coins arrondis 3">
            <a:extLst>
              <a:ext uri="{FF2B5EF4-FFF2-40B4-BE49-F238E27FC236}">
                <a16:creationId xmlns:a16="http://schemas.microsoft.com/office/drawing/2014/main" id="{FC40AACB-11A5-11B3-FF25-D13A1A68E70F}"/>
              </a:ext>
            </a:extLst>
          </p:cNvPr>
          <p:cNvSpPr/>
          <p:nvPr/>
        </p:nvSpPr>
        <p:spPr>
          <a:xfrm>
            <a:off x="291060" y="4296696"/>
            <a:ext cx="6168734" cy="1634481"/>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lvl="1" indent="0">
              <a:spcBef>
                <a:spcPts val="1000"/>
              </a:spcBef>
              <a:buNone/>
            </a:pPr>
            <a:r>
              <a:rPr lang="fr-FR" sz="1800" dirty="0"/>
              <a:t>Il existe une forte </a:t>
            </a:r>
            <a:r>
              <a:rPr lang="fr-FR" sz="1800" b="1" dirty="0"/>
              <a:t>corrélation négative </a:t>
            </a:r>
            <a:r>
              <a:rPr lang="fr-FR" sz="1800" dirty="0"/>
              <a:t>entre l’âge du client et le montant des achats. Comme le montre le graphique, les clients d’un âge avancé consomme moins que leurs cadets</a:t>
            </a:r>
          </a:p>
        </p:txBody>
      </p:sp>
    </p:spTree>
    <p:extLst>
      <p:ext uri="{BB962C8B-B14F-4D97-AF65-F5344CB8AC3E}">
        <p14:creationId xmlns:p14="http://schemas.microsoft.com/office/powerpoint/2010/main" val="646559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27F3-42F4-F7D7-9D5A-7782AD59B18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1634CA-13F6-8A0D-A1E6-390C13B939E7}"/>
              </a:ext>
            </a:extLst>
          </p:cNvPr>
          <p:cNvSpPr>
            <a:spLocks noGrp="1"/>
          </p:cNvSpPr>
          <p:nvPr>
            <p:ph type="title"/>
          </p:nvPr>
        </p:nvSpPr>
        <p:spPr/>
        <p:txBody>
          <a:bodyPr/>
          <a:lstStyle/>
          <a:p>
            <a:r>
              <a:rPr lang="fr-FR" dirty="0"/>
              <a:t>Analyse des comportements en ligne : Test 3</a:t>
            </a:r>
          </a:p>
        </p:txBody>
      </p:sp>
      <p:sp>
        <p:nvSpPr>
          <p:cNvPr id="3" name="Espace réservé du contenu 2">
            <a:extLst>
              <a:ext uri="{FF2B5EF4-FFF2-40B4-BE49-F238E27FC236}">
                <a16:creationId xmlns:a16="http://schemas.microsoft.com/office/drawing/2014/main" id="{675735E9-EC2C-D4F4-F881-47480CBC2743}"/>
              </a:ext>
            </a:extLst>
          </p:cNvPr>
          <p:cNvSpPr>
            <a:spLocks noGrp="1"/>
          </p:cNvSpPr>
          <p:nvPr>
            <p:ph idx="1"/>
          </p:nvPr>
        </p:nvSpPr>
        <p:spPr>
          <a:xfrm>
            <a:off x="297513" y="926822"/>
            <a:ext cx="10691265" cy="5004356"/>
          </a:xfrm>
        </p:spPr>
        <p:txBody>
          <a:bodyPr/>
          <a:lstStyle/>
          <a:p>
            <a:pPr marL="0" indent="0">
              <a:buNone/>
            </a:pPr>
            <a:r>
              <a:rPr lang="fr-FR" sz="1600" b="1" dirty="0">
                <a:latin typeface="Calibri" panose="020F0502020204030204" pitchFamily="34" charset="0"/>
              </a:rPr>
              <a:t>Question : </a:t>
            </a:r>
            <a:r>
              <a:rPr lang="fr-FR" sz="1400" dirty="0">
                <a:latin typeface="Calibri" panose="020F0502020204030204" pitchFamily="34" charset="0"/>
              </a:rPr>
              <a:t>Existe-t-il un lien entre </a:t>
            </a:r>
            <a:r>
              <a:rPr lang="fr-FR" sz="1400" b="1" u="sng" dirty="0">
                <a:latin typeface="Calibri" panose="020F0502020204030204" pitchFamily="34" charset="0"/>
              </a:rPr>
              <a:t>l’âge du client</a:t>
            </a:r>
            <a:r>
              <a:rPr lang="fr-FR" sz="1400" dirty="0">
                <a:latin typeface="Calibri" panose="020F0502020204030204" pitchFamily="34" charset="0"/>
              </a:rPr>
              <a:t> et ses </a:t>
            </a:r>
            <a:r>
              <a:rPr lang="fr-FR" sz="1400" b="1" u="sng" dirty="0">
                <a:latin typeface="Calibri" panose="020F0502020204030204" pitchFamily="34" charset="0"/>
              </a:rPr>
              <a:t>fréquences d'achats</a:t>
            </a:r>
          </a:p>
          <a:p>
            <a:pPr marL="0" indent="0">
              <a:buNone/>
            </a:pPr>
            <a:r>
              <a:rPr lang="fr-FR" sz="1600" b="1" dirty="0"/>
              <a:t>Hypothèses : </a:t>
            </a:r>
          </a:p>
          <a:p>
            <a:pPr marL="457200" lvl="1" indent="0">
              <a:buNone/>
            </a:pPr>
            <a:r>
              <a:rPr lang="fr-FR" sz="1200" dirty="0"/>
              <a:t>H0 : Il n’existe pas de lien entre l’</a:t>
            </a:r>
            <a:r>
              <a:rPr lang="fr-FR" sz="1200" kern="1200" dirty="0">
                <a:solidFill>
                  <a:schemeClr val="dk1"/>
                </a:solidFill>
                <a:latin typeface="Calibri" panose="020F0502020204030204" pitchFamily="34" charset="0"/>
                <a:ea typeface="+mn-ea"/>
                <a:cs typeface="+mn-cs"/>
              </a:rPr>
              <a:t>âge du client</a:t>
            </a:r>
            <a:r>
              <a:rPr lang="fr-FR" sz="1200" dirty="0"/>
              <a:t> et </a:t>
            </a:r>
            <a:r>
              <a:rPr lang="fr-FR" sz="1200" dirty="0">
                <a:latin typeface="Calibri" panose="020F0502020204030204" pitchFamily="34" charset="0"/>
              </a:rPr>
              <a:t>ses fréquences d'achats</a:t>
            </a:r>
            <a:endParaRPr lang="fr-FR" sz="1200" dirty="0"/>
          </a:p>
          <a:p>
            <a:pPr marL="457200" lvl="1" indent="0">
              <a:buNone/>
            </a:pPr>
            <a:r>
              <a:rPr lang="fr-FR" sz="1200" dirty="0"/>
              <a:t>H1 : Il peut exister un lien entre l’</a:t>
            </a:r>
            <a:r>
              <a:rPr lang="fr-FR" sz="1200" kern="1200" dirty="0">
                <a:solidFill>
                  <a:schemeClr val="dk1"/>
                </a:solidFill>
                <a:latin typeface="Calibri" panose="020F0502020204030204" pitchFamily="34" charset="0"/>
                <a:ea typeface="+mn-ea"/>
                <a:cs typeface="+mn-cs"/>
              </a:rPr>
              <a:t>âge du client</a:t>
            </a:r>
            <a:r>
              <a:rPr lang="fr-FR" sz="1200" dirty="0"/>
              <a:t> et </a:t>
            </a:r>
            <a:r>
              <a:rPr lang="fr-FR" sz="1200" dirty="0">
                <a:latin typeface="Calibri" panose="020F0502020204030204" pitchFamily="34" charset="0"/>
              </a:rPr>
              <a:t>ses fréquences d'achats</a:t>
            </a:r>
            <a:endParaRPr lang="fr-FR" sz="1200" dirty="0"/>
          </a:p>
          <a:p>
            <a:pPr marL="0" lvl="1" indent="0">
              <a:spcBef>
                <a:spcPts val="1000"/>
              </a:spcBef>
              <a:buNone/>
            </a:pPr>
            <a:r>
              <a:rPr lang="fr-FR" sz="1600" b="1" dirty="0"/>
              <a:t>Choix du test statistique : </a:t>
            </a:r>
          </a:p>
          <a:p>
            <a:pPr marL="0" lvl="1" indent="0">
              <a:spcBef>
                <a:spcPts val="1000"/>
              </a:spcBef>
              <a:buNone/>
            </a:pPr>
            <a:r>
              <a:rPr lang="fr-FR" sz="1200" dirty="0"/>
              <a:t>Les deux variables (</a:t>
            </a:r>
            <a:r>
              <a:rPr lang="fr-FR" sz="1200" dirty="0" err="1"/>
              <a:t>age</a:t>
            </a:r>
            <a:r>
              <a:rPr lang="fr-FR" sz="1200" dirty="0"/>
              <a:t> du client et fréquences d’achats) sont quantitatives, les données ne suivent pas une distribution normale et la relation entre les variables est linéaire, ce qui correspond aux conditions d'application du test de </a:t>
            </a:r>
            <a:r>
              <a:rPr lang="fr-FR" sz="1200" b="1" dirty="0"/>
              <a:t>Spearman</a:t>
            </a:r>
            <a:r>
              <a:rPr lang="fr-FR" sz="1200" dirty="0"/>
              <a:t>.</a:t>
            </a:r>
          </a:p>
          <a:p>
            <a:pPr marL="0" lvl="1" indent="0">
              <a:spcBef>
                <a:spcPts val="1000"/>
              </a:spcBef>
              <a:buNone/>
            </a:pPr>
            <a:r>
              <a:rPr lang="fr-FR" sz="1600" b="1" dirty="0"/>
              <a:t>Conclusion :</a:t>
            </a:r>
          </a:p>
          <a:p>
            <a:pPr marL="0" lvl="1" indent="0">
              <a:spcBef>
                <a:spcPts val="1000"/>
              </a:spcBef>
              <a:buNone/>
            </a:pPr>
            <a:r>
              <a:rPr lang="fr-FR" sz="1200" dirty="0"/>
              <a:t>Le test de Spearman donne un coefficient négatif de -0,67 et une « </a:t>
            </a:r>
            <a:r>
              <a:rPr lang="fr-FR" sz="1200" dirty="0" err="1"/>
              <a:t>p_value</a:t>
            </a:r>
            <a:r>
              <a:rPr lang="fr-FR" sz="1200" dirty="0"/>
              <a:t> » de 0. </a:t>
            </a:r>
          </a:p>
          <a:p>
            <a:pPr marL="0" lvl="1" indent="0">
              <a:spcBef>
                <a:spcPts val="1000"/>
              </a:spcBef>
              <a:buNone/>
            </a:pPr>
            <a:r>
              <a:rPr lang="fr-FR" sz="1200" dirty="0"/>
              <a:t>L’hypothèse </a:t>
            </a:r>
            <a:r>
              <a:rPr lang="fr-FR" sz="1200" b="1" dirty="0"/>
              <a:t>0 est rejetée</a:t>
            </a:r>
            <a:r>
              <a:rPr lang="fr-FR" sz="1200" dirty="0"/>
              <a:t>, avec un indice de confiance élevé en raison d’un </a:t>
            </a:r>
            <a:r>
              <a:rPr lang="fr-FR" sz="1200" dirty="0" err="1"/>
              <a:t>p_value</a:t>
            </a:r>
            <a:r>
              <a:rPr lang="fr-FR" sz="1200" dirty="0"/>
              <a:t> à 0.</a:t>
            </a:r>
          </a:p>
          <a:p>
            <a:pPr marL="0" lvl="1" indent="0">
              <a:spcBef>
                <a:spcPts val="1000"/>
              </a:spcBef>
              <a:buNone/>
            </a:pPr>
            <a:endParaRPr lang="fr-FR" sz="1600" b="1" dirty="0"/>
          </a:p>
        </p:txBody>
      </p:sp>
      <p:pic>
        <p:nvPicPr>
          <p:cNvPr id="5" name="Image 4">
            <a:extLst>
              <a:ext uri="{FF2B5EF4-FFF2-40B4-BE49-F238E27FC236}">
                <a16:creationId xmlns:a16="http://schemas.microsoft.com/office/drawing/2014/main" id="{D6FAE809-8B1D-67B6-5031-B863B14496A7}"/>
              </a:ext>
            </a:extLst>
          </p:cNvPr>
          <p:cNvPicPr>
            <a:picLocks noChangeAspect="1"/>
          </p:cNvPicPr>
          <p:nvPr/>
        </p:nvPicPr>
        <p:blipFill>
          <a:blip r:embed="rId2"/>
          <a:stretch>
            <a:fillRect/>
          </a:stretch>
        </p:blipFill>
        <p:spPr>
          <a:xfrm>
            <a:off x="6651841" y="2966815"/>
            <a:ext cx="4092417" cy="3106181"/>
          </a:xfrm>
          <a:prstGeom prst="rect">
            <a:avLst/>
          </a:prstGeom>
        </p:spPr>
      </p:pic>
      <p:sp>
        <p:nvSpPr>
          <p:cNvPr id="4" name="Rectangle : coins arrondis 3">
            <a:extLst>
              <a:ext uri="{FF2B5EF4-FFF2-40B4-BE49-F238E27FC236}">
                <a16:creationId xmlns:a16="http://schemas.microsoft.com/office/drawing/2014/main" id="{041ABDB0-9A8C-6D3B-460B-B2FC21955167}"/>
              </a:ext>
            </a:extLst>
          </p:cNvPr>
          <p:cNvSpPr/>
          <p:nvPr/>
        </p:nvSpPr>
        <p:spPr>
          <a:xfrm>
            <a:off x="390310" y="4367606"/>
            <a:ext cx="6168734" cy="1634481"/>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lvl="1" indent="0">
              <a:spcBef>
                <a:spcPts val="1000"/>
              </a:spcBef>
              <a:buNone/>
            </a:pPr>
            <a:r>
              <a:rPr lang="fr-FR" sz="1800" dirty="0"/>
              <a:t>Il existe bien une </a:t>
            </a:r>
            <a:r>
              <a:rPr lang="fr-FR" sz="1800" b="1" dirty="0"/>
              <a:t>corrélation négative </a:t>
            </a:r>
            <a:r>
              <a:rPr lang="fr-FR" sz="1800" dirty="0"/>
              <a:t>entre l’âge du client et la fréquence d’achats</a:t>
            </a:r>
          </a:p>
        </p:txBody>
      </p:sp>
    </p:spTree>
    <p:extLst>
      <p:ext uri="{BB962C8B-B14F-4D97-AF65-F5344CB8AC3E}">
        <p14:creationId xmlns:p14="http://schemas.microsoft.com/office/powerpoint/2010/main" val="2787332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F751E-1485-557F-0ECB-1F4586F8A89E}"/>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00D6E55-6FA5-16D2-7ACB-03011F32BD5E}"/>
              </a:ext>
            </a:extLst>
          </p:cNvPr>
          <p:cNvSpPr>
            <a:spLocks noGrp="1"/>
          </p:cNvSpPr>
          <p:nvPr>
            <p:ph type="title"/>
          </p:nvPr>
        </p:nvSpPr>
        <p:spPr/>
        <p:txBody>
          <a:bodyPr/>
          <a:lstStyle/>
          <a:p>
            <a:r>
              <a:rPr lang="fr-FR" dirty="0"/>
              <a:t>Analyse des comportements en ligne : Test 4</a:t>
            </a:r>
          </a:p>
        </p:txBody>
      </p:sp>
      <p:sp>
        <p:nvSpPr>
          <p:cNvPr id="3" name="Espace réservé du contenu 2">
            <a:extLst>
              <a:ext uri="{FF2B5EF4-FFF2-40B4-BE49-F238E27FC236}">
                <a16:creationId xmlns:a16="http://schemas.microsoft.com/office/drawing/2014/main" id="{5ECFA92B-20F3-C741-0350-F5F4E65BEA67}"/>
              </a:ext>
            </a:extLst>
          </p:cNvPr>
          <p:cNvSpPr>
            <a:spLocks noGrp="1"/>
          </p:cNvSpPr>
          <p:nvPr>
            <p:ph idx="1"/>
          </p:nvPr>
        </p:nvSpPr>
        <p:spPr>
          <a:xfrm>
            <a:off x="302800" y="926822"/>
            <a:ext cx="10691265" cy="5004356"/>
          </a:xfrm>
        </p:spPr>
        <p:txBody>
          <a:bodyPr>
            <a:normAutofit/>
          </a:bodyPr>
          <a:lstStyle/>
          <a:p>
            <a:pPr marL="0" indent="0">
              <a:buNone/>
            </a:pPr>
            <a:r>
              <a:rPr lang="fr-FR" sz="1600" b="1" dirty="0">
                <a:latin typeface="Calibri" panose="020F0502020204030204" pitchFamily="34" charset="0"/>
              </a:rPr>
              <a:t>Question</a:t>
            </a:r>
            <a:r>
              <a:rPr lang="fr-FR" sz="1600" dirty="0">
                <a:latin typeface="Calibri" panose="020F0502020204030204" pitchFamily="34" charset="0"/>
              </a:rPr>
              <a:t> : Existe-t-il un lien entre </a:t>
            </a:r>
            <a:r>
              <a:rPr lang="fr-FR" sz="1600" b="1" u="sng" dirty="0">
                <a:latin typeface="Calibri" panose="020F0502020204030204" pitchFamily="34" charset="0"/>
              </a:rPr>
              <a:t>l’âge du client</a:t>
            </a:r>
            <a:r>
              <a:rPr lang="fr-FR" sz="1600" dirty="0">
                <a:latin typeface="Calibri" panose="020F0502020204030204" pitchFamily="34" charset="0"/>
              </a:rPr>
              <a:t> et la </a:t>
            </a:r>
            <a:r>
              <a:rPr lang="fr-FR" sz="1600" b="1" u="sng" dirty="0">
                <a:latin typeface="Calibri" panose="020F0502020204030204" pitchFamily="34" charset="0"/>
              </a:rPr>
              <a:t>taille du panier moyen</a:t>
            </a:r>
          </a:p>
          <a:p>
            <a:pPr marL="0" indent="0">
              <a:buNone/>
            </a:pPr>
            <a:r>
              <a:rPr lang="fr-FR" sz="1600" b="1" dirty="0"/>
              <a:t>Hypothèses : </a:t>
            </a:r>
          </a:p>
          <a:p>
            <a:pPr marL="457200" lvl="1" indent="0">
              <a:buNone/>
            </a:pPr>
            <a:r>
              <a:rPr lang="fr-FR" sz="1200" dirty="0"/>
              <a:t>H0 : Il n’existe pas de lien entre l’</a:t>
            </a:r>
            <a:r>
              <a:rPr lang="fr-FR" sz="1200" kern="1200" dirty="0">
                <a:solidFill>
                  <a:schemeClr val="dk1"/>
                </a:solidFill>
                <a:latin typeface="Calibri" panose="020F0502020204030204" pitchFamily="34" charset="0"/>
                <a:ea typeface="+mn-ea"/>
                <a:cs typeface="+mn-cs"/>
              </a:rPr>
              <a:t>âge du client</a:t>
            </a:r>
            <a:r>
              <a:rPr lang="fr-FR" sz="1200" dirty="0"/>
              <a:t> et </a:t>
            </a:r>
            <a:r>
              <a:rPr lang="fr-FR" sz="1200" dirty="0">
                <a:latin typeface="Calibri" panose="020F0502020204030204" pitchFamily="34" charset="0"/>
              </a:rPr>
              <a:t>la taille du panier moyen</a:t>
            </a:r>
            <a:endParaRPr lang="fr-FR" sz="1200" dirty="0"/>
          </a:p>
          <a:p>
            <a:pPr marL="457200" lvl="1" indent="0">
              <a:buNone/>
            </a:pPr>
            <a:r>
              <a:rPr lang="fr-FR" sz="1200" dirty="0"/>
              <a:t>H1 : Il peut exister un lien entre l’</a:t>
            </a:r>
            <a:r>
              <a:rPr lang="fr-FR" sz="1200" kern="1200" dirty="0">
                <a:solidFill>
                  <a:schemeClr val="dk1"/>
                </a:solidFill>
                <a:latin typeface="Calibri" panose="020F0502020204030204" pitchFamily="34" charset="0"/>
                <a:ea typeface="+mn-ea"/>
                <a:cs typeface="+mn-cs"/>
              </a:rPr>
              <a:t>âge du client </a:t>
            </a:r>
            <a:r>
              <a:rPr lang="fr-FR" sz="1200" dirty="0"/>
              <a:t>et </a:t>
            </a:r>
            <a:r>
              <a:rPr lang="fr-FR" sz="1200" dirty="0">
                <a:latin typeface="Calibri" panose="020F0502020204030204" pitchFamily="34" charset="0"/>
              </a:rPr>
              <a:t>la taille du panier moyen</a:t>
            </a:r>
            <a:endParaRPr lang="fr-FR" sz="1200" dirty="0"/>
          </a:p>
          <a:p>
            <a:pPr marL="0" lvl="1" indent="0">
              <a:spcBef>
                <a:spcPts val="1000"/>
              </a:spcBef>
              <a:buNone/>
            </a:pPr>
            <a:r>
              <a:rPr lang="fr-FR" sz="1600" b="1" dirty="0"/>
              <a:t>Choix du test statistique : </a:t>
            </a:r>
          </a:p>
          <a:p>
            <a:pPr marL="0" lvl="1" indent="0">
              <a:spcBef>
                <a:spcPts val="1000"/>
              </a:spcBef>
              <a:buNone/>
            </a:pPr>
            <a:r>
              <a:rPr lang="fr-FR" sz="1200" dirty="0"/>
              <a:t>Les deux variables (âge du client et taille du panier moyens sont quantitatives, les données ne suivent pas une distribution normale et la relation entre les variables est linéaire, ce qui correspond aux conditions d'application du test de </a:t>
            </a:r>
            <a:r>
              <a:rPr lang="fr-FR" sz="1200" b="1" dirty="0"/>
              <a:t>Spearman</a:t>
            </a:r>
            <a:r>
              <a:rPr lang="fr-FR" sz="1200" dirty="0"/>
              <a:t>.</a:t>
            </a:r>
          </a:p>
          <a:p>
            <a:pPr marL="0" lvl="1" indent="0">
              <a:spcBef>
                <a:spcPts val="1000"/>
              </a:spcBef>
              <a:buNone/>
            </a:pPr>
            <a:r>
              <a:rPr lang="fr-FR" sz="1600" b="1" dirty="0"/>
              <a:t>Conclusion :</a:t>
            </a:r>
          </a:p>
          <a:p>
            <a:pPr marL="0" lvl="1" indent="0">
              <a:spcBef>
                <a:spcPts val="1000"/>
              </a:spcBef>
              <a:buNone/>
            </a:pPr>
            <a:r>
              <a:rPr lang="fr-FR" sz="1200" dirty="0"/>
              <a:t>Le test de Spearman donne un coefficient négatif de -0,09 et une « </a:t>
            </a:r>
            <a:r>
              <a:rPr lang="fr-FR" sz="1200" dirty="0" err="1"/>
              <a:t>p_value</a:t>
            </a:r>
            <a:r>
              <a:rPr lang="fr-FR" sz="1200" dirty="0"/>
              <a:t> » de 0,47. </a:t>
            </a:r>
          </a:p>
          <a:p>
            <a:pPr marL="0" lvl="1" indent="0">
              <a:spcBef>
                <a:spcPts val="1000"/>
              </a:spcBef>
              <a:buNone/>
            </a:pPr>
            <a:r>
              <a:rPr lang="fr-FR" sz="1200" dirty="0"/>
              <a:t>L’hypothèse </a:t>
            </a:r>
            <a:r>
              <a:rPr lang="fr-FR" sz="1200" b="1" dirty="0"/>
              <a:t>0 ne peut pas être rejetée</a:t>
            </a:r>
            <a:r>
              <a:rPr lang="fr-FR" sz="1200" dirty="0"/>
              <a:t>.</a:t>
            </a:r>
          </a:p>
          <a:p>
            <a:pPr marL="0" lvl="1" indent="0">
              <a:spcBef>
                <a:spcPts val="1000"/>
              </a:spcBef>
              <a:buNone/>
            </a:pPr>
            <a:endParaRPr lang="fr-FR" sz="1600" b="1" dirty="0"/>
          </a:p>
        </p:txBody>
      </p:sp>
      <p:pic>
        <p:nvPicPr>
          <p:cNvPr id="5" name="Image 4">
            <a:extLst>
              <a:ext uri="{FF2B5EF4-FFF2-40B4-BE49-F238E27FC236}">
                <a16:creationId xmlns:a16="http://schemas.microsoft.com/office/drawing/2014/main" id="{C781AA94-604A-E2E5-017B-EF8163D30DEA}"/>
              </a:ext>
            </a:extLst>
          </p:cNvPr>
          <p:cNvPicPr>
            <a:picLocks noChangeAspect="1"/>
          </p:cNvPicPr>
          <p:nvPr/>
        </p:nvPicPr>
        <p:blipFill>
          <a:blip r:embed="rId2"/>
          <a:stretch>
            <a:fillRect/>
          </a:stretch>
        </p:blipFill>
        <p:spPr>
          <a:xfrm>
            <a:off x="7011195" y="2965045"/>
            <a:ext cx="3745296" cy="2966133"/>
          </a:xfrm>
          <a:prstGeom prst="rect">
            <a:avLst/>
          </a:prstGeom>
        </p:spPr>
      </p:pic>
      <p:sp>
        <p:nvSpPr>
          <p:cNvPr id="4" name="Rectangle : coins arrondis 3">
            <a:extLst>
              <a:ext uri="{FF2B5EF4-FFF2-40B4-BE49-F238E27FC236}">
                <a16:creationId xmlns:a16="http://schemas.microsoft.com/office/drawing/2014/main" id="{C51C28F0-B0CA-C603-C197-07FA72929BFD}"/>
              </a:ext>
            </a:extLst>
          </p:cNvPr>
          <p:cNvSpPr/>
          <p:nvPr/>
        </p:nvSpPr>
        <p:spPr>
          <a:xfrm>
            <a:off x="443683" y="4296697"/>
            <a:ext cx="6168734" cy="1634481"/>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lvl="1" indent="0">
              <a:spcBef>
                <a:spcPts val="1000"/>
              </a:spcBef>
              <a:buNone/>
            </a:pPr>
            <a:r>
              <a:rPr lang="fr-FR" sz="1800" dirty="0"/>
              <a:t>Il n’existe </a:t>
            </a:r>
            <a:r>
              <a:rPr lang="fr-FR" sz="1800" b="1" dirty="0"/>
              <a:t>pas de lien </a:t>
            </a:r>
            <a:r>
              <a:rPr lang="fr-FR" sz="1800" dirty="0"/>
              <a:t>statistique entre </a:t>
            </a:r>
            <a:r>
              <a:rPr lang="fr-FR" sz="1800" b="1" dirty="0"/>
              <a:t>l’âge du client et la taille du panier moyen</a:t>
            </a:r>
          </a:p>
        </p:txBody>
      </p:sp>
    </p:spTree>
    <p:extLst>
      <p:ext uri="{BB962C8B-B14F-4D97-AF65-F5344CB8AC3E}">
        <p14:creationId xmlns:p14="http://schemas.microsoft.com/office/powerpoint/2010/main" val="3985327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4B19A-6220-5953-141F-2E3AF5221C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D6D369A-95B6-D04D-506C-B80955A8E6C7}"/>
              </a:ext>
            </a:extLst>
          </p:cNvPr>
          <p:cNvSpPr>
            <a:spLocks noGrp="1"/>
          </p:cNvSpPr>
          <p:nvPr>
            <p:ph type="title"/>
          </p:nvPr>
        </p:nvSpPr>
        <p:spPr/>
        <p:txBody>
          <a:bodyPr/>
          <a:lstStyle/>
          <a:p>
            <a:r>
              <a:rPr lang="fr-FR" dirty="0"/>
              <a:t>Analyse des comportements en ligne : Test 5</a:t>
            </a:r>
          </a:p>
        </p:txBody>
      </p:sp>
      <p:sp>
        <p:nvSpPr>
          <p:cNvPr id="3" name="Espace réservé du contenu 2">
            <a:extLst>
              <a:ext uri="{FF2B5EF4-FFF2-40B4-BE49-F238E27FC236}">
                <a16:creationId xmlns:a16="http://schemas.microsoft.com/office/drawing/2014/main" id="{575F844F-587D-3A80-ADC7-C60E4609F52E}"/>
              </a:ext>
            </a:extLst>
          </p:cNvPr>
          <p:cNvSpPr>
            <a:spLocks noGrp="1"/>
          </p:cNvSpPr>
          <p:nvPr>
            <p:ph idx="1"/>
          </p:nvPr>
        </p:nvSpPr>
        <p:spPr>
          <a:xfrm>
            <a:off x="381457" y="926822"/>
            <a:ext cx="10691265" cy="5004356"/>
          </a:xfrm>
        </p:spPr>
        <p:txBody>
          <a:bodyPr>
            <a:normAutofit/>
          </a:bodyPr>
          <a:lstStyle/>
          <a:p>
            <a:pPr marL="0" indent="0">
              <a:buNone/>
            </a:pPr>
            <a:r>
              <a:rPr lang="fr-FR" sz="1400" b="1" dirty="0">
                <a:latin typeface="Calibri" panose="020F0502020204030204" pitchFamily="34" charset="0"/>
              </a:rPr>
              <a:t>Question</a:t>
            </a:r>
            <a:r>
              <a:rPr lang="fr-FR" sz="1400" dirty="0">
                <a:latin typeface="Calibri" panose="020F0502020204030204" pitchFamily="34" charset="0"/>
              </a:rPr>
              <a:t> : Existe-t-il un lien entre </a:t>
            </a:r>
            <a:r>
              <a:rPr lang="fr-FR" sz="1400" b="1" u="sng" dirty="0">
                <a:latin typeface="Calibri" panose="020F0502020204030204" pitchFamily="34" charset="0"/>
              </a:rPr>
              <a:t>l’âge du client</a:t>
            </a:r>
            <a:r>
              <a:rPr lang="fr-FR" sz="1400" dirty="0">
                <a:latin typeface="Calibri" panose="020F0502020204030204" pitchFamily="34" charset="0"/>
              </a:rPr>
              <a:t> et </a:t>
            </a:r>
            <a:r>
              <a:rPr lang="fr-FR" sz="1400" b="1" u="sng" dirty="0">
                <a:latin typeface="Calibri" panose="020F0502020204030204" pitchFamily="34" charset="0"/>
              </a:rPr>
              <a:t>les </a:t>
            </a:r>
            <a:r>
              <a:rPr lang="fr-FR" sz="1400" b="1" u="sng" kern="1200" dirty="0">
                <a:solidFill>
                  <a:schemeClr val="dk1"/>
                </a:solidFill>
                <a:latin typeface="Calibri" panose="020F0502020204030204" pitchFamily="34" charset="0"/>
                <a:ea typeface="+mn-ea"/>
                <a:cs typeface="+mn-cs"/>
              </a:rPr>
              <a:t>catégories des livres achetés</a:t>
            </a:r>
            <a:endParaRPr lang="fr-FR" sz="1400" b="1" u="sng" dirty="0">
              <a:latin typeface="Calibri" panose="020F0502020204030204" pitchFamily="34" charset="0"/>
            </a:endParaRPr>
          </a:p>
          <a:p>
            <a:pPr marL="0" indent="0">
              <a:buNone/>
            </a:pPr>
            <a:r>
              <a:rPr lang="fr-FR" sz="1600" b="1" dirty="0"/>
              <a:t>Hypothèses : </a:t>
            </a:r>
          </a:p>
          <a:p>
            <a:pPr marL="457200" lvl="1" indent="0">
              <a:buNone/>
            </a:pPr>
            <a:r>
              <a:rPr lang="fr-FR" sz="1200" dirty="0"/>
              <a:t>H0 : Il n’existe pas de lien entre l’</a:t>
            </a:r>
            <a:r>
              <a:rPr lang="fr-FR" sz="1200" kern="1200" dirty="0">
                <a:solidFill>
                  <a:schemeClr val="dk1"/>
                </a:solidFill>
                <a:latin typeface="Calibri" panose="020F0502020204030204" pitchFamily="34" charset="0"/>
                <a:ea typeface="+mn-ea"/>
                <a:cs typeface="+mn-cs"/>
              </a:rPr>
              <a:t>âge du client </a:t>
            </a:r>
            <a:r>
              <a:rPr lang="fr-FR" sz="1200" dirty="0"/>
              <a:t>et </a:t>
            </a:r>
            <a:r>
              <a:rPr lang="fr-FR" sz="1200" kern="1200" dirty="0">
                <a:solidFill>
                  <a:schemeClr val="dk1"/>
                </a:solidFill>
                <a:latin typeface="Calibri" panose="020F0502020204030204" pitchFamily="34" charset="0"/>
                <a:ea typeface="+mn-ea"/>
                <a:cs typeface="+mn-cs"/>
              </a:rPr>
              <a:t>les catégories des livres achetés</a:t>
            </a:r>
          </a:p>
          <a:p>
            <a:pPr marL="457200" lvl="1" indent="0">
              <a:buNone/>
            </a:pPr>
            <a:r>
              <a:rPr lang="fr-FR" sz="1200" dirty="0"/>
              <a:t>H1 : Il peut exister un lien entre l’</a:t>
            </a:r>
            <a:r>
              <a:rPr lang="fr-FR" sz="1200" kern="1200" dirty="0">
                <a:solidFill>
                  <a:schemeClr val="dk1"/>
                </a:solidFill>
                <a:latin typeface="Calibri" panose="020F0502020204030204" pitchFamily="34" charset="0"/>
                <a:ea typeface="+mn-ea"/>
                <a:cs typeface="+mn-cs"/>
              </a:rPr>
              <a:t>âge du client </a:t>
            </a:r>
            <a:r>
              <a:rPr lang="fr-FR" sz="1200" dirty="0"/>
              <a:t>et </a:t>
            </a:r>
            <a:r>
              <a:rPr lang="fr-FR" sz="1200" kern="1200" dirty="0">
                <a:solidFill>
                  <a:schemeClr val="dk1"/>
                </a:solidFill>
                <a:latin typeface="Calibri" panose="020F0502020204030204" pitchFamily="34" charset="0"/>
                <a:ea typeface="+mn-ea"/>
                <a:cs typeface="+mn-cs"/>
              </a:rPr>
              <a:t>les catégories des livres achetés</a:t>
            </a:r>
          </a:p>
          <a:p>
            <a:pPr marL="0" lvl="1" indent="0">
              <a:spcBef>
                <a:spcPts val="1000"/>
              </a:spcBef>
              <a:buNone/>
            </a:pPr>
            <a:r>
              <a:rPr lang="fr-FR" sz="1600" b="1" dirty="0"/>
              <a:t>Choix du test statistique : </a:t>
            </a:r>
          </a:p>
          <a:p>
            <a:pPr marL="0" lvl="1" indent="0">
              <a:spcBef>
                <a:spcPts val="1000"/>
              </a:spcBef>
              <a:buNone/>
            </a:pPr>
            <a:r>
              <a:rPr lang="fr-FR" sz="1200" dirty="0"/>
              <a:t>Nous avons deux variables (âge du client) quantitative  et la catégorie de livre qui est qualitative. De plus, nous 3 groupes à comparer. Le test </a:t>
            </a:r>
            <a:r>
              <a:rPr lang="fr-FR" sz="1200" dirty="0" err="1"/>
              <a:t>Anova</a:t>
            </a:r>
            <a:r>
              <a:rPr lang="fr-FR" sz="1200" dirty="0"/>
              <a:t> est donc parfaitement adapté au test à réaliser.</a:t>
            </a:r>
          </a:p>
          <a:p>
            <a:pPr marL="0" lvl="1" indent="0">
              <a:spcBef>
                <a:spcPts val="1000"/>
              </a:spcBef>
              <a:buNone/>
            </a:pPr>
            <a:r>
              <a:rPr lang="fr-FR" sz="1600" b="1" dirty="0"/>
              <a:t>Conclusion :</a:t>
            </a:r>
          </a:p>
          <a:p>
            <a:pPr marL="0" lvl="1" indent="0">
              <a:spcBef>
                <a:spcPts val="1000"/>
              </a:spcBef>
              <a:buNone/>
            </a:pPr>
            <a:r>
              <a:rPr lang="fr-FR" sz="1200" dirty="0"/>
              <a:t>Le test de ANOVA donne un coefficient de 39266,29  et une « </a:t>
            </a:r>
            <a:r>
              <a:rPr lang="fr-FR" sz="1200" dirty="0" err="1"/>
              <a:t>p_value</a:t>
            </a:r>
            <a:r>
              <a:rPr lang="fr-FR" sz="1200" dirty="0"/>
              <a:t> » de 0. </a:t>
            </a:r>
          </a:p>
          <a:p>
            <a:pPr marL="0" lvl="1" indent="0">
              <a:spcBef>
                <a:spcPts val="1000"/>
              </a:spcBef>
              <a:buNone/>
            </a:pPr>
            <a:r>
              <a:rPr lang="fr-FR" sz="1200" dirty="0"/>
              <a:t>L’hypothèse </a:t>
            </a:r>
            <a:r>
              <a:rPr lang="fr-FR" sz="1200" b="1" dirty="0"/>
              <a:t>nulle est rejetée, il y a donc bien un lien entre âge du client et la catégorie de livre.</a:t>
            </a:r>
            <a:endParaRPr lang="fr-FR" sz="1200" dirty="0"/>
          </a:p>
          <a:p>
            <a:pPr marL="0" lvl="1" indent="0">
              <a:spcBef>
                <a:spcPts val="1000"/>
              </a:spcBef>
              <a:buNone/>
            </a:pPr>
            <a:endParaRPr lang="fr-FR" sz="1600" b="1" dirty="0"/>
          </a:p>
        </p:txBody>
      </p:sp>
      <p:pic>
        <p:nvPicPr>
          <p:cNvPr id="6" name="Image 5">
            <a:extLst>
              <a:ext uri="{FF2B5EF4-FFF2-40B4-BE49-F238E27FC236}">
                <a16:creationId xmlns:a16="http://schemas.microsoft.com/office/drawing/2014/main" id="{EDA0D4C1-1D34-1388-2DFC-408CA710BB39}"/>
              </a:ext>
            </a:extLst>
          </p:cNvPr>
          <p:cNvPicPr>
            <a:picLocks noChangeAspect="1"/>
          </p:cNvPicPr>
          <p:nvPr/>
        </p:nvPicPr>
        <p:blipFill>
          <a:blip r:embed="rId3"/>
          <a:stretch>
            <a:fillRect/>
          </a:stretch>
        </p:blipFill>
        <p:spPr>
          <a:xfrm>
            <a:off x="8114327" y="3310360"/>
            <a:ext cx="3696216" cy="2762636"/>
          </a:xfrm>
          <a:prstGeom prst="rect">
            <a:avLst/>
          </a:prstGeom>
        </p:spPr>
      </p:pic>
      <p:sp>
        <p:nvSpPr>
          <p:cNvPr id="12" name="Rectangle : coins arrondis 11">
            <a:extLst>
              <a:ext uri="{FF2B5EF4-FFF2-40B4-BE49-F238E27FC236}">
                <a16:creationId xmlns:a16="http://schemas.microsoft.com/office/drawing/2014/main" id="{FDDAD889-88B5-7EE3-C89A-2737635F2717}"/>
              </a:ext>
            </a:extLst>
          </p:cNvPr>
          <p:cNvSpPr/>
          <p:nvPr/>
        </p:nvSpPr>
        <p:spPr>
          <a:xfrm>
            <a:off x="470679" y="4326193"/>
            <a:ext cx="7313969" cy="1498913"/>
          </a:xfrm>
          <a:prstGeom prst="round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lvl="1" indent="0">
              <a:spcBef>
                <a:spcPts val="1000"/>
              </a:spcBef>
              <a:buNone/>
            </a:pPr>
            <a:r>
              <a:rPr lang="fr-FR" sz="1800" dirty="0"/>
              <a:t>Il existe un lien entre l’âge du client et la </a:t>
            </a:r>
            <a:r>
              <a:rPr lang="fr-FR" sz="1800" dirty="0" err="1"/>
              <a:t>catégore</a:t>
            </a:r>
            <a:r>
              <a:rPr lang="fr-FR" sz="1800" dirty="0"/>
              <a:t> de livre acheté.</a:t>
            </a:r>
          </a:p>
          <a:p>
            <a:pPr marL="0" lvl="1" indent="0">
              <a:spcBef>
                <a:spcPts val="1000"/>
              </a:spcBef>
              <a:buNone/>
            </a:pPr>
            <a:r>
              <a:rPr lang="fr-FR" dirty="0"/>
              <a:t>Les 20/30 ans vont préférés des livres de catégorie 2, les 40/50 ans des livres de catégorie 0 alors que les autres préféreront des livres de catégorie 1.</a:t>
            </a:r>
            <a:endParaRPr lang="fr-FR" sz="1800" dirty="0"/>
          </a:p>
        </p:txBody>
      </p:sp>
    </p:spTree>
    <p:extLst>
      <p:ext uri="{BB962C8B-B14F-4D97-AF65-F5344CB8AC3E}">
        <p14:creationId xmlns:p14="http://schemas.microsoft.com/office/powerpoint/2010/main" val="357054242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5367</TotalTime>
  <Words>1564</Words>
  <Application>Microsoft Office PowerPoint</Application>
  <PresentationFormat>Grand écran</PresentationFormat>
  <Paragraphs>211</Paragraphs>
  <Slides>15</Slides>
  <Notes>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15</vt:i4>
      </vt:variant>
    </vt:vector>
  </HeadingPairs>
  <TitlesOfParts>
    <vt:vector size="21" baseType="lpstr">
      <vt:lpstr>Aptos</vt:lpstr>
      <vt:lpstr>Arial</vt:lpstr>
      <vt:lpstr>Calibri</vt:lpstr>
      <vt:lpstr>Calisto MT</vt:lpstr>
      <vt:lpstr>Univers Condensed</vt:lpstr>
      <vt:lpstr>ChronicleVTI</vt:lpstr>
      <vt:lpstr>Librairie  LAPAGE</vt:lpstr>
      <vt:lpstr>Sommaire</vt:lpstr>
      <vt:lpstr>Contexte</vt:lpstr>
      <vt:lpstr>Identification des anomalies des données</vt:lpstr>
      <vt:lpstr>Indicateurs de ventes</vt:lpstr>
      <vt:lpstr>Indicateurs de ventes</vt:lpstr>
      <vt:lpstr>Indicateurs de ventes</vt:lpstr>
      <vt:lpstr>Indicateurs de ventes</vt:lpstr>
      <vt:lpstr>Indicateurs de ventes</vt:lpstr>
      <vt:lpstr>Identification des tests à réaliser</vt:lpstr>
      <vt:lpstr>Analyse des comportements en ligne : Test 1</vt:lpstr>
      <vt:lpstr>Analyse des comportements en ligne : Test 2</vt:lpstr>
      <vt:lpstr>Analyse des comportements en ligne : Test 3</vt:lpstr>
      <vt:lpstr>Analyse des comportements en ligne : Test 4</vt:lpstr>
      <vt:lpstr>Analyse des comportements en ligne : Test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Romain RAMAT</dc:creator>
  <cp:lastModifiedBy>Romain RAMAT</cp:lastModifiedBy>
  <cp:revision>30</cp:revision>
  <dcterms:created xsi:type="dcterms:W3CDTF">2025-04-21T08:09:47Z</dcterms:created>
  <dcterms:modified xsi:type="dcterms:W3CDTF">2025-11-10T17:32:52Z</dcterms:modified>
</cp:coreProperties>
</file>